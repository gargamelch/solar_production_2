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8080" cy="14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89601E6-ABB1-48D9-AA45-7FEA70B806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0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3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1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2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0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1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2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3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1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2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3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4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5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6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7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8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6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7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8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9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0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1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2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3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2CE5C96-3A35-4929-AAD7-69B2BE8CD3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9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0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1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9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7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8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6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8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9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7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8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3080" cy="584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600" cy="584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227EEE8-9C0A-4E46-89DF-31EC1BA94F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8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9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0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1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2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3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4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5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6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7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8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9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0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1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2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3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4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5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6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7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8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9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0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1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2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3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4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5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6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7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8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9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0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1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2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3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4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5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6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7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8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9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0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1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2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3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4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5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6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7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8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9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0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1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2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3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4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5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6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7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8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9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0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1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5B800A8-B843-4F1C-9610-A1364EC694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7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8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9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0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1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2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3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4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5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6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7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8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9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0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1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2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3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4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5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6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7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8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9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0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1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2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3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4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5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6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7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8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9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0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1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2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3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4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5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6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7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8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9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0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1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2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3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4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5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6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7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8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9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0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1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2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3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4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5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6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7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8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9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0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8080" cy="13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8080" cy="1495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8AA3EED-024B-4F67-8732-0E5344E455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6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7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8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9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0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1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2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3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4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5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6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7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8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9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0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1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2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3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4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5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6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7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8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9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0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1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2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3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4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5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6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7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8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9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0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1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2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3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4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5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6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7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8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9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0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1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2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3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4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5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6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7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8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9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0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1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2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3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4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5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6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7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8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9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EB6550F-E9F9-4F00-8983-8C69D0AFC7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6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7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8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9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0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1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2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3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4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5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6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7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8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9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0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1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2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3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4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5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6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7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8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9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0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1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2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3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4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5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6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7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8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9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0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1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2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3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4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5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6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7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8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9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0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1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2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3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4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5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6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7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8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9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0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1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2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3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4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5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6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7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8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9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960" cy="63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960" cy="394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400" cy="63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400" cy="394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6640975-9F9D-48D1-9904-52F611801C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8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9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0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1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2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3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4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5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6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7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8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9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0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1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2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3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4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5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6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7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8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9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0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1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2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3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4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5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6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7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8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9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0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1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2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3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4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5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6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7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8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9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0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1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2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3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4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5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6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7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8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9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0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1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2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3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4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5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6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7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8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9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0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1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6E3CA87-A5B2-4299-9430-35FF12AB74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6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7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8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9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0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1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2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3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4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5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6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7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8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9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0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1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2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3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4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5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6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7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8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9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0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1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2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3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4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5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6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7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8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9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0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1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2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3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4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5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6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7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8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9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0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1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2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3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4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5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6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7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8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9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0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1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2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3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4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5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6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7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8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9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2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242120A-CCD9-4E57-97F2-FA7E8D54E7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848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x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8480" cy="397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5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6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7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8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9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0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1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2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3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4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5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6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7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8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9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0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1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2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3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4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5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6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7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8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9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0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1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2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3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4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5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6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7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8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9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0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1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2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3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4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5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6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7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8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9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0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1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2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3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4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5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6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7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8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9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0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1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2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3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4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5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6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7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8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8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840" cy="115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7320" cy="584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840" cy="468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243DE4A-B487-490B-B3C5-D3F739D453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5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6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7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8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9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0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1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2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3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4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5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6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7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8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9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0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1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2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3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4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5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6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7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8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9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0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1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2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3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4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5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6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7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8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9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0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1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2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3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4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5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6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7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8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9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0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1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2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3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4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5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6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7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8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9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0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1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2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3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4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5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6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7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8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2080" cy="56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2080" cy="4110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ubl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e-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2080" cy="80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CE152B0-D099-45F2-942F-1DD70D3C11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766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7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8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9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0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1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2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3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4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5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6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7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8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9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0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1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2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3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4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5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6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7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8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9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0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1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2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3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4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5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6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7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8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9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0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1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2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3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4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5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6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7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8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9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0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1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2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3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4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5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6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7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8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9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0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1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2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3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4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5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6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7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8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9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830" name="TextBox 2"/>
          <p:cNvSpPr/>
          <p:nvPr/>
        </p:nvSpPr>
        <p:spPr>
          <a:xfrm>
            <a:off x="502920" y="173736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DAT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A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ANA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LYST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CAP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STO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NE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PRO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JECT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3"/>
          <p:cNvSpPr/>
          <p:nvPr/>
        </p:nvSpPr>
        <p:spPr>
          <a:xfrm>
            <a:off x="502920" y="2085480"/>
            <a:ext cx="1118196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xt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-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y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ol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di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x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y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ol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endParaRPr lang="fr-F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Box 4"/>
          <p:cNvSpPr/>
          <p:nvPr/>
        </p:nvSpPr>
        <p:spPr>
          <a:xfrm>
            <a:off x="502920" y="3449880"/>
            <a:ext cx="949572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From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her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sign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al to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next-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forec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ast: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mod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eling,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temp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oral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valid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ation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, and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depl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oym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ent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on a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Strea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mlit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dash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boar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Rounded Rectangle 5"/>
          <p:cNvSpPr/>
          <p:nvPr/>
        </p:nvSpPr>
        <p:spPr>
          <a:xfrm>
            <a:off x="502920" y="4267080"/>
            <a:ext cx="3602520" cy="1145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4" name="TextBox 6"/>
          <p:cNvSpPr/>
          <p:nvPr/>
        </p:nvSpPr>
        <p:spPr>
          <a:xfrm>
            <a:off x="731520" y="4405320"/>
            <a:ext cx="314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2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6,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7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Box 7"/>
          <p:cNvSpPr/>
          <p:nvPr/>
        </p:nvSpPr>
        <p:spPr>
          <a:xfrm>
            <a:off x="731520" y="4888080"/>
            <a:ext cx="314532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daily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obser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vation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2020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2026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Rounded Rectangle 8"/>
          <p:cNvSpPr/>
          <p:nvPr/>
        </p:nvSpPr>
        <p:spPr>
          <a:xfrm>
            <a:off x="4292640" y="4267080"/>
            <a:ext cx="3602520" cy="1145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7" name="TextBox 9"/>
          <p:cNvSpPr/>
          <p:nvPr/>
        </p:nvSpPr>
        <p:spPr>
          <a:xfrm>
            <a:off x="4521240" y="4405320"/>
            <a:ext cx="314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1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2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Box 10"/>
          <p:cNvSpPr/>
          <p:nvPr/>
        </p:nvSpPr>
        <p:spPr>
          <a:xfrm>
            <a:off x="4521240" y="4888080"/>
            <a:ext cx="314532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Frenc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covere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ounded Rectangle 11"/>
          <p:cNvSpPr/>
          <p:nvPr/>
        </p:nvSpPr>
        <p:spPr>
          <a:xfrm>
            <a:off x="8082360" y="4267080"/>
            <a:ext cx="3602520" cy="1145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0" name="TextBox 12"/>
          <p:cNvSpPr/>
          <p:nvPr/>
        </p:nvSpPr>
        <p:spPr>
          <a:xfrm>
            <a:off x="8310960" y="4405320"/>
            <a:ext cx="314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3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Box 13"/>
          <p:cNvSpPr/>
          <p:nvPr/>
        </p:nvSpPr>
        <p:spPr>
          <a:xfrm>
            <a:off x="8310960" y="4888080"/>
            <a:ext cx="31453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Input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featur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2" name="Connector 14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843" name="TextBox 15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Streaml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Box 16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846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7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8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9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0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1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2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3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4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5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6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7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8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9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0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1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2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3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4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5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6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7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8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9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0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1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2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3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4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5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6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7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8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9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0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1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2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3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4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5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6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7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8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9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0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1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2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3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4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5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6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7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8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9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0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1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2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3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4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5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6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7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8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9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910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01 ·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CON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TEXT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hy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ca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st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lar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od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uc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tio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n?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Box 4"/>
          <p:cNvSpPr/>
          <p:nvPr/>
        </p:nvSpPr>
        <p:spPr>
          <a:xfrm>
            <a:off x="502920" y="1404000"/>
            <a:ext cx="109958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Solar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outpu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 is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entire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ly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her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depe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ndent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: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witho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ut 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forec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ast,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every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gap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betw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een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expec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ted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and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actua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ction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has 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direct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cost.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Rounded Rectangle 5"/>
          <p:cNvSpPr/>
          <p:nvPr/>
        </p:nvSpPr>
        <p:spPr>
          <a:xfrm>
            <a:off x="502920" y="1737360"/>
            <a:ext cx="5482080" cy="4011120"/>
          </a:xfrm>
          <a:prstGeom prst="roundRect">
            <a:avLst>
              <a:gd name="adj" fmla="val 1846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4" name="Oval 6"/>
          <p:cNvSpPr/>
          <p:nvPr/>
        </p:nvSpPr>
        <p:spPr>
          <a:xfrm>
            <a:off x="868680" y="2057400"/>
            <a:ext cx="452880" cy="45288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5" name="TextBox 7"/>
          <p:cNvSpPr/>
          <p:nvPr/>
        </p:nvSpPr>
        <p:spPr>
          <a:xfrm>
            <a:off x="868680" y="205740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!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TextBox 8"/>
          <p:cNvSpPr/>
          <p:nvPr/>
        </p:nvSpPr>
        <p:spPr>
          <a:xfrm>
            <a:off x="1508760" y="2057400"/>
            <a:ext cx="429336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Tota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 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inter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mitt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ency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Box 9"/>
          <p:cNvSpPr/>
          <p:nvPr/>
        </p:nvSpPr>
        <p:spPr>
          <a:xfrm>
            <a:off x="868680" y="2743200"/>
            <a:ext cx="4752720" cy="9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Unlik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e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nucle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ar or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gas,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solar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produ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ction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cann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ot be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dispa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tched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on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dema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nd: it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depe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nds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entire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ly on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tomo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rrow's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radiat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ion.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Box 10"/>
          <p:cNvSpPr/>
          <p:nvPr/>
        </p:nvSpPr>
        <p:spPr>
          <a:xfrm>
            <a:off x="868680" y="3840480"/>
            <a:ext cx="4752720" cy="169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reliab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le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next-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day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forec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ast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mean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antici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patin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g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produ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ction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befor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e it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happ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ens,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inste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ad of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just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reacti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ng to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it.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Rounded Rectangle 11"/>
          <p:cNvSpPr/>
          <p:nvPr/>
        </p:nvSpPr>
        <p:spPr>
          <a:xfrm>
            <a:off x="6316920" y="1737360"/>
            <a:ext cx="2665800" cy="193068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0" name="TextBox 12"/>
          <p:cNvSpPr/>
          <p:nvPr/>
        </p:nvSpPr>
        <p:spPr>
          <a:xfrm>
            <a:off x="6499800" y="1920240"/>
            <a:ext cx="23000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Sellin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electr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icity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Box 13"/>
          <p:cNvSpPr/>
          <p:nvPr/>
        </p:nvSpPr>
        <p:spPr>
          <a:xfrm>
            <a:off x="6499800" y="2377440"/>
            <a:ext cx="2300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Avoid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unfavo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rable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buyba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cks or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underp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riced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sales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wholes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ale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market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Rounded Rectangle 14"/>
          <p:cNvSpPr/>
          <p:nvPr/>
        </p:nvSpPr>
        <p:spPr>
          <a:xfrm>
            <a:off x="9132480" y="1737360"/>
            <a:ext cx="2665800" cy="193068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3" name="TextBox 15"/>
          <p:cNvSpPr/>
          <p:nvPr/>
        </p:nvSpPr>
        <p:spPr>
          <a:xfrm>
            <a:off x="9315360" y="1920240"/>
            <a:ext cx="23000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Batte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ry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mana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geme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Box 16"/>
          <p:cNvSpPr/>
          <p:nvPr/>
        </p:nvSpPr>
        <p:spPr>
          <a:xfrm>
            <a:off x="9315360" y="2377440"/>
            <a:ext cx="2300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Optimi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ze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charge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/disch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arge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cycles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extend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storag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syste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lifespa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5" name="Rounded Rectangle 17"/>
          <p:cNvSpPr/>
          <p:nvPr/>
        </p:nvSpPr>
        <p:spPr>
          <a:xfrm>
            <a:off x="6316920" y="3817800"/>
            <a:ext cx="2665800" cy="193068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6" name="TextBox 18"/>
          <p:cNvSpPr/>
          <p:nvPr/>
        </p:nvSpPr>
        <p:spPr>
          <a:xfrm>
            <a:off x="6499800" y="4000680"/>
            <a:ext cx="23000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Preve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ntive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maint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enan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Box 19"/>
          <p:cNvSpPr/>
          <p:nvPr/>
        </p:nvSpPr>
        <p:spPr>
          <a:xfrm>
            <a:off x="6499800" y="4457880"/>
            <a:ext cx="2300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Detect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yield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anoma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lies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(dirty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or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faulty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panels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) and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plan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interve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ntions.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Rounded Rectangle 20"/>
          <p:cNvSpPr/>
          <p:nvPr/>
        </p:nvSpPr>
        <p:spPr>
          <a:xfrm>
            <a:off x="9132480" y="3817800"/>
            <a:ext cx="2665800" cy="193068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9" name="TextBox 21"/>
          <p:cNvSpPr/>
          <p:nvPr/>
        </p:nvSpPr>
        <p:spPr>
          <a:xfrm>
            <a:off x="9315360" y="4000680"/>
            <a:ext cx="23000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mana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geme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Box 22"/>
          <p:cNvSpPr/>
          <p:nvPr/>
        </p:nvSpPr>
        <p:spPr>
          <a:xfrm>
            <a:off x="9315360" y="4457880"/>
            <a:ext cx="2300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Anticip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ate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high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produc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tion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reduce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relianc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on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gas.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1" name="Connector 23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932" name="TextBox 24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Streaml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Box 25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935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6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7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8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9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0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1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2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3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4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5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6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7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8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9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0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1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2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3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4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5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6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7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8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9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0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1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2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3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4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5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6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7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8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9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0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1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2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3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4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5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6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7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8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9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0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1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2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3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4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5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6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7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8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9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0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1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2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3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4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5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6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7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8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999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02 ·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DAT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A &amp;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MET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HOD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Da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ta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&amp;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et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Box 4"/>
          <p:cNvSpPr/>
          <p:nvPr/>
        </p:nvSpPr>
        <p:spPr>
          <a:xfrm>
            <a:off x="502920" y="1404000"/>
            <a:ext cx="109958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Three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data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sourc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es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joine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 by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 and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day, 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5-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step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pipeli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ne,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with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time-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respe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cting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valida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tion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(no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shuffl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ing).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Rounded Rectangle 5"/>
          <p:cNvSpPr/>
          <p:nvPr/>
        </p:nvSpPr>
        <p:spPr>
          <a:xfrm>
            <a:off x="502920" y="1737360"/>
            <a:ext cx="3570840" cy="13662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Box 6"/>
          <p:cNvSpPr/>
          <p:nvPr/>
        </p:nvSpPr>
        <p:spPr>
          <a:xfrm>
            <a:off x="731520" y="1874520"/>
            <a:ext cx="31136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26,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67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 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row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Box 7"/>
          <p:cNvSpPr/>
          <p:nvPr/>
        </p:nvSpPr>
        <p:spPr>
          <a:xfrm>
            <a:off x="731520" y="2239200"/>
            <a:ext cx="3113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Mete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o-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Franc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TextBox 8"/>
          <p:cNvSpPr/>
          <p:nvPr/>
        </p:nvSpPr>
        <p:spPr>
          <a:xfrm>
            <a:off x="731520" y="2529720"/>
            <a:ext cx="31136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Radiat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ion,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tempe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rature,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humid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ity,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wind...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and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2020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2026.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Rounded Rectangle 9"/>
          <p:cNvSpPr/>
          <p:nvPr/>
        </p:nvSpPr>
        <p:spPr>
          <a:xfrm>
            <a:off x="4306680" y="1737360"/>
            <a:ext cx="3570840" cy="13662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7" name="TextBox 10"/>
          <p:cNvSpPr/>
          <p:nvPr/>
        </p:nvSpPr>
        <p:spPr>
          <a:xfrm>
            <a:off x="4535280" y="1874520"/>
            <a:ext cx="31136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12 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reg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ion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Box 11"/>
          <p:cNvSpPr/>
          <p:nvPr/>
        </p:nvSpPr>
        <p:spPr>
          <a:xfrm>
            <a:off x="4535280" y="2239200"/>
            <a:ext cx="3113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RTE,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solar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produ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Box 12"/>
          <p:cNvSpPr/>
          <p:nvPr/>
        </p:nvSpPr>
        <p:spPr>
          <a:xfrm>
            <a:off x="4535280" y="2529720"/>
            <a:ext cx="31136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Half-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hourly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ction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aggre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gated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into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daily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TWh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Rounded Rectangle 13"/>
          <p:cNvSpPr/>
          <p:nvPr/>
        </p:nvSpPr>
        <p:spPr>
          <a:xfrm>
            <a:off x="8110440" y="1737360"/>
            <a:ext cx="3570840" cy="13662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TextBox 14"/>
          <p:cNvSpPr/>
          <p:nvPr/>
        </p:nvSpPr>
        <p:spPr>
          <a:xfrm>
            <a:off x="8339040" y="1874520"/>
            <a:ext cx="31136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SD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Box 15"/>
          <p:cNvSpPr/>
          <p:nvPr/>
        </p:nvSpPr>
        <p:spPr>
          <a:xfrm>
            <a:off x="8339040" y="2239200"/>
            <a:ext cx="3113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Instal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led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capa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city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(MW)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TextBox 16"/>
          <p:cNvSpPr/>
          <p:nvPr/>
        </p:nvSpPr>
        <p:spPr>
          <a:xfrm>
            <a:off x="8339040" y="2529720"/>
            <a:ext cx="31136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Install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ed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photo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voltaic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capaci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ty by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used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norma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lize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ction.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Box 17"/>
          <p:cNvSpPr/>
          <p:nvPr/>
        </p:nvSpPr>
        <p:spPr>
          <a:xfrm>
            <a:off x="502920" y="3474720"/>
            <a:ext cx="49957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MET</a:t>
            </a: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HOD</a:t>
            </a: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OLO</a:t>
            </a: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GY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Rounded Rectangle 18"/>
          <p:cNvSpPr/>
          <p:nvPr/>
        </p:nvSpPr>
        <p:spPr>
          <a:xfrm>
            <a:off x="502920" y="3931920"/>
            <a:ext cx="2130840" cy="18691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6" name="Oval 19"/>
          <p:cNvSpPr/>
          <p:nvPr/>
        </p:nvSpPr>
        <p:spPr>
          <a:xfrm>
            <a:off x="1342440" y="4114800"/>
            <a:ext cx="451800" cy="4518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7" name="TextBox 20"/>
          <p:cNvSpPr/>
          <p:nvPr/>
        </p:nvSpPr>
        <p:spPr>
          <a:xfrm>
            <a:off x="1342440" y="4114800"/>
            <a:ext cx="451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TextBox 21"/>
          <p:cNvSpPr/>
          <p:nvPr/>
        </p:nvSpPr>
        <p:spPr>
          <a:xfrm>
            <a:off x="685800" y="4750920"/>
            <a:ext cx="17650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Featu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engin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eerin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Box 22"/>
          <p:cNvSpPr/>
          <p:nvPr/>
        </p:nvSpPr>
        <p:spPr>
          <a:xfrm>
            <a:off x="603000" y="5242680"/>
            <a:ext cx="193104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Lags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J-1/J-2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/J-3, 7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rolling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means,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season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ality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(sin/co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s).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Rounded Rectangle 23"/>
          <p:cNvSpPr/>
          <p:nvPr/>
        </p:nvSpPr>
        <p:spPr>
          <a:xfrm>
            <a:off x="2775240" y="3931920"/>
            <a:ext cx="2130840" cy="18691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1" name="Oval 24"/>
          <p:cNvSpPr/>
          <p:nvPr/>
        </p:nvSpPr>
        <p:spPr>
          <a:xfrm>
            <a:off x="3615120" y="4114800"/>
            <a:ext cx="451800" cy="4518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2" name="TextBox 25"/>
          <p:cNvSpPr/>
          <p:nvPr/>
        </p:nvSpPr>
        <p:spPr>
          <a:xfrm>
            <a:off x="3615120" y="4114800"/>
            <a:ext cx="451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Box 26"/>
          <p:cNvSpPr/>
          <p:nvPr/>
        </p:nvSpPr>
        <p:spPr>
          <a:xfrm>
            <a:off x="2958120" y="4750920"/>
            <a:ext cx="17650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Basel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ine &amp;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raw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regre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ssion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TextBox 27"/>
          <p:cNvSpPr/>
          <p:nvPr/>
        </p:nvSpPr>
        <p:spPr>
          <a:xfrm>
            <a:off x="2875320" y="5242680"/>
            <a:ext cx="193104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Naive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persist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ence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vs.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regress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ion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without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feature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engine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ering.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Rounded Rectangle 28"/>
          <p:cNvSpPr/>
          <p:nvPr/>
        </p:nvSpPr>
        <p:spPr>
          <a:xfrm>
            <a:off x="5047920" y="3931920"/>
            <a:ext cx="2130840" cy="18691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6" name="Oval 29"/>
          <p:cNvSpPr/>
          <p:nvPr/>
        </p:nvSpPr>
        <p:spPr>
          <a:xfrm>
            <a:off x="5887440" y="4114800"/>
            <a:ext cx="451800" cy="4518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TextBox 30"/>
          <p:cNvSpPr/>
          <p:nvPr/>
        </p:nvSpPr>
        <p:spPr>
          <a:xfrm>
            <a:off x="5887440" y="4114800"/>
            <a:ext cx="451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Box 31"/>
          <p:cNvSpPr/>
          <p:nvPr/>
        </p:nvSpPr>
        <p:spPr>
          <a:xfrm>
            <a:off x="5230800" y="4750920"/>
            <a:ext cx="17650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Temp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oral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valid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Box 32"/>
          <p:cNvSpPr/>
          <p:nvPr/>
        </p:nvSpPr>
        <p:spPr>
          <a:xfrm>
            <a:off x="5147640" y="5242680"/>
            <a:ext cx="193104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TimeSe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riesSpli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 (5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folds),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pipelin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refit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on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every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fold.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Rounded Rectangle 33"/>
          <p:cNvSpPr/>
          <p:nvPr/>
        </p:nvSpPr>
        <p:spPr>
          <a:xfrm>
            <a:off x="7320240" y="3931920"/>
            <a:ext cx="2130840" cy="18691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Oval 34"/>
          <p:cNvSpPr/>
          <p:nvPr/>
        </p:nvSpPr>
        <p:spPr>
          <a:xfrm>
            <a:off x="8159760" y="4114800"/>
            <a:ext cx="451800" cy="4518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Box 35"/>
          <p:cNvSpPr/>
          <p:nvPr/>
        </p:nvSpPr>
        <p:spPr>
          <a:xfrm>
            <a:off x="8159760" y="4114800"/>
            <a:ext cx="451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4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Box 36"/>
          <p:cNvSpPr/>
          <p:nvPr/>
        </p:nvSpPr>
        <p:spPr>
          <a:xfrm>
            <a:off x="7503120" y="4750920"/>
            <a:ext cx="17650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GridS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earch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CV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Box 37"/>
          <p:cNvSpPr/>
          <p:nvPr/>
        </p:nvSpPr>
        <p:spPr>
          <a:xfrm>
            <a:off x="7420320" y="5242680"/>
            <a:ext cx="193104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Hyperp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aramet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er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search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(RMSE)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across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all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models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Rounded Rectangle 38"/>
          <p:cNvSpPr/>
          <p:nvPr/>
        </p:nvSpPr>
        <p:spPr>
          <a:xfrm>
            <a:off x="9592560" y="3931920"/>
            <a:ext cx="2130840" cy="18691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Oval 39"/>
          <p:cNvSpPr/>
          <p:nvPr/>
        </p:nvSpPr>
        <p:spPr>
          <a:xfrm>
            <a:off x="10432440" y="4114800"/>
            <a:ext cx="451800" cy="4518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7" name="TextBox 40"/>
          <p:cNvSpPr/>
          <p:nvPr/>
        </p:nvSpPr>
        <p:spPr>
          <a:xfrm>
            <a:off x="10432440" y="4114800"/>
            <a:ext cx="451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5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Box 41"/>
          <p:cNvSpPr/>
          <p:nvPr/>
        </p:nvSpPr>
        <p:spPr>
          <a:xfrm>
            <a:off x="9775440" y="4750920"/>
            <a:ext cx="17650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Final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model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selecti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Box 42"/>
          <p:cNvSpPr/>
          <p:nvPr/>
        </p:nvSpPr>
        <p:spPr>
          <a:xfrm>
            <a:off x="9692640" y="5242680"/>
            <a:ext cx="1931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R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²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/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MAE/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RMSE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train vs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test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compari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son,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prioritizi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ng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stability.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0" name="Connector 43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041" name="TextBox 44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Forecastin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Machine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Streamlit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Box 45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03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044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5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6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7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8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9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0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1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2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3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4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5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6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7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8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9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0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1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2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3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4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5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6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7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8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9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0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1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2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3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4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5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6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7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8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9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0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1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2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3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4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5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6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7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8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9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0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1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2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3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4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5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6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7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8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9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0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1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2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3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4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5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6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7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108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02 ·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DAT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A &amp;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MET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HOD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ul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pi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el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e,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to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Rounded Rectangle 7"/>
          <p:cNvSpPr/>
          <p:nvPr/>
        </p:nvSpPr>
        <p:spPr>
          <a:xfrm>
            <a:off x="502920" y="1550160"/>
            <a:ext cx="3145320" cy="379800"/>
          </a:xfrm>
          <a:prstGeom prst="roundRect">
            <a:avLst>
              <a:gd name="adj" fmla="val 28000"/>
            </a:avLst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Box 8"/>
          <p:cNvSpPr/>
          <p:nvPr/>
        </p:nvSpPr>
        <p:spPr>
          <a:xfrm>
            <a:off x="658440" y="1550160"/>
            <a:ext cx="28710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 · DATA COLLECTION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Rounded Rectangle 9"/>
          <p:cNvSpPr/>
          <p:nvPr/>
        </p:nvSpPr>
        <p:spPr>
          <a:xfrm>
            <a:off x="4521240" y="1550160"/>
            <a:ext cx="3145320" cy="379800"/>
          </a:xfrm>
          <a:prstGeom prst="roundRect">
            <a:avLst>
              <a:gd name="adj" fmla="val 28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TextBox 10"/>
          <p:cNvSpPr/>
          <p:nvPr/>
        </p:nvSpPr>
        <p:spPr>
          <a:xfrm>
            <a:off x="4676760" y="1550160"/>
            <a:ext cx="28710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 · PREPARATION &amp; ANALYSIS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Rounded Rectangle 11"/>
          <p:cNvSpPr/>
          <p:nvPr/>
        </p:nvSpPr>
        <p:spPr>
          <a:xfrm>
            <a:off x="8539560" y="1550160"/>
            <a:ext cx="3145320" cy="379800"/>
          </a:xfrm>
          <a:prstGeom prst="roundRect">
            <a:avLst>
              <a:gd name="adj" fmla="val 28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Box 12"/>
          <p:cNvSpPr/>
          <p:nvPr/>
        </p:nvSpPr>
        <p:spPr>
          <a:xfrm>
            <a:off x="8695080" y="1550160"/>
            <a:ext cx="28710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 · MODELING &amp; COMPUTATION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Rounded Rectangle 13"/>
          <p:cNvSpPr/>
          <p:nvPr/>
        </p:nvSpPr>
        <p:spPr>
          <a:xfrm>
            <a:off x="594360" y="207108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14"/>
          <p:cNvSpPr/>
          <p:nvPr/>
        </p:nvSpPr>
        <p:spPr>
          <a:xfrm>
            <a:off x="594360" y="2071080"/>
            <a:ext cx="32400" cy="55584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18" name="Picture 15" descr="icon_cloud.png"/>
          <p:cNvPicPr/>
          <p:nvPr/>
        </p:nvPicPr>
        <p:blipFill>
          <a:blip r:embed="rId1"/>
          <a:stretch/>
        </p:blipFill>
        <p:spPr>
          <a:xfrm>
            <a:off x="731520" y="216828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9" name="TextBox 16"/>
          <p:cNvSpPr/>
          <p:nvPr/>
        </p:nvSpPr>
        <p:spPr>
          <a:xfrm>
            <a:off x="1216080" y="218304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Meteo-France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Box 17"/>
          <p:cNvSpPr/>
          <p:nvPr/>
        </p:nvSpPr>
        <p:spPr>
          <a:xfrm>
            <a:off x="1216080" y="237348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Weather data,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1" name="Rounded Rectangle 18"/>
          <p:cNvSpPr/>
          <p:nvPr/>
        </p:nvSpPr>
        <p:spPr>
          <a:xfrm>
            <a:off x="594360" y="28598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19"/>
          <p:cNvSpPr/>
          <p:nvPr/>
        </p:nvSpPr>
        <p:spPr>
          <a:xfrm>
            <a:off x="594360" y="2859840"/>
            <a:ext cx="32400" cy="55584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3" name="Picture 20" descr="icon_bolt.png"/>
          <p:cNvPicPr/>
          <p:nvPr/>
        </p:nvPicPr>
        <p:blipFill>
          <a:blip r:embed="rId2"/>
          <a:stretch/>
        </p:blipFill>
        <p:spPr>
          <a:xfrm>
            <a:off x="731520" y="29570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4" name="TextBox 21"/>
          <p:cNvSpPr/>
          <p:nvPr/>
        </p:nvSpPr>
        <p:spPr>
          <a:xfrm>
            <a:off x="1216080" y="297180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RTE France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Box 22"/>
          <p:cNvSpPr/>
          <p:nvPr/>
        </p:nvSpPr>
        <p:spPr>
          <a:xfrm>
            <a:off x="1216080" y="316224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Solar production,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Rounded Rectangle 23"/>
          <p:cNvSpPr/>
          <p:nvPr/>
        </p:nvSpPr>
        <p:spPr>
          <a:xfrm>
            <a:off x="594360" y="36482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24"/>
          <p:cNvSpPr/>
          <p:nvPr/>
        </p:nvSpPr>
        <p:spPr>
          <a:xfrm>
            <a:off x="594360" y="3648240"/>
            <a:ext cx="32400" cy="55584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8" name="Picture 25" descr="icon_panel.png"/>
          <p:cNvPicPr/>
          <p:nvPr/>
        </p:nvPicPr>
        <p:blipFill>
          <a:blip r:embed="rId3"/>
          <a:stretch/>
        </p:blipFill>
        <p:spPr>
          <a:xfrm>
            <a:off x="731520" y="37454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9" name="TextBox 26"/>
          <p:cNvSpPr/>
          <p:nvPr/>
        </p:nvSpPr>
        <p:spPr>
          <a:xfrm>
            <a:off x="1216080" y="376056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Installed PV capacity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Box 27"/>
          <p:cNvSpPr/>
          <p:nvPr/>
        </p:nvSpPr>
        <p:spPr>
          <a:xfrm>
            <a:off x="1216080" y="395064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Capacity by region (SDES).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Rounded Rectangle 28"/>
          <p:cNvSpPr/>
          <p:nvPr/>
        </p:nvSpPr>
        <p:spPr>
          <a:xfrm>
            <a:off x="594360" y="443700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Rectangle 29"/>
          <p:cNvSpPr/>
          <p:nvPr/>
        </p:nvSpPr>
        <p:spPr>
          <a:xfrm>
            <a:off x="594360" y="4437000"/>
            <a:ext cx="32400" cy="55584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33" name="Picture 30" descr="icon_map.png"/>
          <p:cNvPicPr/>
          <p:nvPr/>
        </p:nvPicPr>
        <p:blipFill>
          <a:blip r:embed="rId4"/>
          <a:stretch/>
        </p:blipFill>
        <p:spPr>
          <a:xfrm>
            <a:off x="731520" y="453420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4" name="TextBox 31"/>
          <p:cNvSpPr/>
          <p:nvPr/>
        </p:nvSpPr>
        <p:spPr>
          <a:xfrm>
            <a:off x="1216080" y="454896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GeoJSON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Box 32"/>
          <p:cNvSpPr/>
          <p:nvPr/>
        </p:nvSpPr>
        <p:spPr>
          <a:xfrm>
            <a:off x="1216080" y="473940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12 French regions.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Rounded Rectangle 33"/>
          <p:cNvSpPr/>
          <p:nvPr/>
        </p:nvSpPr>
        <p:spPr>
          <a:xfrm>
            <a:off x="4612680" y="207108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34"/>
          <p:cNvSpPr/>
          <p:nvPr/>
        </p:nvSpPr>
        <p:spPr>
          <a:xfrm>
            <a:off x="4612680" y="2071080"/>
            <a:ext cx="32400" cy="55584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38" name="Picture 35" descr="icon_pin.png"/>
          <p:cNvPicPr/>
          <p:nvPr/>
        </p:nvPicPr>
        <p:blipFill>
          <a:blip r:embed="rId5"/>
          <a:stretch/>
        </p:blipFill>
        <p:spPr>
          <a:xfrm>
            <a:off x="4749840" y="216828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9" name="TextBox 36"/>
          <p:cNvSpPr/>
          <p:nvPr/>
        </p:nvSpPr>
        <p:spPr>
          <a:xfrm>
            <a:off x="5234400" y="218304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Regional mapping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Box 37"/>
          <p:cNvSpPr/>
          <p:nvPr/>
        </p:nvSpPr>
        <p:spPr>
          <a:xfrm>
            <a:off x="5234400" y="2373480"/>
            <a:ext cx="22492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Grid points mapped to regions.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Down Arrow 38"/>
          <p:cNvSpPr/>
          <p:nvPr/>
        </p:nvSpPr>
        <p:spPr>
          <a:xfrm>
            <a:off x="6059520" y="269964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ounded Rectangle 39"/>
          <p:cNvSpPr/>
          <p:nvPr/>
        </p:nvSpPr>
        <p:spPr>
          <a:xfrm>
            <a:off x="4612680" y="28598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40"/>
          <p:cNvSpPr/>
          <p:nvPr/>
        </p:nvSpPr>
        <p:spPr>
          <a:xfrm>
            <a:off x="4612680" y="2859840"/>
            <a:ext cx="32400" cy="55584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44" name="Picture 41" descr="icon_refresh.png"/>
          <p:cNvPicPr/>
          <p:nvPr/>
        </p:nvPicPr>
        <p:blipFill>
          <a:blip r:embed="rId6"/>
          <a:stretch/>
        </p:blipFill>
        <p:spPr>
          <a:xfrm>
            <a:off x="4749840" y="29570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5" name="TextBox 42"/>
          <p:cNvSpPr/>
          <p:nvPr/>
        </p:nvSpPr>
        <p:spPr>
          <a:xfrm>
            <a:off x="5234400" y="297180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Data harmonization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Box 43"/>
          <p:cNvSpPr/>
          <p:nvPr/>
        </p:nvSpPr>
        <p:spPr>
          <a:xfrm>
            <a:off x="5234400" y="316224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Common period: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Down Arrow 44"/>
          <p:cNvSpPr/>
          <p:nvPr/>
        </p:nvSpPr>
        <p:spPr>
          <a:xfrm>
            <a:off x="6059520" y="348840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ounded Rectangle 45"/>
          <p:cNvSpPr/>
          <p:nvPr/>
        </p:nvSpPr>
        <p:spPr>
          <a:xfrm>
            <a:off x="4612680" y="36482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46"/>
          <p:cNvSpPr/>
          <p:nvPr/>
        </p:nvSpPr>
        <p:spPr>
          <a:xfrm>
            <a:off x="4612680" y="3648240"/>
            <a:ext cx="32400" cy="55584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50" name="Picture 47" descr="icon_share.png"/>
          <p:cNvPicPr/>
          <p:nvPr/>
        </p:nvPicPr>
        <p:blipFill>
          <a:blip r:embed="rId7"/>
          <a:stretch/>
        </p:blipFill>
        <p:spPr>
          <a:xfrm>
            <a:off x="4749840" y="37454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1" name="TextBox 48"/>
          <p:cNvSpPr/>
          <p:nvPr/>
        </p:nvSpPr>
        <p:spPr>
          <a:xfrm>
            <a:off x="5234400" y="376056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Data integration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Box 49"/>
          <p:cNvSpPr/>
          <p:nvPr/>
        </p:nvSpPr>
        <p:spPr>
          <a:xfrm>
            <a:off x="5234400" y="395064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Weather + production + capacity.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Down Arrow 50"/>
          <p:cNvSpPr/>
          <p:nvPr/>
        </p:nvSpPr>
        <p:spPr>
          <a:xfrm>
            <a:off x="6059520" y="427716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ounded Rectangle 51"/>
          <p:cNvSpPr/>
          <p:nvPr/>
        </p:nvSpPr>
        <p:spPr>
          <a:xfrm>
            <a:off x="4612680" y="443700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52"/>
          <p:cNvSpPr/>
          <p:nvPr/>
        </p:nvSpPr>
        <p:spPr>
          <a:xfrm>
            <a:off x="4612680" y="4437000"/>
            <a:ext cx="32400" cy="55584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56" name="Picture 53" descr="icon_database.png"/>
          <p:cNvPicPr/>
          <p:nvPr/>
        </p:nvPicPr>
        <p:blipFill>
          <a:blip r:embed="rId8"/>
          <a:stretch/>
        </p:blipFill>
        <p:spPr>
          <a:xfrm>
            <a:off x="4749840" y="453420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7" name="TextBox 54"/>
          <p:cNvSpPr/>
          <p:nvPr/>
        </p:nvSpPr>
        <p:spPr>
          <a:xfrm>
            <a:off x="5234400" y="454896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Cons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olidat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ed 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datas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et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55"/>
          <p:cNvSpPr/>
          <p:nvPr/>
        </p:nvSpPr>
        <p:spPr>
          <a:xfrm>
            <a:off x="5234400" y="473940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 x day,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Down Arrow 56"/>
          <p:cNvSpPr/>
          <p:nvPr/>
        </p:nvSpPr>
        <p:spPr>
          <a:xfrm>
            <a:off x="6059520" y="506556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ounded Rectangle 57"/>
          <p:cNvSpPr/>
          <p:nvPr/>
        </p:nvSpPr>
        <p:spPr>
          <a:xfrm>
            <a:off x="4612680" y="522576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58"/>
          <p:cNvSpPr/>
          <p:nvPr/>
        </p:nvSpPr>
        <p:spPr>
          <a:xfrm>
            <a:off x="4612680" y="5225760"/>
            <a:ext cx="32400" cy="55584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62" name="Picture 59" descr="icon_chart.png"/>
          <p:cNvPicPr/>
          <p:nvPr/>
        </p:nvPicPr>
        <p:blipFill>
          <a:blip r:embed="rId9"/>
          <a:stretch/>
        </p:blipFill>
        <p:spPr>
          <a:xfrm>
            <a:off x="4749840" y="532260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3" name="TextBox 60"/>
          <p:cNvSpPr/>
          <p:nvPr/>
        </p:nvSpPr>
        <p:spPr>
          <a:xfrm>
            <a:off x="5234400" y="533772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Explo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rator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y 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analy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sis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Box 61"/>
          <p:cNvSpPr/>
          <p:nvPr/>
        </p:nvSpPr>
        <p:spPr>
          <a:xfrm>
            <a:off x="5234400" y="552816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Correlations, trends, seasonality.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Rounded Rectangle 62"/>
          <p:cNvSpPr/>
          <p:nvPr/>
        </p:nvSpPr>
        <p:spPr>
          <a:xfrm>
            <a:off x="8631000" y="207108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63"/>
          <p:cNvSpPr/>
          <p:nvPr/>
        </p:nvSpPr>
        <p:spPr>
          <a:xfrm>
            <a:off x="8631000" y="2071080"/>
            <a:ext cx="32400" cy="55584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67" name="Picture 64" descr="icon_gear.png"/>
          <p:cNvPicPr/>
          <p:nvPr/>
        </p:nvPicPr>
        <p:blipFill>
          <a:blip r:embed="rId10"/>
          <a:stretch/>
        </p:blipFill>
        <p:spPr>
          <a:xfrm>
            <a:off x="8768160" y="216828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8" name="TextBox 65"/>
          <p:cNvSpPr/>
          <p:nvPr/>
        </p:nvSpPr>
        <p:spPr>
          <a:xfrm>
            <a:off x="9252720" y="218304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Machine Learning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Box 66"/>
          <p:cNvSpPr/>
          <p:nvPr/>
        </p:nvSpPr>
        <p:spPr>
          <a:xfrm>
            <a:off x="9252720" y="2373480"/>
            <a:ext cx="22492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Regression modeling.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Down Arrow 67"/>
          <p:cNvSpPr/>
          <p:nvPr/>
        </p:nvSpPr>
        <p:spPr>
          <a:xfrm>
            <a:off x="10077840" y="269964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ounded Rectangle 68"/>
          <p:cNvSpPr/>
          <p:nvPr/>
        </p:nvSpPr>
        <p:spPr>
          <a:xfrm>
            <a:off x="8631000" y="28598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69"/>
          <p:cNvSpPr/>
          <p:nvPr/>
        </p:nvSpPr>
        <p:spPr>
          <a:xfrm>
            <a:off x="8631000" y="2859840"/>
            <a:ext cx="32400" cy="55584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3" name="Picture 70" descr="icon_sun.png"/>
          <p:cNvPicPr/>
          <p:nvPr/>
        </p:nvPicPr>
        <p:blipFill>
          <a:blip r:embed="rId11"/>
          <a:stretch/>
        </p:blipFill>
        <p:spPr>
          <a:xfrm>
            <a:off x="8768160" y="29570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4" name="TextBox 71"/>
          <p:cNvSpPr/>
          <p:nvPr/>
        </p:nvSpPr>
        <p:spPr>
          <a:xfrm>
            <a:off x="9252720" y="297180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Radia</a:t>
            </a: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tion </a:t>
            </a: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forec</a:t>
            </a: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ast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Box 72"/>
          <p:cNvSpPr/>
          <p:nvPr/>
        </p:nvSpPr>
        <p:spPr>
          <a:xfrm>
            <a:off x="9252720" y="316224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Predict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 next-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visible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radiatio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Down Arrow 73"/>
          <p:cNvSpPr/>
          <p:nvPr/>
        </p:nvSpPr>
        <p:spPr>
          <a:xfrm>
            <a:off x="10077840" y="348840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ounded Rectangle 74"/>
          <p:cNvSpPr/>
          <p:nvPr/>
        </p:nvSpPr>
        <p:spPr>
          <a:xfrm>
            <a:off x="8631000" y="36482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75"/>
          <p:cNvSpPr/>
          <p:nvPr/>
        </p:nvSpPr>
        <p:spPr>
          <a:xfrm>
            <a:off x="8631000" y="3648240"/>
            <a:ext cx="32400" cy="55584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9" name="Picture 76" descr="icon_battery.png"/>
          <p:cNvPicPr/>
          <p:nvPr/>
        </p:nvPicPr>
        <p:blipFill>
          <a:blip r:embed="rId12"/>
          <a:stretch/>
        </p:blipFill>
        <p:spPr>
          <a:xfrm>
            <a:off x="8768160" y="37454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0" name="TextBox 77"/>
          <p:cNvSpPr/>
          <p:nvPr/>
        </p:nvSpPr>
        <p:spPr>
          <a:xfrm>
            <a:off x="9252720" y="376056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Production estimate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Box 78"/>
          <p:cNvSpPr/>
          <p:nvPr/>
        </p:nvSpPr>
        <p:spPr>
          <a:xfrm>
            <a:off x="9252720" y="3950640"/>
            <a:ext cx="22492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Radiation → kWh/m² at 20% efficiency.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2" name="Connector 79"/>
          <p:cNvCxnSpPr/>
          <p:nvPr/>
        </p:nvCxnSpPr>
        <p:spPr>
          <a:xfrm>
            <a:off x="3560760" y="2351160"/>
            <a:ext cx="443520" cy="432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3" name="Connector 80"/>
          <p:cNvCxnSpPr/>
          <p:nvPr/>
        </p:nvCxnSpPr>
        <p:spPr>
          <a:xfrm>
            <a:off x="3560760" y="3139560"/>
            <a:ext cx="443520" cy="432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4" name="Connector 81"/>
          <p:cNvCxnSpPr/>
          <p:nvPr/>
        </p:nvCxnSpPr>
        <p:spPr>
          <a:xfrm>
            <a:off x="3560760" y="3928320"/>
            <a:ext cx="443520" cy="432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5" name="Connector 82"/>
          <p:cNvCxnSpPr/>
          <p:nvPr/>
        </p:nvCxnSpPr>
        <p:spPr>
          <a:xfrm>
            <a:off x="3560760" y="4716720"/>
            <a:ext cx="443520" cy="432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6" name="Connector 83"/>
          <p:cNvCxnSpPr/>
          <p:nvPr/>
        </p:nvCxnSpPr>
        <p:spPr>
          <a:xfrm>
            <a:off x="3999960" y="2351160"/>
            <a:ext cx="4320" cy="236988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7" name="Connector 84"/>
          <p:cNvCxnSpPr/>
          <p:nvPr/>
        </p:nvCxnSpPr>
        <p:spPr>
          <a:xfrm>
            <a:off x="3999960" y="2351160"/>
            <a:ext cx="616680" cy="432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  <a:tailEnd len="med" type="triangle" w="med"/>
          </a:ln>
        </p:spPr>
      </p:cxnSp>
      <p:cxnSp>
        <p:nvCxnSpPr>
          <p:cNvPr id="1188" name="Connector 85"/>
          <p:cNvCxnSpPr/>
          <p:nvPr/>
        </p:nvCxnSpPr>
        <p:spPr>
          <a:xfrm>
            <a:off x="7579080" y="5505480"/>
            <a:ext cx="573480" cy="432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</a:ln>
        </p:spPr>
      </p:cxnSp>
      <p:cxnSp>
        <p:nvCxnSpPr>
          <p:cNvPr id="1189" name="Connector 86"/>
          <p:cNvCxnSpPr/>
          <p:nvPr/>
        </p:nvCxnSpPr>
        <p:spPr>
          <a:xfrm flipV="1">
            <a:off x="8148240" y="2351160"/>
            <a:ext cx="4320" cy="315864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</a:ln>
        </p:spPr>
      </p:cxnSp>
      <p:cxnSp>
        <p:nvCxnSpPr>
          <p:cNvPr id="1190" name="Connector 87"/>
          <p:cNvCxnSpPr/>
          <p:nvPr/>
        </p:nvCxnSpPr>
        <p:spPr>
          <a:xfrm>
            <a:off x="8148240" y="2351160"/>
            <a:ext cx="486720" cy="432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  <a:tailEnd len="med" type="triangle" w="med"/>
          </a:ln>
        </p:spPr>
      </p:cxnSp>
      <p:cxnSp>
        <p:nvCxnSpPr>
          <p:cNvPr id="1191" name="Connector 88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192" name="TextBox 89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Box 90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195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6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7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8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9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0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1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2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3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4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5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6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7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8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9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0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1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2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3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4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5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6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7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8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9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0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1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2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3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4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5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6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7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8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9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0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1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2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3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4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5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6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7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8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9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0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1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2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3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4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5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6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7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8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9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0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1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2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3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4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5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6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7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8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259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03 · EXPLORATORY ANALYSIS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at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exp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lai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ns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sol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ar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du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cti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Box 4"/>
          <p:cNvSpPr/>
          <p:nvPr/>
        </p:nvSpPr>
        <p:spPr>
          <a:xfrm>
            <a:off x="502920" y="1404000"/>
            <a:ext cx="109958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Correlations between weather variables and production per capacity, across 26,676 observations.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Rounded Rectangle 7"/>
          <p:cNvSpPr/>
          <p:nvPr/>
        </p:nvSpPr>
        <p:spPr>
          <a:xfrm>
            <a:off x="7360920" y="1828800"/>
            <a:ext cx="4323960" cy="1195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TextBox 8"/>
          <p:cNvSpPr/>
          <p:nvPr/>
        </p:nvSpPr>
        <p:spPr>
          <a:xfrm>
            <a:off x="7589520" y="1965960"/>
            <a:ext cx="12956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0.93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Box 9"/>
          <p:cNvSpPr/>
          <p:nvPr/>
        </p:nvSpPr>
        <p:spPr>
          <a:xfrm>
            <a:off x="8960760" y="1983960"/>
            <a:ext cx="24937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Visibl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radiat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Box 10"/>
          <p:cNvSpPr/>
          <p:nvPr/>
        </p:nvSpPr>
        <p:spPr>
          <a:xfrm>
            <a:off x="8960760" y="2388960"/>
            <a:ext cx="249372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Strongest correlation with production.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6" name="Rounded Rectangle 11"/>
          <p:cNvSpPr/>
          <p:nvPr/>
        </p:nvSpPr>
        <p:spPr>
          <a:xfrm>
            <a:off x="7360920" y="3193920"/>
            <a:ext cx="4323960" cy="1195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TextBox 12"/>
          <p:cNvSpPr/>
          <p:nvPr/>
        </p:nvSpPr>
        <p:spPr>
          <a:xfrm>
            <a:off x="7589520" y="3331080"/>
            <a:ext cx="12956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-0.75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Box 13"/>
          <p:cNvSpPr/>
          <p:nvPr/>
        </p:nvSpPr>
        <p:spPr>
          <a:xfrm>
            <a:off x="8960760" y="3348720"/>
            <a:ext cx="24937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Relative humidity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Box 14"/>
          <p:cNvSpPr/>
          <p:nvPr/>
        </p:nvSpPr>
        <p:spPr>
          <a:xfrm>
            <a:off x="8960760" y="3753720"/>
            <a:ext cx="249372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Negative correlation (cloudier sky).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0" name="Rounded Rectangle 15"/>
          <p:cNvSpPr/>
          <p:nvPr/>
        </p:nvSpPr>
        <p:spPr>
          <a:xfrm>
            <a:off x="7360920" y="4558680"/>
            <a:ext cx="4323960" cy="1195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TextBox 16"/>
          <p:cNvSpPr/>
          <p:nvPr/>
        </p:nvSpPr>
        <p:spPr>
          <a:xfrm>
            <a:off x="7589520" y="4695840"/>
            <a:ext cx="12956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0.87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Box 17"/>
          <p:cNvSpPr/>
          <p:nvPr/>
        </p:nvSpPr>
        <p:spPr>
          <a:xfrm>
            <a:off x="8960760" y="4713840"/>
            <a:ext cx="24937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Potential evapotranspiration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Box 18"/>
          <p:cNvSpPr/>
          <p:nvPr/>
        </p:nvSpPr>
        <p:spPr>
          <a:xfrm>
            <a:off x="8960760" y="5118840"/>
            <a:ext cx="249372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Strong positive correlation, tied to sunshine.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74" name="Connector 19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275" name="TextBox 20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ction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astin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ine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mlit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Box 21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05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7" name="Rounded Rectangle 964"/>
          <p:cNvSpPr/>
          <p:nvPr/>
        </p:nvSpPr>
        <p:spPr>
          <a:xfrm>
            <a:off x="502920" y="1828800"/>
            <a:ext cx="6579360" cy="3927600"/>
          </a:xfrm>
          <a:prstGeom prst="roundRect">
            <a:avLst>
              <a:gd name="adj" fmla="val 186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TextBox 965"/>
          <p:cNvSpPr/>
          <p:nvPr/>
        </p:nvSpPr>
        <p:spPr>
          <a:xfrm>
            <a:off x="502920" y="1901880"/>
            <a:ext cx="65793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Correlation Matrix | Meteorological Variables vs Solar Production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Box 966"/>
          <p:cNvSpPr/>
          <p:nvPr/>
        </p:nvSpPr>
        <p:spPr>
          <a:xfrm>
            <a:off x="731520" y="234072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Snowfall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Box 967"/>
          <p:cNvSpPr/>
          <p:nvPr/>
        </p:nvSpPr>
        <p:spPr>
          <a:xfrm>
            <a:off x="731520" y="256104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Rainfall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968"/>
          <p:cNvSpPr/>
          <p:nvPr/>
        </p:nvSpPr>
        <p:spPr>
          <a:xfrm>
            <a:off x="731520" y="278136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Avg Temp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Box 969"/>
          <p:cNvSpPr/>
          <p:nvPr/>
        </p:nvSpPr>
        <p:spPr>
          <a:xfrm>
            <a:off x="731520" y="300132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Wind </a:t>
            </a: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Speed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3" name="TextBox 970"/>
          <p:cNvSpPr/>
          <p:nvPr/>
        </p:nvSpPr>
        <p:spPr>
          <a:xfrm>
            <a:off x="731520" y="322164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Spec.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Box 971"/>
          <p:cNvSpPr/>
          <p:nvPr/>
        </p:nvSpPr>
        <p:spPr>
          <a:xfrm>
            <a:off x="731520" y="344196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Atm. Radiation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Box 972"/>
          <p:cNvSpPr/>
          <p:nvPr/>
        </p:nvSpPr>
        <p:spPr>
          <a:xfrm>
            <a:off x="731520" y="366192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Visible Rad.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Box 973"/>
          <p:cNvSpPr/>
          <p:nvPr/>
        </p:nvSpPr>
        <p:spPr>
          <a:xfrm>
            <a:off x="731520" y="388224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Rel.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Box 974"/>
          <p:cNvSpPr/>
          <p:nvPr/>
        </p:nvSpPr>
        <p:spPr>
          <a:xfrm>
            <a:off x="731520" y="410256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Total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Box 975"/>
          <p:cNvSpPr/>
          <p:nvPr/>
        </p:nvSpPr>
        <p:spPr>
          <a:xfrm>
            <a:off x="731520" y="432252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Potential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Box 976"/>
          <p:cNvSpPr/>
          <p:nvPr/>
        </p:nvSpPr>
        <p:spPr>
          <a:xfrm>
            <a:off x="731520" y="454284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Prod / </a:t>
            </a: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Capacity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0" name="Rounded Rectangle 977"/>
          <p:cNvSpPr/>
          <p:nvPr/>
        </p:nvSpPr>
        <p:spPr>
          <a:xfrm>
            <a:off x="164592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Rounded Rectangle 978"/>
          <p:cNvSpPr/>
          <p:nvPr/>
        </p:nvSpPr>
        <p:spPr>
          <a:xfrm>
            <a:off x="212256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Rounded Rectangle 979"/>
          <p:cNvSpPr/>
          <p:nvPr/>
        </p:nvSpPr>
        <p:spPr>
          <a:xfrm>
            <a:off x="259956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C47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Rounded Rectangle 980"/>
          <p:cNvSpPr/>
          <p:nvPr/>
        </p:nvSpPr>
        <p:spPr>
          <a:xfrm>
            <a:off x="307620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4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Rounded Rectangle 981"/>
          <p:cNvSpPr/>
          <p:nvPr/>
        </p:nvSpPr>
        <p:spPr>
          <a:xfrm>
            <a:off x="355284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Rounded Rectangle 982"/>
          <p:cNvSpPr/>
          <p:nvPr/>
        </p:nvSpPr>
        <p:spPr>
          <a:xfrm>
            <a:off x="402948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Rounded Rectangle 983"/>
          <p:cNvSpPr/>
          <p:nvPr/>
        </p:nvSpPr>
        <p:spPr>
          <a:xfrm>
            <a:off x="450648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Rounded Rectangle 984"/>
          <p:cNvSpPr/>
          <p:nvPr/>
        </p:nvSpPr>
        <p:spPr>
          <a:xfrm>
            <a:off x="498312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D3D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Rounded Rectangle 985"/>
          <p:cNvSpPr/>
          <p:nvPr/>
        </p:nvSpPr>
        <p:spPr>
          <a:xfrm>
            <a:off x="545976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Rounded Rectangle 986"/>
          <p:cNvSpPr/>
          <p:nvPr/>
        </p:nvSpPr>
        <p:spPr>
          <a:xfrm>
            <a:off x="593640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2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Rounded Rectangle 987"/>
          <p:cNvSpPr/>
          <p:nvPr/>
        </p:nvSpPr>
        <p:spPr>
          <a:xfrm>
            <a:off x="641340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B46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Rounded Rectangle 988"/>
          <p:cNvSpPr/>
          <p:nvPr/>
        </p:nvSpPr>
        <p:spPr>
          <a:xfrm>
            <a:off x="164592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Rounded Rectangle 989"/>
          <p:cNvSpPr/>
          <p:nvPr/>
        </p:nvSpPr>
        <p:spPr>
          <a:xfrm>
            <a:off x="212256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Rounded Rectangle 990"/>
          <p:cNvSpPr/>
          <p:nvPr/>
        </p:nvSpPr>
        <p:spPr>
          <a:xfrm>
            <a:off x="259956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2D32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4" name="Rounded Rectangle 991"/>
          <p:cNvSpPr/>
          <p:nvPr/>
        </p:nvSpPr>
        <p:spPr>
          <a:xfrm>
            <a:off x="307620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Rounded Rectangle 992"/>
          <p:cNvSpPr/>
          <p:nvPr/>
        </p:nvSpPr>
        <p:spPr>
          <a:xfrm>
            <a:off x="355284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F3F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Rounded Rectangle 993"/>
          <p:cNvSpPr/>
          <p:nvPr/>
        </p:nvSpPr>
        <p:spPr>
          <a:xfrm>
            <a:off x="402948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ounded Rectangle 994"/>
          <p:cNvSpPr/>
          <p:nvPr/>
        </p:nvSpPr>
        <p:spPr>
          <a:xfrm>
            <a:off x="450648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Rounded Rectangle 995"/>
          <p:cNvSpPr/>
          <p:nvPr/>
        </p:nvSpPr>
        <p:spPr>
          <a:xfrm>
            <a:off x="498312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Rounded Rectangle 996"/>
          <p:cNvSpPr/>
          <p:nvPr/>
        </p:nvSpPr>
        <p:spPr>
          <a:xfrm>
            <a:off x="545976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Rounded Rectangle 997"/>
          <p:cNvSpPr/>
          <p:nvPr/>
        </p:nvSpPr>
        <p:spPr>
          <a:xfrm>
            <a:off x="593640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B4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Rounded Rectangle 998"/>
          <p:cNvSpPr/>
          <p:nvPr/>
        </p:nvSpPr>
        <p:spPr>
          <a:xfrm>
            <a:off x="641340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14E6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Rounded Rectangle 999"/>
          <p:cNvSpPr/>
          <p:nvPr/>
        </p:nvSpPr>
        <p:spPr>
          <a:xfrm>
            <a:off x="164592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C47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3" name="Rounded Rectangle 1000"/>
          <p:cNvSpPr/>
          <p:nvPr/>
        </p:nvSpPr>
        <p:spPr>
          <a:xfrm>
            <a:off x="212256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2D32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4" name="Rounded Rectangle 1001"/>
          <p:cNvSpPr/>
          <p:nvPr/>
        </p:nvSpPr>
        <p:spPr>
          <a:xfrm>
            <a:off x="259956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Rounded Rectangle 1002"/>
          <p:cNvSpPr/>
          <p:nvPr/>
        </p:nvSpPr>
        <p:spPr>
          <a:xfrm>
            <a:off x="307620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Rounded Rectangle 1003"/>
          <p:cNvSpPr/>
          <p:nvPr/>
        </p:nvSpPr>
        <p:spPr>
          <a:xfrm>
            <a:off x="355284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6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Rounded Rectangle 1004"/>
          <p:cNvSpPr/>
          <p:nvPr/>
        </p:nvSpPr>
        <p:spPr>
          <a:xfrm>
            <a:off x="402948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3D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Rounded Rectangle 1005"/>
          <p:cNvSpPr/>
          <p:nvPr/>
        </p:nvSpPr>
        <p:spPr>
          <a:xfrm>
            <a:off x="450648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947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Rounded Rectangle 1006"/>
          <p:cNvSpPr/>
          <p:nvPr/>
        </p:nvSpPr>
        <p:spPr>
          <a:xfrm>
            <a:off x="498312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3537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Rounded Rectangle 1007"/>
          <p:cNvSpPr/>
          <p:nvPr/>
        </p:nvSpPr>
        <p:spPr>
          <a:xfrm>
            <a:off x="545976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5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Rounded Rectangle 1008"/>
          <p:cNvSpPr/>
          <p:nvPr/>
        </p:nvSpPr>
        <p:spPr>
          <a:xfrm>
            <a:off x="593640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2" name="Rounded Rectangle 1009"/>
          <p:cNvSpPr/>
          <p:nvPr/>
        </p:nvSpPr>
        <p:spPr>
          <a:xfrm>
            <a:off x="641340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749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Rounded Rectangle 1010"/>
          <p:cNvSpPr/>
          <p:nvPr/>
        </p:nvSpPr>
        <p:spPr>
          <a:xfrm>
            <a:off x="164592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4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Rounded Rectangle 1011"/>
          <p:cNvSpPr/>
          <p:nvPr/>
        </p:nvSpPr>
        <p:spPr>
          <a:xfrm>
            <a:off x="212256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Rounded Rectangle 1012"/>
          <p:cNvSpPr/>
          <p:nvPr/>
        </p:nvSpPr>
        <p:spPr>
          <a:xfrm>
            <a:off x="259956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Rounded Rectangle 1013"/>
          <p:cNvSpPr/>
          <p:nvPr/>
        </p:nvSpPr>
        <p:spPr>
          <a:xfrm>
            <a:off x="307620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Rounded Rectangle 1014"/>
          <p:cNvSpPr/>
          <p:nvPr/>
        </p:nvSpPr>
        <p:spPr>
          <a:xfrm>
            <a:off x="355284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Rounded Rectangle 1015"/>
          <p:cNvSpPr/>
          <p:nvPr/>
        </p:nvSpPr>
        <p:spPr>
          <a:xfrm>
            <a:off x="402948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Rounded Rectangle 1016"/>
          <p:cNvSpPr/>
          <p:nvPr/>
        </p:nvSpPr>
        <p:spPr>
          <a:xfrm>
            <a:off x="450648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Rounded Rectangle 1017"/>
          <p:cNvSpPr/>
          <p:nvPr/>
        </p:nvSpPr>
        <p:spPr>
          <a:xfrm>
            <a:off x="498312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240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Rounded Rectangle 1018"/>
          <p:cNvSpPr/>
          <p:nvPr/>
        </p:nvSpPr>
        <p:spPr>
          <a:xfrm>
            <a:off x="545976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ounded Rectangle 1019"/>
          <p:cNvSpPr/>
          <p:nvPr/>
        </p:nvSpPr>
        <p:spPr>
          <a:xfrm>
            <a:off x="593640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Rounded Rectangle 1020"/>
          <p:cNvSpPr/>
          <p:nvPr/>
        </p:nvSpPr>
        <p:spPr>
          <a:xfrm>
            <a:off x="641340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D6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Rounded Rectangle 1021"/>
          <p:cNvSpPr/>
          <p:nvPr/>
        </p:nvSpPr>
        <p:spPr>
          <a:xfrm>
            <a:off x="164592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Rounded Rectangle 1022"/>
          <p:cNvSpPr/>
          <p:nvPr/>
        </p:nvSpPr>
        <p:spPr>
          <a:xfrm>
            <a:off x="212256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F3F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6" name="Rounded Rectangle 1023"/>
          <p:cNvSpPr/>
          <p:nvPr/>
        </p:nvSpPr>
        <p:spPr>
          <a:xfrm>
            <a:off x="259956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6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Rounded Rectangle 1024"/>
          <p:cNvSpPr/>
          <p:nvPr/>
        </p:nvSpPr>
        <p:spPr>
          <a:xfrm>
            <a:off x="307620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Rounded Rectangle 1025"/>
          <p:cNvSpPr/>
          <p:nvPr/>
        </p:nvSpPr>
        <p:spPr>
          <a:xfrm>
            <a:off x="355284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Rounded Rectangle 1026"/>
          <p:cNvSpPr/>
          <p:nvPr/>
        </p:nvSpPr>
        <p:spPr>
          <a:xfrm>
            <a:off x="402948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9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0" name="Rounded Rectangle 1027"/>
          <p:cNvSpPr/>
          <p:nvPr/>
        </p:nvSpPr>
        <p:spPr>
          <a:xfrm>
            <a:off x="450648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3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1" name="Rounded Rectangle 1028"/>
          <p:cNvSpPr/>
          <p:nvPr/>
        </p:nvSpPr>
        <p:spPr>
          <a:xfrm>
            <a:off x="498312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2" name="Rounded Rectangle 1029"/>
          <p:cNvSpPr/>
          <p:nvPr/>
        </p:nvSpPr>
        <p:spPr>
          <a:xfrm>
            <a:off x="545976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A4C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3" name="Rounded Rectangle 1030"/>
          <p:cNvSpPr/>
          <p:nvPr/>
        </p:nvSpPr>
        <p:spPr>
          <a:xfrm>
            <a:off x="593640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4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0.59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Rounded Rectangle 1031"/>
          <p:cNvSpPr/>
          <p:nvPr/>
        </p:nvSpPr>
        <p:spPr>
          <a:xfrm>
            <a:off x="641340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2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Rounded Rectangle 1032"/>
          <p:cNvSpPr/>
          <p:nvPr/>
        </p:nvSpPr>
        <p:spPr>
          <a:xfrm>
            <a:off x="164592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Rounded Rectangle 1033"/>
          <p:cNvSpPr/>
          <p:nvPr/>
        </p:nvSpPr>
        <p:spPr>
          <a:xfrm>
            <a:off x="212256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Rounded Rectangle 1034"/>
          <p:cNvSpPr/>
          <p:nvPr/>
        </p:nvSpPr>
        <p:spPr>
          <a:xfrm>
            <a:off x="259956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3D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Rounded Rectangle 1035"/>
          <p:cNvSpPr/>
          <p:nvPr/>
        </p:nvSpPr>
        <p:spPr>
          <a:xfrm>
            <a:off x="307620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Rounded Rectangle 1036"/>
          <p:cNvSpPr/>
          <p:nvPr/>
        </p:nvSpPr>
        <p:spPr>
          <a:xfrm>
            <a:off x="355284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9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Rounded Rectangle 1037"/>
          <p:cNvSpPr/>
          <p:nvPr/>
        </p:nvSpPr>
        <p:spPr>
          <a:xfrm>
            <a:off x="402948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Rounded Rectangle 1038"/>
          <p:cNvSpPr/>
          <p:nvPr/>
        </p:nvSpPr>
        <p:spPr>
          <a:xfrm>
            <a:off x="450648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140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Rounded Rectangle 1039"/>
          <p:cNvSpPr/>
          <p:nvPr/>
        </p:nvSpPr>
        <p:spPr>
          <a:xfrm>
            <a:off x="498312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542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Rounded Rectangle 1040"/>
          <p:cNvSpPr/>
          <p:nvPr/>
        </p:nvSpPr>
        <p:spPr>
          <a:xfrm>
            <a:off x="545976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148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Rounded Rectangle 1041"/>
          <p:cNvSpPr/>
          <p:nvPr/>
        </p:nvSpPr>
        <p:spPr>
          <a:xfrm>
            <a:off x="593640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Rounded Rectangle 1042"/>
          <p:cNvSpPr/>
          <p:nvPr/>
        </p:nvSpPr>
        <p:spPr>
          <a:xfrm>
            <a:off x="641340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E3E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Rounded Rectangle 1043"/>
          <p:cNvSpPr/>
          <p:nvPr/>
        </p:nvSpPr>
        <p:spPr>
          <a:xfrm>
            <a:off x="164592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ounded Rectangle 1044"/>
          <p:cNvSpPr/>
          <p:nvPr/>
        </p:nvSpPr>
        <p:spPr>
          <a:xfrm>
            <a:off x="212256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Rounded Rectangle 1045"/>
          <p:cNvSpPr/>
          <p:nvPr/>
        </p:nvSpPr>
        <p:spPr>
          <a:xfrm>
            <a:off x="259956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947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Rounded Rectangle 1046"/>
          <p:cNvSpPr/>
          <p:nvPr/>
        </p:nvSpPr>
        <p:spPr>
          <a:xfrm>
            <a:off x="307620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ounded Rectangle 1047"/>
          <p:cNvSpPr/>
          <p:nvPr/>
        </p:nvSpPr>
        <p:spPr>
          <a:xfrm>
            <a:off x="355284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3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Rounded Rectangle 1048"/>
          <p:cNvSpPr/>
          <p:nvPr/>
        </p:nvSpPr>
        <p:spPr>
          <a:xfrm>
            <a:off x="402948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140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Rounded Rectangle 1049"/>
          <p:cNvSpPr/>
          <p:nvPr/>
        </p:nvSpPr>
        <p:spPr>
          <a:xfrm>
            <a:off x="450648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Rounded Rectangle 1050"/>
          <p:cNvSpPr/>
          <p:nvPr/>
        </p:nvSpPr>
        <p:spPr>
          <a:xfrm>
            <a:off x="498312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A4E9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Rounded Rectangle 1051"/>
          <p:cNvSpPr/>
          <p:nvPr/>
        </p:nvSpPr>
        <p:spPr>
          <a:xfrm>
            <a:off x="545976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Rounded Rectangle 1052"/>
          <p:cNvSpPr/>
          <p:nvPr/>
        </p:nvSpPr>
        <p:spPr>
          <a:xfrm>
            <a:off x="593640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2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Rounded Rectangle 1053"/>
          <p:cNvSpPr/>
          <p:nvPr/>
        </p:nvSpPr>
        <p:spPr>
          <a:xfrm>
            <a:off x="641340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23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Rounded Rectangle 1054"/>
          <p:cNvSpPr/>
          <p:nvPr/>
        </p:nvSpPr>
        <p:spPr>
          <a:xfrm>
            <a:off x="164592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D3D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Rounded Rectangle 1055"/>
          <p:cNvSpPr/>
          <p:nvPr/>
        </p:nvSpPr>
        <p:spPr>
          <a:xfrm>
            <a:off x="212256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Rounded Rectangle 1056"/>
          <p:cNvSpPr/>
          <p:nvPr/>
        </p:nvSpPr>
        <p:spPr>
          <a:xfrm>
            <a:off x="259956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3537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Rounded Rectangle 1057"/>
          <p:cNvSpPr/>
          <p:nvPr/>
        </p:nvSpPr>
        <p:spPr>
          <a:xfrm>
            <a:off x="307620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240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Rounded Rectangle 1058"/>
          <p:cNvSpPr/>
          <p:nvPr/>
        </p:nvSpPr>
        <p:spPr>
          <a:xfrm>
            <a:off x="355284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Rounded Rectangle 1059"/>
          <p:cNvSpPr/>
          <p:nvPr/>
        </p:nvSpPr>
        <p:spPr>
          <a:xfrm>
            <a:off x="402948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542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3" name="Rounded Rectangle 1060"/>
          <p:cNvSpPr/>
          <p:nvPr/>
        </p:nvSpPr>
        <p:spPr>
          <a:xfrm>
            <a:off x="450648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A4E9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Rounded Rectangle 1061"/>
          <p:cNvSpPr/>
          <p:nvPr/>
        </p:nvSpPr>
        <p:spPr>
          <a:xfrm>
            <a:off x="498312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5" name="Rounded Rectangle 1062"/>
          <p:cNvSpPr/>
          <p:nvPr/>
        </p:nvSpPr>
        <p:spPr>
          <a:xfrm>
            <a:off x="545976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3547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Rounded Rectangle 1063"/>
          <p:cNvSpPr/>
          <p:nvPr/>
        </p:nvSpPr>
        <p:spPr>
          <a:xfrm>
            <a:off x="593640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C50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ounded Rectangle 1064"/>
          <p:cNvSpPr/>
          <p:nvPr/>
        </p:nvSpPr>
        <p:spPr>
          <a:xfrm>
            <a:off x="641340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D51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Rounded Rectangle 1065"/>
          <p:cNvSpPr/>
          <p:nvPr/>
        </p:nvSpPr>
        <p:spPr>
          <a:xfrm>
            <a:off x="164592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Rounded Rectangle 1066"/>
          <p:cNvSpPr/>
          <p:nvPr/>
        </p:nvSpPr>
        <p:spPr>
          <a:xfrm>
            <a:off x="212256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ounded Rectangle 1067"/>
          <p:cNvSpPr/>
          <p:nvPr/>
        </p:nvSpPr>
        <p:spPr>
          <a:xfrm>
            <a:off x="259956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5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Rounded Rectangle 1068"/>
          <p:cNvSpPr/>
          <p:nvPr/>
        </p:nvSpPr>
        <p:spPr>
          <a:xfrm>
            <a:off x="307620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Rounded Rectangle 1069"/>
          <p:cNvSpPr/>
          <p:nvPr/>
        </p:nvSpPr>
        <p:spPr>
          <a:xfrm>
            <a:off x="355284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A4C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Rounded Rectangle 1070"/>
          <p:cNvSpPr/>
          <p:nvPr/>
        </p:nvSpPr>
        <p:spPr>
          <a:xfrm>
            <a:off x="402948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148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4" name="Rounded Rectangle 1071"/>
          <p:cNvSpPr/>
          <p:nvPr/>
        </p:nvSpPr>
        <p:spPr>
          <a:xfrm>
            <a:off x="450648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Rounded Rectangle 1072"/>
          <p:cNvSpPr/>
          <p:nvPr/>
        </p:nvSpPr>
        <p:spPr>
          <a:xfrm>
            <a:off x="498312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3547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Rounded Rectangle 1073"/>
          <p:cNvSpPr/>
          <p:nvPr/>
        </p:nvSpPr>
        <p:spPr>
          <a:xfrm>
            <a:off x="545976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7" name="Rounded Rectangle 1074"/>
          <p:cNvSpPr/>
          <p:nvPr/>
        </p:nvSpPr>
        <p:spPr>
          <a:xfrm>
            <a:off x="593640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E3F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Rounded Rectangle 1075"/>
          <p:cNvSpPr/>
          <p:nvPr/>
        </p:nvSpPr>
        <p:spPr>
          <a:xfrm>
            <a:off x="641340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3E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Rounded Rectangle 1076"/>
          <p:cNvSpPr/>
          <p:nvPr/>
        </p:nvSpPr>
        <p:spPr>
          <a:xfrm>
            <a:off x="164592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2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0" name="Rounded Rectangle 1077"/>
          <p:cNvSpPr/>
          <p:nvPr/>
        </p:nvSpPr>
        <p:spPr>
          <a:xfrm>
            <a:off x="212256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B4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Rounded Rectangle 1078"/>
          <p:cNvSpPr/>
          <p:nvPr/>
        </p:nvSpPr>
        <p:spPr>
          <a:xfrm>
            <a:off x="259956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2" name="Rounded Rectangle 1079"/>
          <p:cNvSpPr/>
          <p:nvPr/>
        </p:nvSpPr>
        <p:spPr>
          <a:xfrm>
            <a:off x="307620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3" name="Rounded Rectangle 1080"/>
          <p:cNvSpPr/>
          <p:nvPr/>
        </p:nvSpPr>
        <p:spPr>
          <a:xfrm>
            <a:off x="355284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4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0.59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Rounded Rectangle 1081"/>
          <p:cNvSpPr/>
          <p:nvPr/>
        </p:nvSpPr>
        <p:spPr>
          <a:xfrm>
            <a:off x="402948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5" name="Rounded Rectangle 1082"/>
          <p:cNvSpPr/>
          <p:nvPr/>
        </p:nvSpPr>
        <p:spPr>
          <a:xfrm>
            <a:off x="450648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2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Rounded Rectangle 1083"/>
          <p:cNvSpPr/>
          <p:nvPr/>
        </p:nvSpPr>
        <p:spPr>
          <a:xfrm>
            <a:off x="498312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C50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ounded Rectangle 1084"/>
          <p:cNvSpPr/>
          <p:nvPr/>
        </p:nvSpPr>
        <p:spPr>
          <a:xfrm>
            <a:off x="545976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E3F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8" name="Rounded Rectangle 1085"/>
          <p:cNvSpPr/>
          <p:nvPr/>
        </p:nvSpPr>
        <p:spPr>
          <a:xfrm>
            <a:off x="593640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9" name="Rounded Rectangle 1086"/>
          <p:cNvSpPr/>
          <p:nvPr/>
        </p:nvSpPr>
        <p:spPr>
          <a:xfrm>
            <a:off x="641340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F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Rounded Rectangle 1087"/>
          <p:cNvSpPr/>
          <p:nvPr/>
        </p:nvSpPr>
        <p:spPr>
          <a:xfrm>
            <a:off x="164592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B46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ounded Rectangle 1088"/>
          <p:cNvSpPr/>
          <p:nvPr/>
        </p:nvSpPr>
        <p:spPr>
          <a:xfrm>
            <a:off x="212256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14E6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2" name="Rounded Rectangle 1089"/>
          <p:cNvSpPr/>
          <p:nvPr/>
        </p:nvSpPr>
        <p:spPr>
          <a:xfrm>
            <a:off x="259956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749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Rounded Rectangle 1090"/>
          <p:cNvSpPr/>
          <p:nvPr/>
        </p:nvSpPr>
        <p:spPr>
          <a:xfrm>
            <a:off x="307620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D6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ounded Rectangle 1091"/>
          <p:cNvSpPr/>
          <p:nvPr/>
        </p:nvSpPr>
        <p:spPr>
          <a:xfrm>
            <a:off x="355284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2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5" name="Rounded Rectangle 1092"/>
          <p:cNvSpPr/>
          <p:nvPr/>
        </p:nvSpPr>
        <p:spPr>
          <a:xfrm>
            <a:off x="402948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E3E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Rounded Rectangle 1093"/>
          <p:cNvSpPr/>
          <p:nvPr/>
        </p:nvSpPr>
        <p:spPr>
          <a:xfrm>
            <a:off x="450648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23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Rounded Rectangle 1094"/>
          <p:cNvSpPr/>
          <p:nvPr/>
        </p:nvSpPr>
        <p:spPr>
          <a:xfrm>
            <a:off x="498312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D51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8" name="Rounded Rectangle 1095"/>
          <p:cNvSpPr/>
          <p:nvPr/>
        </p:nvSpPr>
        <p:spPr>
          <a:xfrm>
            <a:off x="545976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3E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Rounded Rectangle 1096"/>
          <p:cNvSpPr/>
          <p:nvPr/>
        </p:nvSpPr>
        <p:spPr>
          <a:xfrm>
            <a:off x="593640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F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Rounded Rectangle 1097"/>
          <p:cNvSpPr/>
          <p:nvPr/>
        </p:nvSpPr>
        <p:spPr>
          <a:xfrm>
            <a:off x="641340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1" name="TextBox 1098"/>
          <p:cNvSpPr/>
          <p:nvPr/>
        </p:nvSpPr>
        <p:spPr>
          <a:xfrm rot="18000000">
            <a:off x="1587600" y="4965480"/>
            <a:ext cx="4392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Snowfall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Box 1099"/>
          <p:cNvSpPr/>
          <p:nvPr/>
        </p:nvSpPr>
        <p:spPr>
          <a:xfrm rot="18000000">
            <a:off x="2064600" y="4965480"/>
            <a:ext cx="4392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Rainfall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3" name="TextBox 1100"/>
          <p:cNvSpPr/>
          <p:nvPr/>
        </p:nvSpPr>
        <p:spPr>
          <a:xfrm rot="18000000">
            <a:off x="2541240" y="4965480"/>
            <a:ext cx="4392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Avg Temp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TextBox 1101"/>
          <p:cNvSpPr/>
          <p:nvPr/>
        </p:nvSpPr>
        <p:spPr>
          <a:xfrm rot="18000000">
            <a:off x="2943000" y="5008680"/>
            <a:ext cx="5389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Wind Speed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TextBox 1102"/>
          <p:cNvSpPr/>
          <p:nvPr/>
        </p:nvSpPr>
        <p:spPr>
          <a:xfrm rot="18000000">
            <a:off x="3270600" y="5094720"/>
            <a:ext cx="73764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Spec.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6" name="TextBox 1103"/>
          <p:cNvSpPr/>
          <p:nvPr/>
        </p:nvSpPr>
        <p:spPr>
          <a:xfrm rot="18000000">
            <a:off x="3747240" y="5094720"/>
            <a:ext cx="73764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Atm. Radiation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TextBox 1104"/>
          <p:cNvSpPr/>
          <p:nvPr/>
        </p:nvSpPr>
        <p:spPr>
          <a:xfrm rot="18000000">
            <a:off x="4298760" y="5051160"/>
            <a:ext cx="6382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Visible Rad.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Box 1105"/>
          <p:cNvSpPr/>
          <p:nvPr/>
        </p:nvSpPr>
        <p:spPr>
          <a:xfrm rot="18000000">
            <a:off x="4738320" y="5072760"/>
            <a:ext cx="68796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Rel.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TextBox 1106"/>
          <p:cNvSpPr/>
          <p:nvPr/>
        </p:nvSpPr>
        <p:spPr>
          <a:xfrm rot="18000000">
            <a:off x="5401800" y="4965480"/>
            <a:ext cx="4392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Total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TextBox 1107"/>
          <p:cNvSpPr/>
          <p:nvPr/>
        </p:nvSpPr>
        <p:spPr>
          <a:xfrm rot="18000000">
            <a:off x="5728680" y="5051160"/>
            <a:ext cx="6382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Potential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108"/>
          <p:cNvSpPr/>
          <p:nvPr/>
        </p:nvSpPr>
        <p:spPr>
          <a:xfrm rot="18000000">
            <a:off x="6093720" y="5115600"/>
            <a:ext cx="7876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Prod / Capacity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23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4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5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6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7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8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9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0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1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2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3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4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5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6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7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8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9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0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1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2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3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4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5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6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7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8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9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0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1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2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3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4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5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6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7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8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9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0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1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2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3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4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5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6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7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8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9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0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1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2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3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4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5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6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7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8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9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0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1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2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3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4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5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6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487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04 · MODELING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8" name="TextBox 3"/>
          <p:cNvSpPr/>
          <p:nvPr/>
        </p:nvSpPr>
        <p:spPr>
          <a:xfrm>
            <a:off x="502920" y="658440"/>
            <a:ext cx="1099476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Past radiation matters: ACF &amp; PACF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TextBox 4"/>
          <p:cNvSpPr/>
          <p:nvPr/>
        </p:nvSpPr>
        <p:spPr>
          <a:xfrm>
            <a:off x="502920" y="1404000"/>
            <a:ext cx="109958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Today's radiation strongly explains tomorrow's, but most of the signal is already captured by J-1.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0" name="Rounded Rectangle 5"/>
          <p:cNvSpPr/>
          <p:nvPr/>
        </p:nvSpPr>
        <p:spPr>
          <a:xfrm>
            <a:off x="502920" y="1828800"/>
            <a:ext cx="5583600" cy="3927600"/>
          </a:xfrm>
          <a:prstGeom prst="roundRect">
            <a:avLst>
              <a:gd name="adj" fmla="val 1860"/>
            </a:avLst>
          </a:prstGeom>
          <a:solidFill>
            <a:srgbClr val="2635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Rounded Rectangle 7"/>
          <p:cNvSpPr/>
          <p:nvPr/>
        </p:nvSpPr>
        <p:spPr>
          <a:xfrm>
            <a:off x="6319440" y="1828800"/>
            <a:ext cx="5583600" cy="3927600"/>
          </a:xfrm>
          <a:prstGeom prst="roundRect">
            <a:avLst>
              <a:gd name="adj" fmla="val 1860"/>
            </a:avLst>
          </a:prstGeom>
          <a:solidFill>
            <a:srgbClr val="2635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92" name="Connector 9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493" name="TextBox 10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TextBox 11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06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5" name=""/>
          <p:cNvPicPr/>
          <p:nvPr/>
        </p:nvPicPr>
        <p:blipFill>
          <a:blip r:embed="rId1"/>
          <a:stretch/>
        </p:blipFill>
        <p:spPr>
          <a:xfrm>
            <a:off x="538920" y="1866600"/>
            <a:ext cx="5505840" cy="386784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1496" name=""/>
          <p:cNvPicPr/>
          <p:nvPr/>
        </p:nvPicPr>
        <p:blipFill>
          <a:blip r:embed="rId2"/>
          <a:stretch/>
        </p:blipFill>
        <p:spPr>
          <a:xfrm>
            <a:off x="6354000" y="1868400"/>
            <a:ext cx="5505840" cy="386424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98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99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0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1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2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3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4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5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6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7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8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9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0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1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2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3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4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5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6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7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8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9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0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1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2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3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4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5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6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7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8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9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0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1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2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3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4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5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6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7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8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9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0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1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2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3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4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5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6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7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8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9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0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1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2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3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4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5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6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7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8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9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0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1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562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05 · MODEL CHOICE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From baseline to final model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Box 4"/>
          <p:cNvSpPr/>
          <p:nvPr/>
        </p:nvSpPr>
        <p:spPr>
          <a:xfrm>
            <a:off x="502920" y="1404000"/>
            <a:ext cx="109958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8 models evaluated, from the naive baseline to XGBoost, scored on unseen 2024–2026 data. Ridge chosen as final model.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65" name="Connector 5"/>
          <p:cNvCxnSpPr/>
          <p:nvPr/>
        </p:nvCxnSpPr>
        <p:spPr>
          <a:xfrm>
            <a:off x="708480" y="2221920"/>
            <a:ext cx="4320" cy="3149640"/>
          </a:xfrm>
          <a:prstGeom prst="straightConnector1">
            <a:avLst/>
          </a:prstGeom>
          <a:ln w="15875">
            <a:solidFill>
              <a:srgbClr val="3D4B72"/>
            </a:solidFill>
            <a:round/>
          </a:ln>
        </p:spPr>
      </p:cxnSp>
      <p:sp>
        <p:nvSpPr>
          <p:cNvPr id="1566" name="Oval 6"/>
          <p:cNvSpPr/>
          <p:nvPr/>
        </p:nvSpPr>
        <p:spPr>
          <a:xfrm>
            <a:off x="502920" y="2016360"/>
            <a:ext cx="407160" cy="40716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7" name="TextBox 7"/>
          <p:cNvSpPr/>
          <p:nvPr/>
        </p:nvSpPr>
        <p:spPr>
          <a:xfrm>
            <a:off x="502920" y="2016360"/>
            <a:ext cx="4071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Box 8"/>
          <p:cNvSpPr/>
          <p:nvPr/>
        </p:nvSpPr>
        <p:spPr>
          <a:xfrm>
            <a:off x="1097280" y="1957680"/>
            <a:ext cx="38012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Linear regression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9" name="TextBox 9"/>
          <p:cNvSpPr/>
          <p:nvPr/>
        </p:nvSpPr>
        <p:spPr>
          <a:xfrm>
            <a:off x="1097280" y="2250000"/>
            <a:ext cx="38012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Baseline run, no feature engineering. R² = 0.761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Oval 10"/>
          <p:cNvSpPr/>
          <p:nvPr/>
        </p:nvSpPr>
        <p:spPr>
          <a:xfrm>
            <a:off x="502920" y="2802600"/>
            <a:ext cx="407160" cy="40716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1" name="TextBox 11"/>
          <p:cNvSpPr/>
          <p:nvPr/>
        </p:nvSpPr>
        <p:spPr>
          <a:xfrm>
            <a:off x="502920" y="2802600"/>
            <a:ext cx="4071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2" name="TextBox 12"/>
          <p:cNvSpPr/>
          <p:nvPr/>
        </p:nvSpPr>
        <p:spPr>
          <a:xfrm>
            <a:off x="1097280" y="2744280"/>
            <a:ext cx="38012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Add lags &amp; rolling means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Box 13"/>
          <p:cNvSpPr/>
          <p:nvPr/>
        </p:nvSpPr>
        <p:spPr>
          <a:xfrm>
            <a:off x="1097280" y="3036240"/>
            <a:ext cx="38012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J-1, J-2, J-3 plus rolling means. R² = 0.778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4" name="Oval 14"/>
          <p:cNvSpPr/>
          <p:nvPr/>
        </p:nvSpPr>
        <p:spPr>
          <a:xfrm>
            <a:off x="502920" y="3589200"/>
            <a:ext cx="407160" cy="40716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Box 15"/>
          <p:cNvSpPr/>
          <p:nvPr/>
        </p:nvSpPr>
        <p:spPr>
          <a:xfrm>
            <a:off x="502920" y="3589200"/>
            <a:ext cx="4071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Box 16"/>
          <p:cNvSpPr/>
          <p:nvPr/>
        </p:nvSpPr>
        <p:spPr>
          <a:xfrm>
            <a:off x="1097280" y="3530520"/>
            <a:ext cx="38012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Add seasonality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Box 17"/>
          <p:cNvSpPr/>
          <p:nvPr/>
        </p:nvSpPr>
        <p:spPr>
          <a:xfrm>
            <a:off x="1097280" y="3822840"/>
            <a:ext cx="38012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Calendar encodings (sin/cos of day of year). R² = 0.792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8" name="Oval 18"/>
          <p:cNvSpPr/>
          <p:nvPr/>
        </p:nvSpPr>
        <p:spPr>
          <a:xfrm>
            <a:off x="502920" y="4375440"/>
            <a:ext cx="407160" cy="40716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Box 19"/>
          <p:cNvSpPr/>
          <p:nvPr/>
        </p:nvSpPr>
        <p:spPr>
          <a:xfrm>
            <a:off x="502920" y="4375440"/>
            <a:ext cx="4071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4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Box 20"/>
          <p:cNvSpPr/>
          <p:nvPr/>
        </p:nvSpPr>
        <p:spPr>
          <a:xfrm>
            <a:off x="1097280" y="4317120"/>
            <a:ext cx="38012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GridSearchCV x TimeSeriesSplit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1" name="TextBox 21"/>
          <p:cNvSpPr/>
          <p:nvPr/>
        </p:nvSpPr>
        <p:spPr>
          <a:xfrm>
            <a:off x="1097280" y="4609080"/>
            <a:ext cx="38012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Lasso, Ridge, RF, XGBoost tuned on 5 expanding-window folds.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Oval 22"/>
          <p:cNvSpPr/>
          <p:nvPr/>
        </p:nvSpPr>
        <p:spPr>
          <a:xfrm>
            <a:off x="502920" y="5161680"/>
            <a:ext cx="407160" cy="40716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3" name="TextBox 23"/>
          <p:cNvSpPr/>
          <p:nvPr/>
        </p:nvSpPr>
        <p:spPr>
          <a:xfrm>
            <a:off x="502920" y="5161680"/>
            <a:ext cx="4071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4" name="TextBox 24"/>
          <p:cNvSpPr/>
          <p:nvPr/>
        </p:nvSpPr>
        <p:spPr>
          <a:xfrm>
            <a:off x="1097280" y="5103360"/>
            <a:ext cx="38012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Ridge (L2) selected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25"/>
          <p:cNvSpPr/>
          <p:nvPr/>
        </p:nvSpPr>
        <p:spPr>
          <a:xfrm>
            <a:off x="1097280" y="5395320"/>
            <a:ext cx="380124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−15% error vs baseline (RMSE 437 → 371), with a far smaller train-test gap than RF/XGBoost.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86" name="Table 26"/>
          <p:cNvGraphicFramePr/>
          <p:nvPr/>
        </p:nvGraphicFramePr>
        <p:xfrm>
          <a:off x="5222880" y="1828800"/>
          <a:ext cx="6465600" cy="3981240"/>
        </p:xfrm>
        <a:graphic>
          <a:graphicData uri="http://schemas.openxmlformats.org/drawingml/2006/table">
            <a:tbl>
              <a:tblPr/>
              <a:tblGrid>
                <a:gridCol w="2974320"/>
                <a:gridCol w="1163880"/>
                <a:gridCol w="1163880"/>
                <a:gridCol w="1163880"/>
              </a:tblGrid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Model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MAE</a:t>
                      </a:r>
                      <a:br>
                        <a:rPr sz="1150"/>
                      </a:b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(J/cm²)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  <a:ea typeface="Noto Sans CJK SC"/>
                        </a:rPr>
                        <a:t>RMSE (J/cm²)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Naive baseline (persistence)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0.708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316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437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no feature engineering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0.761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301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395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with lags (J-1/J-2/J-3)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0.778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288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381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lags + seasonality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0.792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279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Lasso (L1)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0.788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282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372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Ridge (L2), FINAL MODEL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0.789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282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371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Random Forest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0.800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274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XGBoost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0.801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360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</a:tbl>
          </a:graphicData>
        </a:graphic>
      </p:graphicFrame>
      <p:cxnSp>
        <p:nvCxnSpPr>
          <p:cNvPr id="1587" name="Connector 27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588" name="TextBox 28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9" name="TextBox 29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07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591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2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3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4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5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6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7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8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9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0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1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2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3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4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5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6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7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8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9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0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1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2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3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4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5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6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7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8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9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0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1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2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3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4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5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6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7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8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9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0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1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2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3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4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5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6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7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8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9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0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1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2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3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4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5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6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7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8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9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0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1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2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3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4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655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05 · MODEL CHOICE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Why Ridge, not Random Forest or XGBoost?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4"/>
          <p:cNvSpPr/>
          <p:nvPr/>
        </p:nvSpPr>
        <p:spPr>
          <a:xfrm>
            <a:off x="502920" y="1404000"/>
            <a:ext cx="1099584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5-fold cross-validation inside the training period (2020–2023): RF and XGBoost score the same test R² as Ridge (within 0.01), with a much wider train/test gap.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8" name="Table 5"/>
          <p:cNvGraphicFramePr/>
          <p:nvPr/>
        </p:nvGraphicFramePr>
        <p:xfrm>
          <a:off x="502920" y="2011680"/>
          <a:ext cx="7314120" cy="1828800"/>
        </p:xfrm>
        <a:graphic>
          <a:graphicData uri="http://schemas.openxmlformats.org/drawingml/2006/table">
            <a:tbl>
              <a:tblPr/>
              <a:tblGrid>
                <a:gridCol w="2486880"/>
                <a:gridCol w="1609200"/>
                <a:gridCol w="1609200"/>
                <a:gridCol w="1609200"/>
              </a:tblGrid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Model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 train (CV)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 test (CV)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Train-test gap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Ridge, chosen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0.767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0.742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0.025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Random Forest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0.855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0.740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0.115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XGBoost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0.818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0.748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0.069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</a:tbl>
          </a:graphicData>
        </a:graphic>
      </p:graphicFrame>
      <p:sp>
        <p:nvSpPr>
          <p:cNvPr id="1659" name="Rounded Rectangle 6"/>
          <p:cNvSpPr/>
          <p:nvPr/>
        </p:nvSpPr>
        <p:spPr>
          <a:xfrm>
            <a:off x="8047800" y="2011680"/>
            <a:ext cx="3637080" cy="1824480"/>
          </a:xfrm>
          <a:prstGeom prst="roundRect">
            <a:avLst>
              <a:gd name="adj" fmla="val 4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Box 7"/>
          <p:cNvSpPr/>
          <p:nvPr/>
        </p:nvSpPr>
        <p:spPr>
          <a:xfrm>
            <a:off x="8276400" y="2240280"/>
            <a:ext cx="3179880" cy="95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Ridge stays stable fold to fold (gap of about 0.02). RF and XGBoost score the same in test (within 0.01) with a 3 to 5x larger gap: we prioritize robustness.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1" name="Rounded Rectangle 8"/>
          <p:cNvSpPr/>
          <p:nvPr/>
        </p:nvSpPr>
        <p:spPr>
          <a:xfrm>
            <a:off x="502920" y="4023360"/>
            <a:ext cx="11181960" cy="1733040"/>
          </a:xfrm>
          <a:prstGeom prst="roundRect">
            <a:avLst>
              <a:gd name="adj" fmla="val 4211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2" name="TextBox 9"/>
          <p:cNvSpPr/>
          <p:nvPr/>
        </p:nvSpPr>
        <p:spPr>
          <a:xfrm>
            <a:off x="731520" y="4206240"/>
            <a:ext cx="107247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physical limit, corrected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10"/>
          <p:cNvSpPr/>
          <p:nvPr/>
        </p:nvSpPr>
        <p:spPr>
          <a:xfrm>
            <a:off x="731520" y="4640760"/>
            <a:ext cx="1072476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Ridge, like any linear model, has no awareness that radiation can't be negative: it can predict slightly below 0 on low-radiation winter days. Predictions are therefore clipped to 0 (np.clip) before display and export, a correction that can only reduce error, never increase it.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64" name="Connector 11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665" name="TextBox 12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13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08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668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69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0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1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2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3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4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5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6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7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8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9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0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1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2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3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4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5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6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7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8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9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0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1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2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3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4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5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6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7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8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9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0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1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2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3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4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5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6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7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8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9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0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1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2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3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4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5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6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7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8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9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0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1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2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3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4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5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6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7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8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9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0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1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732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06 · RESULTS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Forecast vs reality: final model (Ridge)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4" name="TextBox 4"/>
          <p:cNvSpPr/>
          <p:nvPr/>
        </p:nvSpPr>
        <p:spPr>
          <a:xfrm>
            <a:off x="502920" y="1404000"/>
            <a:ext cx="109958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2025 predicted vs. actual radiation, a representative year from the 2021-2026 out-of-fold evaluation (22,150 predictions).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35" name="Connector 9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736" name="TextBox 10"/>
          <p:cNvSpPr/>
          <p:nvPr/>
        </p:nvSpPr>
        <p:spPr>
          <a:xfrm>
            <a:off x="457200" y="6230160"/>
            <a:ext cx="82242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Box 11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09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8" name="Rounded Rectangle 964"/>
          <p:cNvSpPr/>
          <p:nvPr/>
        </p:nvSpPr>
        <p:spPr>
          <a:xfrm>
            <a:off x="502920" y="1828800"/>
            <a:ext cx="11013480" cy="3927600"/>
          </a:xfrm>
          <a:prstGeom prst="roundRect">
            <a:avLst>
              <a:gd name="adj" fmla="val 1861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9" name=""/>
          <p:cNvPicPr/>
          <p:nvPr/>
        </p:nvPicPr>
        <p:blipFill>
          <a:blip r:embed="rId1"/>
          <a:stretch/>
        </p:blipFill>
        <p:spPr>
          <a:xfrm>
            <a:off x="501840" y="1980000"/>
            <a:ext cx="11035440" cy="359640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Rectangle 2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741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2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3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4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5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6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7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8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9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0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1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2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3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4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5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6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7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8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9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0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1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2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3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4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5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6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7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8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9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0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1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2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3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4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5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6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7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8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9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0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1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2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3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4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5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6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7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8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9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0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1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2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3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4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5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6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7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8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9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0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1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2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3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4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805" name="TextBox 2"/>
          <p:cNvSpPr/>
          <p:nvPr/>
        </p:nvSpPr>
        <p:spPr>
          <a:xfrm>
            <a:off x="502920" y="463320"/>
            <a:ext cx="799560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06 · RESULTS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Box 3"/>
          <p:cNvSpPr/>
          <p:nvPr/>
        </p:nvSpPr>
        <p:spPr>
          <a:xfrm>
            <a:off x="502920" y="658440"/>
            <a:ext cx="109947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Forecast vs reality: residual analysis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4"/>
          <p:cNvSpPr/>
          <p:nvPr/>
        </p:nvSpPr>
        <p:spPr>
          <a:xfrm>
            <a:off x="502920" y="1404000"/>
            <a:ext cx="109958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Residuals over the full 2021-2026 test period (predicted minus actual, national daily mean): errors stay centered near zero.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08" name="Connector 9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809" name="TextBox 10"/>
          <p:cNvSpPr/>
          <p:nvPr/>
        </p:nvSpPr>
        <p:spPr>
          <a:xfrm>
            <a:off x="457200" y="6231600"/>
            <a:ext cx="82242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Box 11"/>
          <p:cNvSpPr/>
          <p:nvPr/>
        </p:nvSpPr>
        <p:spPr>
          <a:xfrm>
            <a:off x="11274480" y="6231600"/>
            <a:ext cx="451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10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1" name="Rounded Rectangle 964"/>
          <p:cNvSpPr/>
          <p:nvPr/>
        </p:nvSpPr>
        <p:spPr>
          <a:xfrm>
            <a:off x="502920" y="1828800"/>
            <a:ext cx="11076840" cy="3958560"/>
          </a:xfrm>
          <a:prstGeom prst="roundRect">
            <a:avLst>
              <a:gd name="adj" fmla="val 1846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12" name=""/>
          <p:cNvPicPr/>
          <p:nvPr/>
        </p:nvPicPr>
        <p:blipFill>
          <a:blip r:embed="rId1"/>
          <a:stretch/>
        </p:blipFill>
        <p:spPr>
          <a:xfrm>
            <a:off x="646920" y="1901520"/>
            <a:ext cx="10771200" cy="383076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3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814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5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6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7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8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9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0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1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2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3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4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5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6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7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8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9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0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1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2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3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4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5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6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7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8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9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0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1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2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3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4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5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6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7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8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9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0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1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2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3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4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5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6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7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8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9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0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1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2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3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4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5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6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7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8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9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0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1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2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3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4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5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6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7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878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07 · LIMITATIONS &amp; NEXT STEPS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9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What's left to improve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0" name="TextBox 4"/>
          <p:cNvSpPr/>
          <p:nvPr/>
        </p:nvSpPr>
        <p:spPr>
          <a:xfrm>
            <a:off x="502920" y="1404000"/>
            <a:ext cx="109958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The current model's known limitations, and the paths considered to go further.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5"/>
          <p:cNvSpPr/>
          <p:nvPr/>
        </p:nvSpPr>
        <p:spPr>
          <a:xfrm>
            <a:off x="502920" y="1737360"/>
            <a:ext cx="5497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LIMITATIONS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6"/>
          <p:cNvSpPr/>
          <p:nvPr/>
        </p:nvSpPr>
        <p:spPr>
          <a:xfrm>
            <a:off x="6187320" y="1737360"/>
            <a:ext cx="5497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NEXT STEPS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3" name="Rounded Rectangle 7"/>
          <p:cNvSpPr/>
          <p:nvPr/>
        </p:nvSpPr>
        <p:spPr>
          <a:xfrm>
            <a:off x="502920" y="219456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TextBox 8"/>
          <p:cNvSpPr/>
          <p:nvPr/>
        </p:nvSpPr>
        <p:spPr>
          <a:xfrm>
            <a:off x="685800" y="2331720"/>
            <a:ext cx="51314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single horizon (J+1)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5" name="TextBox 9"/>
          <p:cNvSpPr/>
          <p:nvPr/>
        </p:nvSpPr>
        <p:spPr>
          <a:xfrm>
            <a:off x="685800" y="2674800"/>
            <a:ext cx="51314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No J+2/J+7 forecast for longer-term planning.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6" name="Rounded Rectangle 10"/>
          <p:cNvSpPr/>
          <p:nvPr/>
        </p:nvSpPr>
        <p:spPr>
          <a:xfrm>
            <a:off x="502920" y="338184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11"/>
          <p:cNvSpPr/>
          <p:nvPr/>
        </p:nvSpPr>
        <p:spPr>
          <a:xfrm>
            <a:off x="685800" y="3519000"/>
            <a:ext cx="513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Observed weather, not forecasts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12"/>
          <p:cNvSpPr/>
          <p:nvPr/>
        </p:nvSpPr>
        <p:spPr>
          <a:xfrm>
            <a:off x="685800" y="3861720"/>
            <a:ext cx="513144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The model uses measured weather for today; a real J+1 forecast would need Météo-France forecast data.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9" name="Rounded Rectangle 13"/>
          <p:cNvSpPr/>
          <p:nvPr/>
        </p:nvSpPr>
        <p:spPr>
          <a:xfrm>
            <a:off x="502920" y="456876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0" name="TextBox 14"/>
          <p:cNvSpPr/>
          <p:nvPr/>
        </p:nvSpPr>
        <p:spPr>
          <a:xfrm>
            <a:off x="685800" y="4705920"/>
            <a:ext cx="513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Radiation as a proxy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5"/>
          <p:cNvSpPr/>
          <p:nvPr/>
        </p:nvSpPr>
        <p:spPr>
          <a:xfrm>
            <a:off x="685800" y="5049000"/>
            <a:ext cx="51314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Production is a theoretical 20% conversion per m², not RTE's actual output.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2" name="Rounded Rectangle 16"/>
          <p:cNvSpPr/>
          <p:nvPr/>
        </p:nvSpPr>
        <p:spPr>
          <a:xfrm>
            <a:off x="6187320" y="219456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3" name="TextBox 17"/>
          <p:cNvSpPr/>
          <p:nvPr/>
        </p:nvSpPr>
        <p:spPr>
          <a:xfrm>
            <a:off x="6370200" y="2331720"/>
            <a:ext cx="51314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Extended forecasts, J+2/J+3/J+7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8"/>
          <p:cNvSpPr/>
          <p:nvPr/>
        </p:nvSpPr>
        <p:spPr>
          <a:xfrm>
            <a:off x="6370200" y="2674800"/>
            <a:ext cx="51314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For longer-term energy planning.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5" name="Rounded Rectangle 19"/>
          <p:cNvSpPr/>
          <p:nvPr/>
        </p:nvSpPr>
        <p:spPr>
          <a:xfrm>
            <a:off x="6187320" y="338184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6370200" y="3519000"/>
            <a:ext cx="513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Use weather forecasts as inputs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6370200" y="3861720"/>
            <a:ext cx="51314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Move from a retrospective model to an operational forecast.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8" name="Rounded Rectangle 22"/>
          <p:cNvSpPr/>
          <p:nvPr/>
        </p:nvSpPr>
        <p:spPr>
          <a:xfrm>
            <a:off x="6187320" y="456876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9" name="TextBox 23"/>
          <p:cNvSpPr/>
          <p:nvPr/>
        </p:nvSpPr>
        <p:spPr>
          <a:xfrm>
            <a:off x="6370200" y="4705920"/>
            <a:ext cx="513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Predict actual production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4"/>
          <p:cNvSpPr/>
          <p:nvPr/>
        </p:nvSpPr>
        <p:spPr>
          <a:xfrm>
            <a:off x="6370200" y="5049000"/>
            <a:ext cx="51314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Target RTE output (TWh or capacity factor) directly. This also enables anomaly detection.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01" name="Connector 25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902" name="TextBox 26"/>
          <p:cNvSpPr/>
          <p:nvPr/>
        </p:nvSpPr>
        <p:spPr>
          <a:xfrm>
            <a:off x="457200" y="6230160"/>
            <a:ext cx="82242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27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905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6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7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8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9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0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1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2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3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4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5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6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7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8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9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0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1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2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3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4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5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6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7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8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9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0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1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2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3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4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5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6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7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8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9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0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1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2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3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4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5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6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7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8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9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0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1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2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3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4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5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6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7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8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9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0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1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2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3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4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5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6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7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8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969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SUMMARY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Box 3"/>
          <p:cNvSpPr/>
          <p:nvPr/>
        </p:nvSpPr>
        <p:spPr>
          <a:xfrm>
            <a:off x="502920" y="658440"/>
            <a:ext cx="10994760" cy="99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From raw data to a production forecasting dashboard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1" name="Oval 4"/>
          <p:cNvSpPr/>
          <p:nvPr/>
        </p:nvSpPr>
        <p:spPr>
          <a:xfrm>
            <a:off x="502920" y="1929960"/>
            <a:ext cx="132840" cy="13284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2" name="TextBox 5"/>
          <p:cNvSpPr/>
          <p:nvPr/>
        </p:nvSpPr>
        <p:spPr>
          <a:xfrm>
            <a:off x="822960" y="1900080"/>
            <a:ext cx="1049580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26,676 observations, 12 regions, 6 years of Meteo-France x RTE x SDES data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3" name="Oval 6"/>
          <p:cNvSpPr/>
          <p:nvPr/>
        </p:nvSpPr>
        <p:spPr>
          <a:xfrm>
            <a:off x="502920" y="2549880"/>
            <a:ext cx="132840" cy="13284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TextBox 7"/>
          <p:cNvSpPr/>
          <p:nvPr/>
        </p:nvSpPr>
        <p:spPr>
          <a:xfrm>
            <a:off x="822960" y="2520000"/>
            <a:ext cx="104958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Time-respecting validation (TimeSeriesSplit + GridSearchCV). Ridge chosen for its stability: −15% error vs "tomorrow = today" (R² ≈ 0.79)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5" name="Oval 8"/>
          <p:cNvSpPr/>
          <p:nvPr/>
        </p:nvSpPr>
        <p:spPr>
          <a:xfrm>
            <a:off x="502920" y="3170160"/>
            <a:ext cx="132840" cy="13284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6" name="TextBox 9"/>
          <p:cNvSpPr/>
          <p:nvPr/>
        </p:nvSpPr>
        <p:spPr>
          <a:xfrm>
            <a:off x="822960" y="3139920"/>
            <a:ext cx="104958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Streamlit dashboard in production: interactive EDA and next-day production estimates derived from the radiation forecast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77" name="Connector 10"/>
          <p:cNvCxnSpPr/>
          <p:nvPr/>
        </p:nvCxnSpPr>
        <p:spPr>
          <a:xfrm>
            <a:off x="502920" y="4199760"/>
            <a:ext cx="1119024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978" name="TextBox 11"/>
          <p:cNvSpPr/>
          <p:nvPr/>
        </p:nvSpPr>
        <p:spPr>
          <a:xfrm>
            <a:off x="502920" y="4700160"/>
            <a:ext cx="11181960" cy="69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Thank you for your attention.</a:t>
            </a:r>
            <a:endParaRPr lang="fr-F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12"/>
          <p:cNvSpPr/>
          <p:nvPr/>
        </p:nvSpPr>
        <p:spPr>
          <a:xfrm>
            <a:off x="502920" y="5400000"/>
            <a:ext cx="11181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Any questions?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80" name="Connector 13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981" name="TextBox 14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Box 15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</TotalTime>
  <Application>LibreOffice/26.8.2.2$Linux_X86_64 LibreOffice_project/9dea406ab7695df6325b11b0e19fdca8db4b7276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fr-FR</dc:language>
  <cp:lastModifiedBy/>
  <dcterms:modified xsi:type="dcterms:W3CDTF">2026-10-30T15:21:16Z</dcterms:modified>
  <cp:revision>47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