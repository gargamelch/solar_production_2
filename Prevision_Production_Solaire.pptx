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6.xml" ContentType="application/vnd.openxmlformats-officedocument.presentationml.slide+xml"/>
  <Override PartName="/ppt/slides/slide11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5920" cy="1355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5920" cy="1493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45CFBD9-57ED-481F-95A0-51108BEE4E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1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3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1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2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0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1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2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3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1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2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3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4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5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6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7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8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6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7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8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9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0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1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2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3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34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2000" cy="451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5B69BD8-94C2-4366-A6A4-DA497A1813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1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9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7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8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6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8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9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7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8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20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3800" cy="63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3800" cy="394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5240" cy="633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5240" cy="394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0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1049E03-FD48-4CF6-B61D-5BB1513402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3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4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5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6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7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8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19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0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1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2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3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4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5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6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7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8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29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0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1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2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3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4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5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6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7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8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39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0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1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2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3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4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5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6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7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8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49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0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1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2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3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4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5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6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7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8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59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0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1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2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3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4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5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6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7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8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69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0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1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2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3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4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5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76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D36F3B0-EB13-4982-BADA-F31A64C134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2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3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4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5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6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7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8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89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0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1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2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3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4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5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6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7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8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99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0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1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2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3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4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5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6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7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8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09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0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1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2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3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4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5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6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7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8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19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0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1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2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3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4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5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6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7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8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29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0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1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2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3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4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5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6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7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8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39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0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1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2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3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44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34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97FEFD4-CD1A-4961-AB9C-E03EC5A404A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6320" cy="11386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6320" cy="3971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0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1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2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3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4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5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6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7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8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59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0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1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2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3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4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5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6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7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8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69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0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1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2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3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4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5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6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7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8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79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0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1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2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3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4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5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6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7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8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89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0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1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2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3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4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5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6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7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8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399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0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1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2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3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4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5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6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7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8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09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0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1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2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13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1680" cy="1155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5160" cy="5846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6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1680" cy="468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7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EDB9696-C3D8-4FDB-90F1-49681FFE36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0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1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2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3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4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5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6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7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8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29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0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1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2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3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4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5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6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7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8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39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0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1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2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3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4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5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6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7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8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49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0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1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2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3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4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5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6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7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8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59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0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1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2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3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4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5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6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7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8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69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0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1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2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3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4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5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6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7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8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79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0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1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2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83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9920" cy="560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79920" cy="4108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9920" cy="798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7D9C10A-385F-4694-A1C3-673358F4A00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90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1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2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3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4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5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6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7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8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499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0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1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2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3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4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5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6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7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8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09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0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1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2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3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4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5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6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7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8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19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0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1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2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3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4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5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6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7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8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29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0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1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2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3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4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5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6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7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8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39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0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1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2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3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4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5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6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7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8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49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0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1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2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3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55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5920" cy="146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5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975E336A-E34C-4C26-BDDE-A3F762245B7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8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59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0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1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2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3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4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5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6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7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8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69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0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1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2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3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4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5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6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7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8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79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0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1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2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3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4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5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6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7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8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89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0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1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2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3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4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5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6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7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8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599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0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1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2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3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4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5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6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7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8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09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0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1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2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3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4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5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6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7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8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19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0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1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4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6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6C7E34E-E19B-49C0-B329-DAB0016A60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7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8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29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0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1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2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3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4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5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6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7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8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39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0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1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2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3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4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5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6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7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8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49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0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1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2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3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4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5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6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7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8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59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0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1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2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3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4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5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6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7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8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69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0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1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2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3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4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5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6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7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8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79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0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1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2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3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4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5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6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7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8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89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0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69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0920" cy="584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3440" cy="5844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FE54FD5F-670F-4AC8-9861-451C4593BFB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96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7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8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699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0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1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2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3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4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5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6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7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8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09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0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1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2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3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4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5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6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7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8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19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0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1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2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3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4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5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6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7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8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29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0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1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2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3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4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5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6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7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8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39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0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1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2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3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4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5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6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7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8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49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0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1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2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3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4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5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6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7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8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59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76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3120" cy="1136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3120" cy="4519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149C5B1-120E-4095-A46F-19238F864CD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5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5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5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766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7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8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69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0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1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2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3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4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5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6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7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8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79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0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1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2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3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4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5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6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7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8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89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0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1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2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3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4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5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6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7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8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799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0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1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2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3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4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5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6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7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8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09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0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1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2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3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4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5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6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7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8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19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0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1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2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3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4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5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6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7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8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29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830" name="TextBox 2"/>
          <p:cNvSpPr/>
          <p:nvPr/>
        </p:nvSpPr>
        <p:spPr>
          <a:xfrm>
            <a:off x="502920" y="173736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DATA ANALYST CAPSTONE PROJECT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Box 3"/>
          <p:cNvSpPr/>
          <p:nvPr/>
        </p:nvSpPr>
        <p:spPr>
          <a:xfrm>
            <a:off x="502920" y="2085480"/>
            <a:ext cx="11179800" cy="12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3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Next-Day Solar Radiation Forecasting as a Proxy for Solar Production</a:t>
            </a:r>
            <a:endParaRPr lang="fr-FR" sz="3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Box 4"/>
          <p:cNvSpPr/>
          <p:nvPr/>
        </p:nvSpPr>
        <p:spPr>
          <a:xfrm>
            <a:off x="502920" y="3449880"/>
            <a:ext cx="949356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From weather signal to next-day forecast: modeling, temporal validation, and deployment on a Streamlit dashboard.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3" name="Rounded Rectangle 5"/>
          <p:cNvSpPr/>
          <p:nvPr/>
        </p:nvSpPr>
        <p:spPr>
          <a:xfrm>
            <a:off x="502920" y="4267080"/>
            <a:ext cx="3600360" cy="11433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4" name="TextBox 6"/>
          <p:cNvSpPr/>
          <p:nvPr/>
        </p:nvSpPr>
        <p:spPr>
          <a:xfrm>
            <a:off x="731520" y="4405320"/>
            <a:ext cx="314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2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6,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7</a:t>
            </a: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Box 7"/>
          <p:cNvSpPr/>
          <p:nvPr/>
        </p:nvSpPr>
        <p:spPr>
          <a:xfrm>
            <a:off x="731520" y="4888080"/>
            <a:ext cx="31431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daily observations, 2020 to 2026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6" name="Rounded Rectangle 8"/>
          <p:cNvSpPr/>
          <p:nvPr/>
        </p:nvSpPr>
        <p:spPr>
          <a:xfrm>
            <a:off x="4292640" y="4267080"/>
            <a:ext cx="3600360" cy="11433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7" name="TextBox 9"/>
          <p:cNvSpPr/>
          <p:nvPr/>
        </p:nvSpPr>
        <p:spPr>
          <a:xfrm>
            <a:off x="4521240" y="4405320"/>
            <a:ext cx="314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12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Box 10"/>
          <p:cNvSpPr/>
          <p:nvPr/>
        </p:nvSpPr>
        <p:spPr>
          <a:xfrm>
            <a:off x="4521240" y="4888080"/>
            <a:ext cx="3143160" cy="24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French regions covered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9" name="Rounded Rectangle 11"/>
          <p:cNvSpPr/>
          <p:nvPr/>
        </p:nvSpPr>
        <p:spPr>
          <a:xfrm>
            <a:off x="8082360" y="4267080"/>
            <a:ext cx="3600360" cy="114336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0" name="TextBox 12"/>
          <p:cNvSpPr/>
          <p:nvPr/>
        </p:nvSpPr>
        <p:spPr>
          <a:xfrm>
            <a:off x="8310960" y="4405320"/>
            <a:ext cx="31431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36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Box 13"/>
          <p:cNvSpPr/>
          <p:nvPr/>
        </p:nvSpPr>
        <p:spPr>
          <a:xfrm>
            <a:off x="8310960" y="4888080"/>
            <a:ext cx="31431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Input 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featur</a:t>
            </a: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2" name="Connector 14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843" name="TextBox 15"/>
          <p:cNvSpPr/>
          <p:nvPr/>
        </p:nvSpPr>
        <p:spPr>
          <a:xfrm>
            <a:off x="457200" y="6172200"/>
            <a:ext cx="8222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Box 16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5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846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7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8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49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0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1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2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3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4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5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6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7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8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59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0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1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2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3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4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5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6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7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8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69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0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1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2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3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4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5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6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7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8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79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0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1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2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3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4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5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6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7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8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89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0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1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2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3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4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5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6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7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8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899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0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1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2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3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4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5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6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7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8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09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910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01 ·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CON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TEXT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Box 3"/>
          <p:cNvSpPr/>
          <p:nvPr/>
        </p:nvSpPr>
        <p:spPr>
          <a:xfrm>
            <a:off x="502920" y="658440"/>
            <a:ext cx="1099260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hy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ca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st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lar 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od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uc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tio</a:t>
            </a: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n?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2" name="TextBox 4"/>
          <p:cNvSpPr/>
          <p:nvPr/>
        </p:nvSpPr>
        <p:spPr>
          <a:xfrm>
            <a:off x="502920" y="1404000"/>
            <a:ext cx="109936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Solar output is entirely weather dependent: without a forecast, every gap between expected and actual production has a direct cost.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3" name="Rounded Rectangle 5"/>
          <p:cNvSpPr/>
          <p:nvPr/>
        </p:nvSpPr>
        <p:spPr>
          <a:xfrm>
            <a:off x="502920" y="1737360"/>
            <a:ext cx="5479920" cy="4008960"/>
          </a:xfrm>
          <a:prstGeom prst="roundRect">
            <a:avLst>
              <a:gd name="adj" fmla="val 1846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4" name="Oval 6"/>
          <p:cNvSpPr/>
          <p:nvPr/>
        </p:nvSpPr>
        <p:spPr>
          <a:xfrm>
            <a:off x="868680" y="2057400"/>
            <a:ext cx="450720" cy="45072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5" name="TextBox 7"/>
          <p:cNvSpPr/>
          <p:nvPr/>
        </p:nvSpPr>
        <p:spPr>
          <a:xfrm>
            <a:off x="868680" y="2057400"/>
            <a:ext cx="450720" cy="45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!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6" name="TextBox 8"/>
          <p:cNvSpPr/>
          <p:nvPr/>
        </p:nvSpPr>
        <p:spPr>
          <a:xfrm>
            <a:off x="1508760" y="2057400"/>
            <a:ext cx="429120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fast-growing, intermittent source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Box 10"/>
          <p:cNvSpPr/>
          <p:nvPr/>
        </p:nvSpPr>
        <p:spPr>
          <a:xfrm>
            <a:off x="868680" y="3931920"/>
            <a:ext cx="47527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5000"/>
              </a:lnSpc>
            </a:pPr>
            <a:r>
              <a:rPr lang="en-US" sz="12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Unlike nuclear or gas, solar can't be dispatched on demand: it depends on tomorrow's radiation. The more the fleet grows, the more producers and grid operators need a reliable next-day forecast.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8" name="Rounded Rectangle 11"/>
          <p:cNvSpPr/>
          <p:nvPr/>
        </p:nvSpPr>
        <p:spPr>
          <a:xfrm>
            <a:off x="6316920" y="1737360"/>
            <a:ext cx="2663640" cy="192852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9" name="TextBox 12"/>
          <p:cNvSpPr/>
          <p:nvPr/>
        </p:nvSpPr>
        <p:spPr>
          <a:xfrm>
            <a:off x="6499800" y="1920240"/>
            <a:ext cx="2297880" cy="3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Selling electricity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0" name="TextBox 13"/>
          <p:cNvSpPr/>
          <p:nvPr/>
        </p:nvSpPr>
        <p:spPr>
          <a:xfrm>
            <a:off x="6499800" y="2377440"/>
            <a:ext cx="229788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Avoid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unfavo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rable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buyba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cks or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underp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riced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sales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wholes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ale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market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1" name="Rounded Rectangle 14"/>
          <p:cNvSpPr/>
          <p:nvPr/>
        </p:nvSpPr>
        <p:spPr>
          <a:xfrm>
            <a:off x="9132480" y="1737360"/>
            <a:ext cx="2663640" cy="192852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2" name="TextBox 15"/>
          <p:cNvSpPr/>
          <p:nvPr/>
        </p:nvSpPr>
        <p:spPr>
          <a:xfrm>
            <a:off x="9315360" y="1920240"/>
            <a:ext cx="2297880" cy="3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Battery management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3" name="TextBox 16"/>
          <p:cNvSpPr/>
          <p:nvPr/>
        </p:nvSpPr>
        <p:spPr>
          <a:xfrm>
            <a:off x="9315360" y="2377440"/>
            <a:ext cx="229788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Optimi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ze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charge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/disch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arge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cycles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extend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storag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syste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lifespa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4" name="Rounded Rectangle 17"/>
          <p:cNvSpPr/>
          <p:nvPr/>
        </p:nvSpPr>
        <p:spPr>
          <a:xfrm>
            <a:off x="6316920" y="3817800"/>
            <a:ext cx="2663640" cy="192852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5" name="TextBox 18"/>
          <p:cNvSpPr/>
          <p:nvPr/>
        </p:nvSpPr>
        <p:spPr>
          <a:xfrm>
            <a:off x="6499800" y="4000680"/>
            <a:ext cx="2297880" cy="3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Preve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ntive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maint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enan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TextBox 19"/>
          <p:cNvSpPr/>
          <p:nvPr/>
        </p:nvSpPr>
        <p:spPr>
          <a:xfrm>
            <a:off x="6499800" y="4457880"/>
            <a:ext cx="229788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Detect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yield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anoma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lies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(dirty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or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faulty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panels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) and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plan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interve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ntions.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Rounded Rectangle 20"/>
          <p:cNvSpPr/>
          <p:nvPr/>
        </p:nvSpPr>
        <p:spPr>
          <a:xfrm>
            <a:off x="9132480" y="3817800"/>
            <a:ext cx="2663640" cy="1928520"/>
          </a:xfrm>
          <a:prstGeom prst="roundRect">
            <a:avLst>
              <a:gd name="adj" fmla="val 378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8" name="TextBox 21"/>
          <p:cNvSpPr/>
          <p:nvPr/>
        </p:nvSpPr>
        <p:spPr>
          <a:xfrm>
            <a:off x="9315360" y="4000680"/>
            <a:ext cx="2297880" cy="3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mana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geme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Box 22"/>
          <p:cNvSpPr/>
          <p:nvPr/>
        </p:nvSpPr>
        <p:spPr>
          <a:xfrm>
            <a:off x="9315360" y="4457880"/>
            <a:ext cx="2297880" cy="10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Anticipate high production days to reduce reliance on gas.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Stat 1"/>
          <p:cNvSpPr/>
          <p:nvPr/>
        </p:nvSpPr>
        <p:spPr>
          <a:xfrm>
            <a:off x="868680" y="2697480"/>
            <a:ext cx="1552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32.</a:t>
            </a: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6 </a:t>
            </a: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TW</a:t>
            </a: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h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produc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ed in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2025,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×2.6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since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2020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Stat 2"/>
          <p:cNvSpPr/>
          <p:nvPr/>
        </p:nvSpPr>
        <p:spPr>
          <a:xfrm>
            <a:off x="2560320" y="2697480"/>
            <a:ext cx="1552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30.</a:t>
            </a: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4 </a:t>
            </a: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GW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installe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d end of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2025,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+5.9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GW in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one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year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Stat 3"/>
          <p:cNvSpPr/>
          <p:nvPr/>
        </p:nvSpPr>
        <p:spPr>
          <a:xfrm>
            <a:off x="4251960" y="2697480"/>
            <a:ext cx="155232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48 </a:t>
            </a: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GW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PPE3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target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for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2030,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20000"/>
              </a:lnSpc>
            </a:pP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55–80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GW by </a:t>
            </a:r>
            <a:r>
              <a:rPr lang="en-US" sz="10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2035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Sources"/>
          <p:cNvSpPr/>
          <p:nvPr/>
        </p:nvSpPr>
        <p:spPr>
          <a:xfrm>
            <a:off x="868680" y="5303520"/>
            <a:ext cx="47527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Sources: RTE eCO2mix · RTE, Bilan électrique </a:t>
            </a:r>
            <a:r>
              <a:rPr lang="en-US" sz="9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2025 · PPE3 decree, February 2026</a:t>
            </a:r>
            <a:endParaRPr lang="fr-F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4" name="Connector 23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935" name="TextBox 24"/>
          <p:cNvSpPr/>
          <p:nvPr/>
        </p:nvSpPr>
        <p:spPr>
          <a:xfrm>
            <a:off x="457200" y="6172200"/>
            <a:ext cx="8222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Box 25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7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938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39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0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1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2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3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4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5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6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7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8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49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0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1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2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3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4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5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6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7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8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59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0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1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2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3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4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5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6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7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8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69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0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1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2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3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4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5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6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7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8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79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0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1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2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3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4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5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6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7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8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89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0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1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2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3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4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5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6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7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8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999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00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01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002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01 ·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PRO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JEC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T 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FRA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MIN</a:t>
            </a: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G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3" name="TextBox 3"/>
          <p:cNvSpPr/>
          <p:nvPr/>
        </p:nvSpPr>
        <p:spPr>
          <a:xfrm>
            <a:off x="502920" y="658440"/>
            <a:ext cx="1099260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Specifications, planning &amp; budget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Box 4"/>
          <p:cNvSpPr/>
          <p:nvPr/>
        </p:nvSpPr>
        <p:spPr>
          <a:xfrm>
            <a:off x="502920" y="1404000"/>
            <a:ext cx="109936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Scop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ed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like 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reque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from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busin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ess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team: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 4-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week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proje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ct, 3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peopl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part-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time,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21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May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→ 18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June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2026.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5" name="Spec card"/>
          <p:cNvSpPr/>
          <p:nvPr/>
        </p:nvSpPr>
        <p:spPr>
          <a:xfrm>
            <a:off x="502920" y="1737360"/>
            <a:ext cx="5484960" cy="4012920"/>
          </a:xfrm>
          <a:prstGeom prst="roundRect">
            <a:avLst>
              <a:gd name="adj" fmla="val 1822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6" name="Spec title"/>
          <p:cNvSpPr/>
          <p:nvPr/>
        </p:nvSpPr>
        <p:spPr>
          <a:xfrm>
            <a:off x="777240" y="1901880"/>
            <a:ext cx="4936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Spe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cific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atio</a:t>
            </a:r>
            <a:r>
              <a:rPr lang="en-US" sz="15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ns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7" name="Spec label 1"/>
          <p:cNvSpPr/>
          <p:nvPr/>
        </p:nvSpPr>
        <p:spPr>
          <a:xfrm>
            <a:off x="777240" y="2395800"/>
            <a:ext cx="1598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950" b="1" u="none" spc="99" strike="noStrike">
                <a:solidFill>
                  <a:srgbClr val="818CF8"/>
                </a:solidFill>
                <a:effectLst/>
                <a:uFillTx/>
                <a:latin typeface="Roboto"/>
              </a:rPr>
              <a:t>CLIEN</a:t>
            </a:r>
            <a:r>
              <a:rPr lang="en-US" sz="950" b="1" u="none" spc="99" strike="noStrike">
                <a:solidFill>
                  <a:srgbClr val="818CF8"/>
                </a:solidFill>
                <a:effectLst/>
                <a:uFillTx/>
                <a:latin typeface="Roboto"/>
              </a:rPr>
              <a:t>T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8" name="Spec value 1"/>
          <p:cNvSpPr/>
          <p:nvPr/>
        </p:nvSpPr>
        <p:spPr>
          <a:xfrm>
            <a:off x="2423160" y="2377440"/>
            <a:ext cx="33361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5000"/>
              </a:lnSpc>
            </a:pP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Solar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produ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cer or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grid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operat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or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9" name="Spec label 2"/>
          <p:cNvSpPr/>
          <p:nvPr/>
        </p:nvSpPr>
        <p:spPr>
          <a:xfrm>
            <a:off x="777240" y="2944440"/>
            <a:ext cx="1598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950" b="1" u="none" spc="99" strike="noStrike">
                <a:solidFill>
                  <a:srgbClr val="818CF8"/>
                </a:solidFill>
                <a:effectLst/>
                <a:uFillTx/>
                <a:latin typeface="Roboto"/>
              </a:rPr>
              <a:t>NEED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0" name="Spec value 2"/>
          <p:cNvSpPr/>
          <p:nvPr/>
        </p:nvSpPr>
        <p:spPr>
          <a:xfrm>
            <a:off x="2423160" y="2926080"/>
            <a:ext cx="33361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5000"/>
              </a:lnSpc>
            </a:pP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Anticipate next-day solar production, per region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1" name="Spec label 3"/>
          <p:cNvSpPr/>
          <p:nvPr/>
        </p:nvSpPr>
        <p:spPr>
          <a:xfrm>
            <a:off x="777240" y="3493080"/>
            <a:ext cx="1598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950" b="1" u="none" spc="99" strike="noStrike">
                <a:solidFill>
                  <a:srgbClr val="818CF8"/>
                </a:solidFill>
                <a:effectLst/>
                <a:uFillTx/>
                <a:latin typeface="Roboto"/>
              </a:rPr>
              <a:t>SCOPE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2" name="Spec value 3"/>
          <p:cNvSpPr/>
          <p:nvPr/>
        </p:nvSpPr>
        <p:spPr>
          <a:xfrm>
            <a:off x="2423160" y="3474720"/>
            <a:ext cx="33361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5000"/>
              </a:lnSpc>
            </a:pP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12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mainl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and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region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 · J+1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horizo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 ·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daily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data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2020-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2026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3" name="Spec label 4"/>
          <p:cNvSpPr/>
          <p:nvPr/>
        </p:nvSpPr>
        <p:spPr>
          <a:xfrm>
            <a:off x="777240" y="4041720"/>
            <a:ext cx="1598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950" b="1" u="none" spc="99" strike="noStrike">
                <a:solidFill>
                  <a:srgbClr val="818CF8"/>
                </a:solidFill>
                <a:effectLst/>
                <a:uFillTx/>
                <a:latin typeface="Roboto"/>
              </a:rPr>
              <a:t>DELIV</a:t>
            </a:r>
            <a:r>
              <a:rPr lang="en-US" sz="950" b="1" u="none" spc="99" strike="noStrike">
                <a:solidFill>
                  <a:srgbClr val="818CF8"/>
                </a:solidFill>
                <a:effectLst/>
                <a:uFillTx/>
                <a:latin typeface="Roboto"/>
              </a:rPr>
              <a:t>ERAB</a:t>
            </a:r>
            <a:r>
              <a:rPr lang="en-US" sz="950" b="1" u="none" spc="99" strike="noStrike">
                <a:solidFill>
                  <a:srgbClr val="818CF8"/>
                </a:solidFill>
                <a:effectLst/>
                <a:uFillTx/>
                <a:latin typeface="Roboto"/>
              </a:rPr>
              <a:t>LES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Spec value 4"/>
          <p:cNvSpPr/>
          <p:nvPr/>
        </p:nvSpPr>
        <p:spPr>
          <a:xfrm>
            <a:off x="2423160" y="4023360"/>
            <a:ext cx="33361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5000"/>
              </a:lnSpc>
            </a:pP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Forec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asting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model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·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Strea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mlit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dashb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oard · 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docu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menta</a:t>
            </a: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tion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5" name="Spec label 5"/>
          <p:cNvSpPr/>
          <p:nvPr/>
        </p:nvSpPr>
        <p:spPr>
          <a:xfrm>
            <a:off x="777240" y="4590360"/>
            <a:ext cx="1598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950" b="1" u="none" spc="99" strike="noStrike">
                <a:solidFill>
                  <a:srgbClr val="818CF8"/>
                </a:solidFill>
                <a:effectLst/>
                <a:uFillTx/>
                <a:latin typeface="Roboto"/>
              </a:rPr>
              <a:t>CONSTRAINTS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6" name="Spec value 5"/>
          <p:cNvSpPr/>
          <p:nvPr/>
        </p:nvSpPr>
        <p:spPr>
          <a:xfrm>
            <a:off x="2423160" y="4572000"/>
            <a:ext cx="33361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5000"/>
              </a:lnSpc>
            </a:pP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Public data only · no infrastructure budget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7" name="Spec label 6"/>
          <p:cNvSpPr/>
          <p:nvPr/>
        </p:nvSpPr>
        <p:spPr>
          <a:xfrm>
            <a:off x="777240" y="5139000"/>
            <a:ext cx="15987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950" b="1" u="none" spc="99" strike="noStrike">
                <a:solidFill>
                  <a:srgbClr val="818CF8"/>
                </a:solidFill>
                <a:effectLst/>
                <a:uFillTx/>
                <a:latin typeface="Roboto"/>
              </a:rPr>
              <a:t>SUCCESS CRITERION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8" name="Spec value 6"/>
          <p:cNvSpPr/>
          <p:nvPr/>
        </p:nvSpPr>
        <p:spPr>
          <a:xfrm>
            <a:off x="2423160" y="5120640"/>
            <a:ext cx="333612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5000"/>
              </a:lnSpc>
            </a:pPr>
            <a:r>
              <a:rPr lang="en-US" sz="11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Outperform the naive “tomorrow = today” forecast · result: −15% error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Plan card"/>
          <p:cNvSpPr/>
          <p:nvPr/>
        </p:nvSpPr>
        <p:spPr>
          <a:xfrm>
            <a:off x="6318360" y="1737360"/>
            <a:ext cx="5366160" cy="2330280"/>
          </a:xfrm>
          <a:prstGeom prst="roundRect">
            <a:avLst>
              <a:gd name="adj" fmla="val 3137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Plan title"/>
          <p:cNvSpPr/>
          <p:nvPr/>
        </p:nvSpPr>
        <p:spPr>
          <a:xfrm>
            <a:off x="6546960" y="1874520"/>
            <a:ext cx="493632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Backward schedule · presentation on 18 June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1" name="Week 1"/>
          <p:cNvSpPr/>
          <p:nvPr/>
        </p:nvSpPr>
        <p:spPr>
          <a:xfrm>
            <a:off x="9015840" y="2304360"/>
            <a:ext cx="638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21 May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2" name="Week 2"/>
          <p:cNvSpPr/>
          <p:nvPr/>
        </p:nvSpPr>
        <p:spPr>
          <a:xfrm>
            <a:off x="9674280" y="2304360"/>
            <a:ext cx="638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28 May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3" name="Week 3"/>
          <p:cNvSpPr/>
          <p:nvPr/>
        </p:nvSpPr>
        <p:spPr>
          <a:xfrm>
            <a:off x="10332720" y="2304360"/>
            <a:ext cx="638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4 Jun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4" name="Week 4"/>
          <p:cNvSpPr/>
          <p:nvPr/>
        </p:nvSpPr>
        <p:spPr>
          <a:xfrm>
            <a:off x="10991160" y="2304360"/>
            <a:ext cx="6386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11 Jun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5" name="Task 1"/>
          <p:cNvSpPr/>
          <p:nvPr/>
        </p:nvSpPr>
        <p:spPr>
          <a:xfrm>
            <a:off x="6546960" y="2615040"/>
            <a:ext cx="24217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Scoping &amp; data collection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6" name="Bar 1.1"/>
          <p:cNvSpPr/>
          <p:nvPr/>
        </p:nvSpPr>
        <p:spPr>
          <a:xfrm>
            <a:off x="9043560" y="2660760"/>
            <a:ext cx="583920" cy="181440"/>
          </a:xfrm>
          <a:prstGeom prst="roundRect">
            <a:avLst>
              <a:gd name="adj" fmla="val 30000"/>
            </a:avLst>
          </a:prstGeom>
          <a:solidFill>
            <a:srgbClr val="818C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7" name="Task 2"/>
          <p:cNvSpPr/>
          <p:nvPr/>
        </p:nvSpPr>
        <p:spPr>
          <a:xfrm>
            <a:off x="6546960" y="2917080"/>
            <a:ext cx="24217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Preparation, spatial join &amp; EDA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8" name="Bar 2.1"/>
          <p:cNvSpPr/>
          <p:nvPr/>
        </p:nvSpPr>
        <p:spPr>
          <a:xfrm>
            <a:off x="9043560" y="2962800"/>
            <a:ext cx="1242000" cy="181440"/>
          </a:xfrm>
          <a:prstGeom prst="roundRect">
            <a:avLst>
              <a:gd name="adj" fmla="val 30000"/>
            </a:avLst>
          </a:prstGeom>
          <a:solidFill>
            <a:srgbClr val="818C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ask 3"/>
          <p:cNvSpPr/>
          <p:nvPr/>
        </p:nvSpPr>
        <p:spPr>
          <a:xfrm>
            <a:off x="6546960" y="3218760"/>
            <a:ext cx="24217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Modeling &amp; validation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0" name="Bar 3.1"/>
          <p:cNvSpPr/>
          <p:nvPr/>
        </p:nvSpPr>
        <p:spPr>
          <a:xfrm>
            <a:off x="9043560" y="3264480"/>
            <a:ext cx="2558880" cy="181440"/>
          </a:xfrm>
          <a:prstGeom prst="roundRect">
            <a:avLst>
              <a:gd name="adj" fmla="val 30000"/>
            </a:avLst>
          </a:prstGeom>
          <a:solidFill>
            <a:srgbClr val="818C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ask 4"/>
          <p:cNvSpPr/>
          <p:nvPr/>
        </p:nvSpPr>
        <p:spPr>
          <a:xfrm>
            <a:off x="6546960" y="3520440"/>
            <a:ext cx="24217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0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Dashboard &amp; deployment</a:t>
            </a: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2" name="Bar 4.1"/>
          <p:cNvSpPr/>
          <p:nvPr/>
        </p:nvSpPr>
        <p:spPr>
          <a:xfrm>
            <a:off x="10360080" y="3566160"/>
            <a:ext cx="1242000" cy="181440"/>
          </a:xfrm>
          <a:prstGeom prst="roundRect">
            <a:avLst>
              <a:gd name="adj" fmla="val 30000"/>
            </a:avLst>
          </a:prstGeom>
          <a:solidFill>
            <a:srgbClr val="818CF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Plan note"/>
          <p:cNvSpPr/>
          <p:nvPr/>
        </p:nvSpPr>
        <p:spPr>
          <a:xfrm>
            <a:off x="6546960" y="3831480"/>
            <a:ext cx="498204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8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Phases overlapped: first models on the raw dataset, then on the full one.</a:t>
            </a:r>
            <a:endParaRPr lang="fr-FR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4" name="Budget card"/>
          <p:cNvSpPr/>
          <p:nvPr/>
        </p:nvSpPr>
        <p:spPr>
          <a:xfrm>
            <a:off x="6318360" y="4206240"/>
            <a:ext cx="5366160" cy="1544040"/>
          </a:xfrm>
          <a:prstGeom prst="roundRect">
            <a:avLst>
              <a:gd name="adj" fmla="val 4734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5" name="Budget title"/>
          <p:cNvSpPr/>
          <p:nvPr/>
        </p:nvSpPr>
        <p:spPr>
          <a:xfrm>
            <a:off x="6546960" y="4316040"/>
            <a:ext cx="49363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Budget · estimate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6" name="Budget stat 1"/>
          <p:cNvSpPr/>
          <p:nvPr/>
        </p:nvSpPr>
        <p:spPr>
          <a:xfrm>
            <a:off x="6546960" y="4645080"/>
            <a:ext cx="164448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30 days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3 people, half-time, 4 weeks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7" name="Budget stat 2"/>
          <p:cNvSpPr/>
          <p:nvPr/>
        </p:nvSpPr>
        <p:spPr>
          <a:xfrm>
            <a:off x="8238600" y="4645080"/>
            <a:ext cx="164448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≈ €13.5k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at €450/day (assumption)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8" name="Budget stat 3"/>
          <p:cNvSpPr/>
          <p:nvPr/>
        </p:nvSpPr>
        <p:spPr>
          <a:xfrm>
            <a:off x="9930240" y="4645080"/>
            <a:ext cx="1644480" cy="68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€0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infrastructure &amp; data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9" name="Budget note"/>
          <p:cNvSpPr/>
          <p:nvPr/>
        </p:nvSpPr>
        <p:spPr>
          <a:xfrm>
            <a:off x="6546960" y="5358240"/>
            <a:ext cx="498204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5000"/>
              </a:lnSpc>
            </a:pP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Produc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tion 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version 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would 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add 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weathe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 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forecas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ts, paid 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hosting 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and 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quarter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ly 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mainte</a:t>
            </a:r>
            <a:r>
              <a:rPr lang="en-US" sz="95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nance.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40" name="Connector 23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041" name="TextBox 24"/>
          <p:cNvSpPr/>
          <p:nvPr/>
        </p:nvSpPr>
        <p:spPr>
          <a:xfrm>
            <a:off x="457200" y="6172200"/>
            <a:ext cx="8222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Produc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tion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Foreca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sting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Machin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e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Learnin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g ·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Stream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lit 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Dashbo</a:t>
            </a: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Box 25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03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044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5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6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7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8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49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0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1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2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3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4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5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6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7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8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59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0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1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2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3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4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5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6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7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8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69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0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1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2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3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4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5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6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7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8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79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0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1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2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3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4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5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6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7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8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89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0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1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2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3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4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5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6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7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8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099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0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1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2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3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4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5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6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07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108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02 · DATA &amp; METHOD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Box 3"/>
          <p:cNvSpPr/>
          <p:nvPr/>
        </p:nvSpPr>
        <p:spPr>
          <a:xfrm>
            <a:off x="502920" y="658440"/>
            <a:ext cx="1099260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The full pipeline, end to end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0" name="Rounded Rectangle 7"/>
          <p:cNvSpPr/>
          <p:nvPr/>
        </p:nvSpPr>
        <p:spPr>
          <a:xfrm>
            <a:off x="502920" y="1550160"/>
            <a:ext cx="3143160" cy="377640"/>
          </a:xfrm>
          <a:prstGeom prst="roundRect">
            <a:avLst>
              <a:gd name="adj" fmla="val 28000"/>
            </a:avLst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1" name="TextBox 8"/>
          <p:cNvSpPr/>
          <p:nvPr/>
        </p:nvSpPr>
        <p:spPr>
          <a:xfrm>
            <a:off x="658440" y="1550160"/>
            <a:ext cx="286884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 ·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DATA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COLL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ECTI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2" name="Rounded Rectangle 9"/>
          <p:cNvSpPr/>
          <p:nvPr/>
        </p:nvSpPr>
        <p:spPr>
          <a:xfrm>
            <a:off x="4521240" y="1550160"/>
            <a:ext cx="3143160" cy="377640"/>
          </a:xfrm>
          <a:prstGeom prst="roundRect">
            <a:avLst>
              <a:gd name="adj" fmla="val 28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3" name="TextBox 10"/>
          <p:cNvSpPr/>
          <p:nvPr/>
        </p:nvSpPr>
        <p:spPr>
          <a:xfrm>
            <a:off x="4676760" y="1550160"/>
            <a:ext cx="286884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 ·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PREP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ARAT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ION &amp; 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ANAL</a:t>
            </a: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YSIS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Rounded Rectangle 11"/>
          <p:cNvSpPr/>
          <p:nvPr/>
        </p:nvSpPr>
        <p:spPr>
          <a:xfrm>
            <a:off x="8539560" y="1550160"/>
            <a:ext cx="3143160" cy="377640"/>
          </a:xfrm>
          <a:prstGeom prst="roundRect">
            <a:avLst>
              <a:gd name="adj" fmla="val 28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5" name="TextBox 12"/>
          <p:cNvSpPr/>
          <p:nvPr/>
        </p:nvSpPr>
        <p:spPr>
          <a:xfrm>
            <a:off x="8695080" y="1550160"/>
            <a:ext cx="286884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 · MODELING &amp; COMPUTATION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6" name="Rounded Rectangle 13"/>
          <p:cNvSpPr/>
          <p:nvPr/>
        </p:nvSpPr>
        <p:spPr>
          <a:xfrm>
            <a:off x="594360" y="207108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7" name="Rectangle 14"/>
          <p:cNvSpPr/>
          <p:nvPr/>
        </p:nvSpPr>
        <p:spPr>
          <a:xfrm>
            <a:off x="594360" y="2071080"/>
            <a:ext cx="30240" cy="55368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18" name="Picture 15" descr="icon_cloud.png"/>
          <p:cNvPicPr/>
          <p:nvPr/>
        </p:nvPicPr>
        <p:blipFill>
          <a:blip r:embed="rId1"/>
          <a:stretch/>
        </p:blipFill>
        <p:spPr>
          <a:xfrm>
            <a:off x="731520" y="216828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19" name="TextBox 16"/>
          <p:cNvSpPr/>
          <p:nvPr/>
        </p:nvSpPr>
        <p:spPr>
          <a:xfrm>
            <a:off x="1216080" y="218304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Mete</a:t>
            </a: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o-</a:t>
            </a: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Franc</a:t>
            </a: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Box 17"/>
          <p:cNvSpPr/>
          <p:nvPr/>
        </p:nvSpPr>
        <p:spPr>
          <a:xfrm>
            <a:off x="1216080" y="2373480"/>
            <a:ext cx="2247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Weather data,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1" name="Rounded Rectangle 18"/>
          <p:cNvSpPr/>
          <p:nvPr/>
        </p:nvSpPr>
        <p:spPr>
          <a:xfrm>
            <a:off x="594360" y="285984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2" name="Rectangle 19"/>
          <p:cNvSpPr/>
          <p:nvPr/>
        </p:nvSpPr>
        <p:spPr>
          <a:xfrm>
            <a:off x="594360" y="2859840"/>
            <a:ext cx="30240" cy="55368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3" name="Picture 20" descr="icon_bolt.png"/>
          <p:cNvPicPr/>
          <p:nvPr/>
        </p:nvPicPr>
        <p:blipFill>
          <a:blip r:embed="rId2"/>
          <a:stretch/>
        </p:blipFill>
        <p:spPr>
          <a:xfrm>
            <a:off x="731520" y="295704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4" name="TextBox 21"/>
          <p:cNvSpPr/>
          <p:nvPr/>
        </p:nvSpPr>
        <p:spPr>
          <a:xfrm>
            <a:off x="1216080" y="297180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RTE France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Box 22"/>
          <p:cNvSpPr/>
          <p:nvPr/>
        </p:nvSpPr>
        <p:spPr>
          <a:xfrm>
            <a:off x="1216080" y="3162240"/>
            <a:ext cx="2247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Solar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product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ion,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2020 to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6" name="Rounded Rectangle 23"/>
          <p:cNvSpPr/>
          <p:nvPr/>
        </p:nvSpPr>
        <p:spPr>
          <a:xfrm>
            <a:off x="594360" y="364824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7" name="Rectangle 24"/>
          <p:cNvSpPr/>
          <p:nvPr/>
        </p:nvSpPr>
        <p:spPr>
          <a:xfrm>
            <a:off x="594360" y="3648240"/>
            <a:ext cx="30240" cy="55368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28" name="Picture 25" descr="icon_panel.png"/>
          <p:cNvPicPr/>
          <p:nvPr/>
        </p:nvPicPr>
        <p:blipFill>
          <a:blip r:embed="rId3"/>
          <a:stretch/>
        </p:blipFill>
        <p:spPr>
          <a:xfrm>
            <a:off x="731520" y="374544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29" name="TextBox 26"/>
          <p:cNvSpPr/>
          <p:nvPr/>
        </p:nvSpPr>
        <p:spPr>
          <a:xfrm>
            <a:off x="1216080" y="376056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Installed PV capacity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0" name="TextBox 27"/>
          <p:cNvSpPr/>
          <p:nvPr/>
        </p:nvSpPr>
        <p:spPr>
          <a:xfrm>
            <a:off x="1216080" y="3950640"/>
            <a:ext cx="2247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Capacity by region (SDES).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1" name="Rounded Rectangle 28"/>
          <p:cNvSpPr/>
          <p:nvPr/>
        </p:nvSpPr>
        <p:spPr>
          <a:xfrm>
            <a:off x="594360" y="443700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2" name="Rectangle 29"/>
          <p:cNvSpPr/>
          <p:nvPr/>
        </p:nvSpPr>
        <p:spPr>
          <a:xfrm>
            <a:off x="594360" y="4437000"/>
            <a:ext cx="30240" cy="553680"/>
          </a:xfrm>
          <a:prstGeom prst="rect">
            <a:avLst/>
          </a:prstGeom>
          <a:solidFill>
            <a:srgbClr val="5B57F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33" name="Picture 30" descr="icon_map.png"/>
          <p:cNvPicPr/>
          <p:nvPr/>
        </p:nvPicPr>
        <p:blipFill>
          <a:blip r:embed="rId4"/>
          <a:stretch/>
        </p:blipFill>
        <p:spPr>
          <a:xfrm>
            <a:off x="731520" y="453420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4" name="TextBox 31"/>
          <p:cNvSpPr/>
          <p:nvPr/>
        </p:nvSpPr>
        <p:spPr>
          <a:xfrm>
            <a:off x="1216080" y="454896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5B57F0"/>
                </a:solidFill>
                <a:effectLst/>
                <a:uFillTx/>
                <a:latin typeface="Roboto"/>
              </a:rPr>
              <a:t>GeoJSON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Box 32"/>
          <p:cNvSpPr/>
          <p:nvPr/>
        </p:nvSpPr>
        <p:spPr>
          <a:xfrm>
            <a:off x="1216080" y="4739400"/>
            <a:ext cx="2247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12 French regions.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6" name="Rounded Rectangle 33"/>
          <p:cNvSpPr/>
          <p:nvPr/>
        </p:nvSpPr>
        <p:spPr>
          <a:xfrm>
            <a:off x="4612680" y="207108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7" name="Rectangle 34"/>
          <p:cNvSpPr/>
          <p:nvPr/>
        </p:nvSpPr>
        <p:spPr>
          <a:xfrm>
            <a:off x="4612680" y="2071080"/>
            <a:ext cx="30240" cy="55368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38" name="Picture 35" descr="icon_pin.png"/>
          <p:cNvPicPr/>
          <p:nvPr/>
        </p:nvPicPr>
        <p:blipFill>
          <a:blip r:embed="rId5"/>
          <a:stretch/>
        </p:blipFill>
        <p:spPr>
          <a:xfrm>
            <a:off x="4749840" y="216828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39" name="TextBox 36"/>
          <p:cNvSpPr/>
          <p:nvPr/>
        </p:nvSpPr>
        <p:spPr>
          <a:xfrm>
            <a:off x="5234400" y="218304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Regional mapping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Box 37"/>
          <p:cNvSpPr/>
          <p:nvPr/>
        </p:nvSpPr>
        <p:spPr>
          <a:xfrm>
            <a:off x="5234400" y="2373480"/>
            <a:ext cx="224712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Grid points mapped to regions.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1" name="Down Arrow 38"/>
          <p:cNvSpPr/>
          <p:nvPr/>
        </p:nvSpPr>
        <p:spPr>
          <a:xfrm>
            <a:off x="6059520" y="2699640"/>
            <a:ext cx="66600" cy="84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28080" rIns="3348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2" name="Rounded Rectangle 39"/>
          <p:cNvSpPr/>
          <p:nvPr/>
        </p:nvSpPr>
        <p:spPr>
          <a:xfrm>
            <a:off x="4612680" y="285984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3" name="Rectangle 40"/>
          <p:cNvSpPr/>
          <p:nvPr/>
        </p:nvSpPr>
        <p:spPr>
          <a:xfrm>
            <a:off x="4612680" y="2859840"/>
            <a:ext cx="30240" cy="55368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44" name="Picture 41" descr="icon_refresh.png"/>
          <p:cNvPicPr/>
          <p:nvPr/>
        </p:nvPicPr>
        <p:blipFill>
          <a:blip r:embed="rId6"/>
          <a:stretch/>
        </p:blipFill>
        <p:spPr>
          <a:xfrm>
            <a:off x="4749840" y="295704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5" name="TextBox 42"/>
          <p:cNvSpPr/>
          <p:nvPr/>
        </p:nvSpPr>
        <p:spPr>
          <a:xfrm>
            <a:off x="5234400" y="297180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Data 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harm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oniza</a:t>
            </a: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Box 43"/>
          <p:cNvSpPr/>
          <p:nvPr/>
        </p:nvSpPr>
        <p:spPr>
          <a:xfrm>
            <a:off x="5234400" y="3162240"/>
            <a:ext cx="2247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Common period: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7" name="Down Arrow 44"/>
          <p:cNvSpPr/>
          <p:nvPr/>
        </p:nvSpPr>
        <p:spPr>
          <a:xfrm>
            <a:off x="6059520" y="3488400"/>
            <a:ext cx="66600" cy="84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28080" rIns="3348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8" name="Rounded Rectangle 45"/>
          <p:cNvSpPr/>
          <p:nvPr/>
        </p:nvSpPr>
        <p:spPr>
          <a:xfrm>
            <a:off x="4612680" y="364824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9" name="Rectangle 46"/>
          <p:cNvSpPr/>
          <p:nvPr/>
        </p:nvSpPr>
        <p:spPr>
          <a:xfrm>
            <a:off x="4612680" y="3648240"/>
            <a:ext cx="30240" cy="55368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50" name="Picture 47" descr="icon_share.png"/>
          <p:cNvPicPr/>
          <p:nvPr/>
        </p:nvPicPr>
        <p:blipFill>
          <a:blip r:embed="rId7"/>
          <a:stretch/>
        </p:blipFill>
        <p:spPr>
          <a:xfrm>
            <a:off x="4749840" y="374544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1" name="TextBox 48"/>
          <p:cNvSpPr/>
          <p:nvPr/>
        </p:nvSpPr>
        <p:spPr>
          <a:xfrm>
            <a:off x="5234400" y="376056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Data integration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Box 49"/>
          <p:cNvSpPr/>
          <p:nvPr/>
        </p:nvSpPr>
        <p:spPr>
          <a:xfrm>
            <a:off x="5234400" y="3950640"/>
            <a:ext cx="2247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Weather + production + capacity.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3" name="Down Arrow 50"/>
          <p:cNvSpPr/>
          <p:nvPr/>
        </p:nvSpPr>
        <p:spPr>
          <a:xfrm>
            <a:off x="6059520" y="4277160"/>
            <a:ext cx="66600" cy="84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28080" rIns="3348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4" name="Rounded Rectangle 51"/>
          <p:cNvSpPr/>
          <p:nvPr/>
        </p:nvSpPr>
        <p:spPr>
          <a:xfrm>
            <a:off x="4612680" y="443700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5" name="Rectangle 52"/>
          <p:cNvSpPr/>
          <p:nvPr/>
        </p:nvSpPr>
        <p:spPr>
          <a:xfrm>
            <a:off x="4612680" y="4437000"/>
            <a:ext cx="30240" cy="55368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56" name="Picture 53" descr="icon_database.png"/>
          <p:cNvPicPr/>
          <p:nvPr/>
        </p:nvPicPr>
        <p:blipFill>
          <a:blip r:embed="rId8"/>
          <a:stretch/>
        </p:blipFill>
        <p:spPr>
          <a:xfrm>
            <a:off x="4749840" y="453420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57" name="TextBox 54"/>
          <p:cNvSpPr/>
          <p:nvPr/>
        </p:nvSpPr>
        <p:spPr>
          <a:xfrm>
            <a:off x="5234400" y="454896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Consolidated dataset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Box 55"/>
          <p:cNvSpPr/>
          <p:nvPr/>
        </p:nvSpPr>
        <p:spPr>
          <a:xfrm>
            <a:off x="5234400" y="4739400"/>
            <a:ext cx="2247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Region x day, 2020 to 2026.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9" name="Down Arrow 56"/>
          <p:cNvSpPr/>
          <p:nvPr/>
        </p:nvSpPr>
        <p:spPr>
          <a:xfrm>
            <a:off x="6059520" y="5065560"/>
            <a:ext cx="66600" cy="84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28080" rIns="3348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0" name="Rounded Rectangle 57"/>
          <p:cNvSpPr/>
          <p:nvPr/>
        </p:nvSpPr>
        <p:spPr>
          <a:xfrm>
            <a:off x="4612680" y="522576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1" name="Rectangle 58"/>
          <p:cNvSpPr/>
          <p:nvPr/>
        </p:nvSpPr>
        <p:spPr>
          <a:xfrm>
            <a:off x="4612680" y="5225760"/>
            <a:ext cx="30240" cy="553680"/>
          </a:xfrm>
          <a:prstGeom prst="rect">
            <a:avLst/>
          </a:prstGeom>
          <a:solidFill>
            <a:srgbClr val="E67E2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62" name="Picture 59" descr="icon_chart.png"/>
          <p:cNvPicPr/>
          <p:nvPr/>
        </p:nvPicPr>
        <p:blipFill>
          <a:blip r:embed="rId9"/>
          <a:stretch/>
        </p:blipFill>
        <p:spPr>
          <a:xfrm>
            <a:off x="4749840" y="532260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3" name="TextBox 60"/>
          <p:cNvSpPr/>
          <p:nvPr/>
        </p:nvSpPr>
        <p:spPr>
          <a:xfrm>
            <a:off x="5234400" y="533772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E67E22"/>
                </a:solidFill>
                <a:effectLst/>
                <a:uFillTx/>
                <a:latin typeface="Roboto"/>
              </a:rPr>
              <a:t>Exploratory analysis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Box 61"/>
          <p:cNvSpPr/>
          <p:nvPr/>
        </p:nvSpPr>
        <p:spPr>
          <a:xfrm>
            <a:off x="5234400" y="5528160"/>
            <a:ext cx="2247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Correlations, trends, seasonality.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5" name="Rounded Rectangle 62"/>
          <p:cNvSpPr/>
          <p:nvPr/>
        </p:nvSpPr>
        <p:spPr>
          <a:xfrm>
            <a:off x="8631000" y="207108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6" name="Rectangle 63"/>
          <p:cNvSpPr/>
          <p:nvPr/>
        </p:nvSpPr>
        <p:spPr>
          <a:xfrm>
            <a:off x="8631000" y="2071080"/>
            <a:ext cx="30240" cy="55368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67" name="Picture 64" descr="icon_gear.png"/>
          <p:cNvPicPr/>
          <p:nvPr/>
        </p:nvPicPr>
        <p:blipFill>
          <a:blip r:embed="rId10"/>
          <a:stretch/>
        </p:blipFill>
        <p:spPr>
          <a:xfrm>
            <a:off x="8768160" y="216828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8" name="TextBox 65"/>
          <p:cNvSpPr/>
          <p:nvPr/>
        </p:nvSpPr>
        <p:spPr>
          <a:xfrm>
            <a:off x="9252720" y="218304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Machine Learning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Box 66"/>
          <p:cNvSpPr/>
          <p:nvPr/>
        </p:nvSpPr>
        <p:spPr>
          <a:xfrm>
            <a:off x="9252720" y="2373480"/>
            <a:ext cx="224712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Regres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sion 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modeli</a:t>
            </a: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ng.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0" name="Down Arrow 67"/>
          <p:cNvSpPr/>
          <p:nvPr/>
        </p:nvSpPr>
        <p:spPr>
          <a:xfrm>
            <a:off x="10077840" y="2699640"/>
            <a:ext cx="66600" cy="84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28080" rIns="3348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1" name="Rounded Rectangle 68"/>
          <p:cNvSpPr/>
          <p:nvPr/>
        </p:nvSpPr>
        <p:spPr>
          <a:xfrm>
            <a:off x="8631000" y="285984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2" name="Rectangle 69"/>
          <p:cNvSpPr/>
          <p:nvPr/>
        </p:nvSpPr>
        <p:spPr>
          <a:xfrm>
            <a:off x="8631000" y="2859840"/>
            <a:ext cx="30240" cy="55368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3" name="Picture 70" descr="icon_sun.png"/>
          <p:cNvPicPr/>
          <p:nvPr/>
        </p:nvPicPr>
        <p:blipFill>
          <a:blip r:embed="rId11"/>
          <a:stretch/>
        </p:blipFill>
        <p:spPr>
          <a:xfrm>
            <a:off x="8768160" y="295704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4" name="TextBox 71"/>
          <p:cNvSpPr/>
          <p:nvPr/>
        </p:nvSpPr>
        <p:spPr>
          <a:xfrm>
            <a:off x="9252720" y="297180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Radiation forecast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5" name="TextBox 72"/>
          <p:cNvSpPr/>
          <p:nvPr/>
        </p:nvSpPr>
        <p:spPr>
          <a:xfrm>
            <a:off x="9252720" y="3162240"/>
            <a:ext cx="22471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Predicts next-day visible radiation.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6" name="Down Arrow 73"/>
          <p:cNvSpPr/>
          <p:nvPr/>
        </p:nvSpPr>
        <p:spPr>
          <a:xfrm>
            <a:off x="10077840" y="3488400"/>
            <a:ext cx="66600" cy="8496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33480" tIns="28080" rIns="33480" bIns="2808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7" name="Rounded Rectangle 74"/>
          <p:cNvSpPr/>
          <p:nvPr/>
        </p:nvSpPr>
        <p:spPr>
          <a:xfrm>
            <a:off x="8631000" y="3648240"/>
            <a:ext cx="2960280" cy="55368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8" name="Rectangle 75"/>
          <p:cNvSpPr/>
          <p:nvPr/>
        </p:nvSpPr>
        <p:spPr>
          <a:xfrm>
            <a:off x="8631000" y="3648240"/>
            <a:ext cx="30240" cy="553680"/>
          </a:xfrm>
          <a:prstGeom prst="rect">
            <a:avLst/>
          </a:prstGeom>
          <a:solidFill>
            <a:srgbClr val="1FA97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5120" tIns="45000" rIns="151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9" name="Picture 76" descr="icon_battery.png"/>
          <p:cNvPicPr/>
          <p:nvPr/>
        </p:nvPicPr>
        <p:blipFill>
          <a:blip r:embed="rId12"/>
          <a:stretch/>
        </p:blipFill>
        <p:spPr>
          <a:xfrm>
            <a:off x="8768160" y="3745440"/>
            <a:ext cx="359280" cy="35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0" name="TextBox 77"/>
          <p:cNvSpPr/>
          <p:nvPr/>
        </p:nvSpPr>
        <p:spPr>
          <a:xfrm>
            <a:off x="9252720" y="3760560"/>
            <a:ext cx="2247120" cy="1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Producti</a:t>
            </a: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on </a:t>
            </a:r>
            <a:r>
              <a:rPr lang="en-US" sz="1250" b="1" u="none" strike="noStrike">
                <a:solidFill>
                  <a:srgbClr val="1FA97A"/>
                </a:solidFill>
                <a:effectLst/>
                <a:uFillTx/>
                <a:latin typeface="Roboto"/>
              </a:rPr>
              <a:t>estimate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Box 78"/>
          <p:cNvSpPr/>
          <p:nvPr/>
        </p:nvSpPr>
        <p:spPr>
          <a:xfrm>
            <a:off x="9252720" y="3950640"/>
            <a:ext cx="2247120" cy="15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96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Radiation → kWh/m² at 20% efficiency.</a:t>
            </a:r>
            <a:endParaRPr lang="fr-FR" sz="9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82" name="Connector 79"/>
          <p:cNvCxnSpPr/>
          <p:nvPr/>
        </p:nvCxnSpPr>
        <p:spPr>
          <a:xfrm>
            <a:off x="3560760" y="2351160"/>
            <a:ext cx="445680" cy="648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3" name="Connector 80"/>
          <p:cNvCxnSpPr/>
          <p:nvPr/>
        </p:nvCxnSpPr>
        <p:spPr>
          <a:xfrm>
            <a:off x="3560760" y="3139560"/>
            <a:ext cx="445680" cy="648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4" name="Connector 81"/>
          <p:cNvCxnSpPr/>
          <p:nvPr/>
        </p:nvCxnSpPr>
        <p:spPr>
          <a:xfrm>
            <a:off x="3560760" y="3928320"/>
            <a:ext cx="445680" cy="648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5" name="Connector 82"/>
          <p:cNvCxnSpPr/>
          <p:nvPr/>
        </p:nvCxnSpPr>
        <p:spPr>
          <a:xfrm>
            <a:off x="3560760" y="4716720"/>
            <a:ext cx="445680" cy="648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6" name="Connector 83"/>
          <p:cNvCxnSpPr/>
          <p:nvPr/>
        </p:nvCxnSpPr>
        <p:spPr>
          <a:xfrm>
            <a:off x="3999960" y="2351160"/>
            <a:ext cx="6480" cy="237204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</a:ln>
        </p:spPr>
      </p:cxnSp>
      <p:cxnSp>
        <p:nvCxnSpPr>
          <p:cNvPr id="1187" name="Connector 84"/>
          <p:cNvCxnSpPr/>
          <p:nvPr/>
        </p:nvCxnSpPr>
        <p:spPr>
          <a:xfrm>
            <a:off x="3999960" y="2351160"/>
            <a:ext cx="618840" cy="6480"/>
          </a:xfrm>
          <a:prstGeom prst="straightConnector1">
            <a:avLst/>
          </a:prstGeom>
          <a:ln cap="rnd" w="41275">
            <a:solidFill>
              <a:srgbClr val="5B57F0"/>
            </a:solidFill>
            <a:round/>
            <a:tailEnd len="med" type="triangle" w="med"/>
          </a:ln>
        </p:spPr>
      </p:cxnSp>
      <p:cxnSp>
        <p:nvCxnSpPr>
          <p:cNvPr id="1188" name="Connector 85"/>
          <p:cNvCxnSpPr/>
          <p:nvPr/>
        </p:nvCxnSpPr>
        <p:spPr>
          <a:xfrm>
            <a:off x="7579080" y="5505480"/>
            <a:ext cx="575640" cy="648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</a:ln>
        </p:spPr>
      </p:cxnSp>
      <p:cxnSp>
        <p:nvCxnSpPr>
          <p:cNvPr id="1189" name="Connector 86"/>
          <p:cNvCxnSpPr/>
          <p:nvPr/>
        </p:nvCxnSpPr>
        <p:spPr>
          <a:xfrm flipV="1">
            <a:off x="8148240" y="2351160"/>
            <a:ext cx="6480" cy="316080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</a:ln>
        </p:spPr>
      </p:cxnSp>
      <p:cxnSp>
        <p:nvCxnSpPr>
          <p:cNvPr id="1190" name="Connector 87"/>
          <p:cNvCxnSpPr/>
          <p:nvPr/>
        </p:nvCxnSpPr>
        <p:spPr>
          <a:xfrm>
            <a:off x="8148240" y="2351160"/>
            <a:ext cx="488880" cy="6480"/>
          </a:xfrm>
          <a:prstGeom prst="straightConnector1">
            <a:avLst/>
          </a:prstGeom>
          <a:ln cap="rnd" w="41275">
            <a:solidFill>
              <a:srgbClr val="1FA97A"/>
            </a:solidFill>
            <a:round/>
            <a:tailEnd len="med" type="triangle" w="med"/>
          </a:ln>
        </p:spPr>
      </p:cxnSp>
      <p:cxnSp>
        <p:nvCxnSpPr>
          <p:cNvPr id="1191" name="Connector 88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192" name="TextBox 89"/>
          <p:cNvSpPr/>
          <p:nvPr/>
        </p:nvSpPr>
        <p:spPr>
          <a:xfrm>
            <a:off x="457200" y="6172200"/>
            <a:ext cx="8222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Box 90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04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195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6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7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8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199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0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1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2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3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4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5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6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7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8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09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0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1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2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3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4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5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6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7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8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19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0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1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2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3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4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5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6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7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8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29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0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1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2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3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4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5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6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7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8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39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0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1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2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3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4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5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6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7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8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49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0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1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2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3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4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5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6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7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258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259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03 · EXPLORATORY ANALYSIS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Box 3"/>
          <p:cNvSpPr/>
          <p:nvPr/>
        </p:nvSpPr>
        <p:spPr>
          <a:xfrm>
            <a:off x="502920" y="658440"/>
            <a:ext cx="1099260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What explains solar production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1" name="TextBox 4"/>
          <p:cNvSpPr/>
          <p:nvPr/>
        </p:nvSpPr>
        <p:spPr>
          <a:xfrm>
            <a:off x="502920" y="1404000"/>
            <a:ext cx="10993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lation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betw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een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weat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her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varia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bles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and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ction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per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capa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city,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acros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26,67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6 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obser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vatio</a:t>
            </a: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ns.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2" name="Rounded Rectangle 7"/>
          <p:cNvSpPr/>
          <p:nvPr/>
        </p:nvSpPr>
        <p:spPr>
          <a:xfrm>
            <a:off x="7360920" y="1828800"/>
            <a:ext cx="4321800" cy="11934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3" name="TextBox 8"/>
          <p:cNvSpPr/>
          <p:nvPr/>
        </p:nvSpPr>
        <p:spPr>
          <a:xfrm>
            <a:off x="7589520" y="1965960"/>
            <a:ext cx="12934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0.93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4" name="TextBox 9"/>
          <p:cNvSpPr/>
          <p:nvPr/>
        </p:nvSpPr>
        <p:spPr>
          <a:xfrm>
            <a:off x="8960760" y="1983960"/>
            <a:ext cx="24915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Visible radiation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5" name="TextBox 10"/>
          <p:cNvSpPr/>
          <p:nvPr/>
        </p:nvSpPr>
        <p:spPr>
          <a:xfrm>
            <a:off x="8960760" y="2388960"/>
            <a:ext cx="24915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Strongest correlation with production.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6" name="Rounded Rectangle 11"/>
          <p:cNvSpPr/>
          <p:nvPr/>
        </p:nvSpPr>
        <p:spPr>
          <a:xfrm>
            <a:off x="7360920" y="3193920"/>
            <a:ext cx="4321800" cy="11934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7" name="TextBox 12"/>
          <p:cNvSpPr/>
          <p:nvPr/>
        </p:nvSpPr>
        <p:spPr>
          <a:xfrm>
            <a:off x="7589520" y="3331080"/>
            <a:ext cx="12934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-0.75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8" name="TextBox 13"/>
          <p:cNvSpPr/>
          <p:nvPr/>
        </p:nvSpPr>
        <p:spPr>
          <a:xfrm>
            <a:off x="8960760" y="3348720"/>
            <a:ext cx="249156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Rel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ativ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hu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mid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ity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Box 14"/>
          <p:cNvSpPr/>
          <p:nvPr/>
        </p:nvSpPr>
        <p:spPr>
          <a:xfrm>
            <a:off x="8960760" y="3753720"/>
            <a:ext cx="24915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Negativ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correlat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ion 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(cloudi</a:t>
            </a: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er sky).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0" name="Rounded Rectangle 15"/>
          <p:cNvSpPr/>
          <p:nvPr/>
        </p:nvSpPr>
        <p:spPr>
          <a:xfrm>
            <a:off x="7360920" y="4558680"/>
            <a:ext cx="4321800" cy="119340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1" name="TextBox 16"/>
          <p:cNvSpPr/>
          <p:nvPr/>
        </p:nvSpPr>
        <p:spPr>
          <a:xfrm>
            <a:off x="7589520" y="4695840"/>
            <a:ext cx="12934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0.87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Box 17"/>
          <p:cNvSpPr/>
          <p:nvPr/>
        </p:nvSpPr>
        <p:spPr>
          <a:xfrm>
            <a:off x="8960760" y="4713840"/>
            <a:ext cx="24915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Pote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ntial 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evap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otran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spirat</a:t>
            </a: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3" name="TextBox 18"/>
          <p:cNvSpPr/>
          <p:nvPr/>
        </p:nvSpPr>
        <p:spPr>
          <a:xfrm>
            <a:off x="8960760" y="5118840"/>
            <a:ext cx="2491560" cy="59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0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Strong positive correlation, tied to sunshine.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74" name="Connector 19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275" name="TextBox 20"/>
          <p:cNvSpPr/>
          <p:nvPr/>
        </p:nvSpPr>
        <p:spPr>
          <a:xfrm>
            <a:off x="457200" y="6172200"/>
            <a:ext cx="8222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6" name="TextBox 21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05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7" name="Rounded Rectangle 964"/>
          <p:cNvSpPr/>
          <p:nvPr/>
        </p:nvSpPr>
        <p:spPr>
          <a:xfrm>
            <a:off x="502920" y="1828800"/>
            <a:ext cx="6577200" cy="3925440"/>
          </a:xfrm>
          <a:prstGeom prst="roundRect">
            <a:avLst>
              <a:gd name="adj" fmla="val 186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8" name="TextBox 965"/>
          <p:cNvSpPr/>
          <p:nvPr/>
        </p:nvSpPr>
        <p:spPr>
          <a:xfrm>
            <a:off x="502920" y="1901880"/>
            <a:ext cx="6577200" cy="34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Correlation Matrix | Meteorological Variables vs Solar Production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9" name="TextBox 966"/>
          <p:cNvSpPr/>
          <p:nvPr/>
        </p:nvSpPr>
        <p:spPr>
          <a:xfrm>
            <a:off x="731520" y="234072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Snowfall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0" name="TextBox 967"/>
          <p:cNvSpPr/>
          <p:nvPr/>
        </p:nvSpPr>
        <p:spPr>
          <a:xfrm>
            <a:off x="731520" y="256104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Rainfall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1" name="TextBox 968"/>
          <p:cNvSpPr/>
          <p:nvPr/>
        </p:nvSpPr>
        <p:spPr>
          <a:xfrm>
            <a:off x="731520" y="278136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Avg Temp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2" name="TextBox 969"/>
          <p:cNvSpPr/>
          <p:nvPr/>
        </p:nvSpPr>
        <p:spPr>
          <a:xfrm>
            <a:off x="731520" y="300132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Wind </a:t>
            </a: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Speed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3" name="TextBox 970"/>
          <p:cNvSpPr/>
          <p:nvPr/>
        </p:nvSpPr>
        <p:spPr>
          <a:xfrm>
            <a:off x="731520" y="322164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Spec.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4" name="TextBox 971"/>
          <p:cNvSpPr/>
          <p:nvPr/>
        </p:nvSpPr>
        <p:spPr>
          <a:xfrm>
            <a:off x="731520" y="344196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Atm. Radiation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5" name="TextBox 972"/>
          <p:cNvSpPr/>
          <p:nvPr/>
        </p:nvSpPr>
        <p:spPr>
          <a:xfrm>
            <a:off x="731520" y="366192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Visible Rad.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6" name="TextBox 973"/>
          <p:cNvSpPr/>
          <p:nvPr/>
        </p:nvSpPr>
        <p:spPr>
          <a:xfrm>
            <a:off x="731520" y="388224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Rel.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7" name="TextBox 974"/>
          <p:cNvSpPr/>
          <p:nvPr/>
        </p:nvSpPr>
        <p:spPr>
          <a:xfrm>
            <a:off x="731520" y="410256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Total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8" name="TextBox 975"/>
          <p:cNvSpPr/>
          <p:nvPr/>
        </p:nvSpPr>
        <p:spPr>
          <a:xfrm>
            <a:off x="731520" y="432252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Potential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9" name="TextBox 976"/>
          <p:cNvSpPr/>
          <p:nvPr/>
        </p:nvSpPr>
        <p:spPr>
          <a:xfrm>
            <a:off x="731520" y="4542840"/>
            <a:ext cx="8348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 anchorCtr="1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Prod / Capacity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0" name="Rounded Rectangle 977"/>
          <p:cNvSpPr/>
          <p:nvPr/>
        </p:nvSpPr>
        <p:spPr>
          <a:xfrm>
            <a:off x="164592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1" name="Rounded Rectangle 978"/>
          <p:cNvSpPr/>
          <p:nvPr/>
        </p:nvSpPr>
        <p:spPr>
          <a:xfrm>
            <a:off x="212256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2" name="Rounded Rectangle 979"/>
          <p:cNvSpPr/>
          <p:nvPr/>
        </p:nvSpPr>
        <p:spPr>
          <a:xfrm>
            <a:off x="259956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C47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3" name="Rounded Rectangle 980"/>
          <p:cNvSpPr/>
          <p:nvPr/>
        </p:nvSpPr>
        <p:spPr>
          <a:xfrm>
            <a:off x="307620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4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4" name="Rounded Rectangle 981"/>
          <p:cNvSpPr/>
          <p:nvPr/>
        </p:nvSpPr>
        <p:spPr>
          <a:xfrm>
            <a:off x="355284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5" name="Rounded Rectangle 982"/>
          <p:cNvSpPr/>
          <p:nvPr/>
        </p:nvSpPr>
        <p:spPr>
          <a:xfrm>
            <a:off x="402948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6" name="Rounded Rectangle 983"/>
          <p:cNvSpPr/>
          <p:nvPr/>
        </p:nvSpPr>
        <p:spPr>
          <a:xfrm>
            <a:off x="450648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7" name="Rounded Rectangle 984"/>
          <p:cNvSpPr/>
          <p:nvPr/>
        </p:nvSpPr>
        <p:spPr>
          <a:xfrm>
            <a:off x="498312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D3D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8" name="Rounded Rectangle 985"/>
          <p:cNvSpPr/>
          <p:nvPr/>
        </p:nvSpPr>
        <p:spPr>
          <a:xfrm>
            <a:off x="545976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9" name="Rounded Rectangle 986"/>
          <p:cNvSpPr/>
          <p:nvPr/>
        </p:nvSpPr>
        <p:spPr>
          <a:xfrm>
            <a:off x="593640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942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0" name="Rounded Rectangle 987"/>
          <p:cNvSpPr/>
          <p:nvPr/>
        </p:nvSpPr>
        <p:spPr>
          <a:xfrm>
            <a:off x="6413400" y="23407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B46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1" name="Rounded Rectangle 988"/>
          <p:cNvSpPr/>
          <p:nvPr/>
        </p:nvSpPr>
        <p:spPr>
          <a:xfrm>
            <a:off x="164592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2" name="Rounded Rectangle 989"/>
          <p:cNvSpPr/>
          <p:nvPr/>
        </p:nvSpPr>
        <p:spPr>
          <a:xfrm>
            <a:off x="212256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3" name="Rounded Rectangle 990"/>
          <p:cNvSpPr/>
          <p:nvPr/>
        </p:nvSpPr>
        <p:spPr>
          <a:xfrm>
            <a:off x="259956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2D32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4" name="Rounded Rectangle 991"/>
          <p:cNvSpPr/>
          <p:nvPr/>
        </p:nvSpPr>
        <p:spPr>
          <a:xfrm>
            <a:off x="307620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5" name="Rounded Rectangle 992"/>
          <p:cNvSpPr/>
          <p:nvPr/>
        </p:nvSpPr>
        <p:spPr>
          <a:xfrm>
            <a:off x="355284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F3F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6" name="Rounded Rectangle 993"/>
          <p:cNvSpPr/>
          <p:nvPr/>
        </p:nvSpPr>
        <p:spPr>
          <a:xfrm>
            <a:off x="402948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7" name="Rounded Rectangle 994"/>
          <p:cNvSpPr/>
          <p:nvPr/>
        </p:nvSpPr>
        <p:spPr>
          <a:xfrm>
            <a:off x="450648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8" name="Rounded Rectangle 995"/>
          <p:cNvSpPr/>
          <p:nvPr/>
        </p:nvSpPr>
        <p:spPr>
          <a:xfrm>
            <a:off x="498312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9" name="Rounded Rectangle 996"/>
          <p:cNvSpPr/>
          <p:nvPr/>
        </p:nvSpPr>
        <p:spPr>
          <a:xfrm>
            <a:off x="545976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0" name="Rounded Rectangle 997"/>
          <p:cNvSpPr/>
          <p:nvPr/>
        </p:nvSpPr>
        <p:spPr>
          <a:xfrm>
            <a:off x="593640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B4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1" name="Rounded Rectangle 998"/>
          <p:cNvSpPr/>
          <p:nvPr/>
        </p:nvSpPr>
        <p:spPr>
          <a:xfrm>
            <a:off x="6413400" y="25610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14E6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2" name="Rounded Rectangle 999"/>
          <p:cNvSpPr/>
          <p:nvPr/>
        </p:nvSpPr>
        <p:spPr>
          <a:xfrm>
            <a:off x="164592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C476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3" name="Rounded Rectangle 1000"/>
          <p:cNvSpPr/>
          <p:nvPr/>
        </p:nvSpPr>
        <p:spPr>
          <a:xfrm>
            <a:off x="212256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2D324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4" name="Rounded Rectangle 1001"/>
          <p:cNvSpPr/>
          <p:nvPr/>
        </p:nvSpPr>
        <p:spPr>
          <a:xfrm>
            <a:off x="259956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5" name="Rounded Rectangle 1002"/>
          <p:cNvSpPr/>
          <p:nvPr/>
        </p:nvSpPr>
        <p:spPr>
          <a:xfrm>
            <a:off x="307620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6" name="Rounded Rectangle 1003"/>
          <p:cNvSpPr/>
          <p:nvPr/>
        </p:nvSpPr>
        <p:spPr>
          <a:xfrm>
            <a:off x="355284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126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7" name="Rounded Rectangle 1004"/>
          <p:cNvSpPr/>
          <p:nvPr/>
        </p:nvSpPr>
        <p:spPr>
          <a:xfrm>
            <a:off x="402948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3D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8" name="Rounded Rectangle 1005"/>
          <p:cNvSpPr/>
          <p:nvPr/>
        </p:nvSpPr>
        <p:spPr>
          <a:xfrm>
            <a:off x="450648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947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9" name="Rounded Rectangle 1006"/>
          <p:cNvSpPr/>
          <p:nvPr/>
        </p:nvSpPr>
        <p:spPr>
          <a:xfrm>
            <a:off x="498312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3537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0" name="Rounded Rectangle 1007"/>
          <p:cNvSpPr/>
          <p:nvPr/>
        </p:nvSpPr>
        <p:spPr>
          <a:xfrm>
            <a:off x="545976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5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1" name="Rounded Rectangle 1008"/>
          <p:cNvSpPr/>
          <p:nvPr/>
        </p:nvSpPr>
        <p:spPr>
          <a:xfrm>
            <a:off x="593640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2" name="Rounded Rectangle 1009"/>
          <p:cNvSpPr/>
          <p:nvPr/>
        </p:nvSpPr>
        <p:spPr>
          <a:xfrm>
            <a:off x="6413400" y="27813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749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3" name="Rounded Rectangle 1010"/>
          <p:cNvSpPr/>
          <p:nvPr/>
        </p:nvSpPr>
        <p:spPr>
          <a:xfrm>
            <a:off x="164592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438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4" name="Rounded Rectangle 1011"/>
          <p:cNvSpPr/>
          <p:nvPr/>
        </p:nvSpPr>
        <p:spPr>
          <a:xfrm>
            <a:off x="212256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5" name="Rounded Rectangle 1012"/>
          <p:cNvSpPr/>
          <p:nvPr/>
        </p:nvSpPr>
        <p:spPr>
          <a:xfrm>
            <a:off x="259956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6" name="Rounded Rectangle 1013"/>
          <p:cNvSpPr/>
          <p:nvPr/>
        </p:nvSpPr>
        <p:spPr>
          <a:xfrm>
            <a:off x="307620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7" name="Rounded Rectangle 1014"/>
          <p:cNvSpPr/>
          <p:nvPr/>
        </p:nvSpPr>
        <p:spPr>
          <a:xfrm>
            <a:off x="355284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8" name="Rounded Rectangle 1015"/>
          <p:cNvSpPr/>
          <p:nvPr/>
        </p:nvSpPr>
        <p:spPr>
          <a:xfrm>
            <a:off x="402948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9" name="Rounded Rectangle 1016"/>
          <p:cNvSpPr/>
          <p:nvPr/>
        </p:nvSpPr>
        <p:spPr>
          <a:xfrm>
            <a:off x="450648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0" name="Rounded Rectangle 1017"/>
          <p:cNvSpPr/>
          <p:nvPr/>
        </p:nvSpPr>
        <p:spPr>
          <a:xfrm>
            <a:off x="498312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240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1" name="Rounded Rectangle 1018"/>
          <p:cNvSpPr/>
          <p:nvPr/>
        </p:nvSpPr>
        <p:spPr>
          <a:xfrm>
            <a:off x="545976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53D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2" name="Rounded Rectangle 1019"/>
          <p:cNvSpPr/>
          <p:nvPr/>
        </p:nvSpPr>
        <p:spPr>
          <a:xfrm>
            <a:off x="593640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3" name="Rounded Rectangle 1020"/>
          <p:cNvSpPr/>
          <p:nvPr/>
        </p:nvSpPr>
        <p:spPr>
          <a:xfrm>
            <a:off x="6413400" y="30013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04D6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4" name="Rounded Rectangle 1021"/>
          <p:cNvSpPr/>
          <p:nvPr/>
        </p:nvSpPr>
        <p:spPr>
          <a:xfrm>
            <a:off x="164592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5" name="Rounded Rectangle 1022"/>
          <p:cNvSpPr/>
          <p:nvPr/>
        </p:nvSpPr>
        <p:spPr>
          <a:xfrm>
            <a:off x="212256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F3F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6" name="Rounded Rectangle 1023"/>
          <p:cNvSpPr/>
          <p:nvPr/>
        </p:nvSpPr>
        <p:spPr>
          <a:xfrm>
            <a:off x="259956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1263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7" name="Rounded Rectangle 1024"/>
          <p:cNvSpPr/>
          <p:nvPr/>
        </p:nvSpPr>
        <p:spPr>
          <a:xfrm>
            <a:off x="307620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8" name="Rounded Rectangle 1025"/>
          <p:cNvSpPr/>
          <p:nvPr/>
        </p:nvSpPr>
        <p:spPr>
          <a:xfrm>
            <a:off x="355284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9" name="Rounded Rectangle 1026"/>
          <p:cNvSpPr/>
          <p:nvPr/>
        </p:nvSpPr>
        <p:spPr>
          <a:xfrm>
            <a:off x="402948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129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0" name="Rounded Rectangle 1027"/>
          <p:cNvSpPr/>
          <p:nvPr/>
        </p:nvSpPr>
        <p:spPr>
          <a:xfrm>
            <a:off x="450648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63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1" name="Rounded Rectangle 1028"/>
          <p:cNvSpPr/>
          <p:nvPr/>
        </p:nvSpPr>
        <p:spPr>
          <a:xfrm>
            <a:off x="498312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2" name="Rounded Rectangle 1029"/>
          <p:cNvSpPr/>
          <p:nvPr/>
        </p:nvSpPr>
        <p:spPr>
          <a:xfrm>
            <a:off x="545976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6A4C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3" name="Rounded Rectangle 1030"/>
          <p:cNvSpPr/>
          <p:nvPr/>
        </p:nvSpPr>
        <p:spPr>
          <a:xfrm>
            <a:off x="593640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4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0.59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4" name="Rounded Rectangle 1031"/>
          <p:cNvSpPr/>
          <p:nvPr/>
        </p:nvSpPr>
        <p:spPr>
          <a:xfrm>
            <a:off x="6413400" y="32216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62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5" name="Rounded Rectangle 1032"/>
          <p:cNvSpPr/>
          <p:nvPr/>
        </p:nvSpPr>
        <p:spPr>
          <a:xfrm>
            <a:off x="164592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6" name="Rounded Rectangle 1033"/>
          <p:cNvSpPr/>
          <p:nvPr/>
        </p:nvSpPr>
        <p:spPr>
          <a:xfrm>
            <a:off x="212256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047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7" name="Rounded Rectangle 1034"/>
          <p:cNvSpPr/>
          <p:nvPr/>
        </p:nvSpPr>
        <p:spPr>
          <a:xfrm>
            <a:off x="259956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3D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8" name="Rounded Rectangle 1035"/>
          <p:cNvSpPr/>
          <p:nvPr/>
        </p:nvSpPr>
        <p:spPr>
          <a:xfrm>
            <a:off x="307620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9" name="Rounded Rectangle 1036"/>
          <p:cNvSpPr/>
          <p:nvPr/>
        </p:nvSpPr>
        <p:spPr>
          <a:xfrm>
            <a:off x="355284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1293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0" name="Rounded Rectangle 1037"/>
          <p:cNvSpPr/>
          <p:nvPr/>
        </p:nvSpPr>
        <p:spPr>
          <a:xfrm>
            <a:off x="402948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1" name="Rounded Rectangle 1038"/>
          <p:cNvSpPr/>
          <p:nvPr/>
        </p:nvSpPr>
        <p:spPr>
          <a:xfrm>
            <a:off x="450648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140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2" name="Rounded Rectangle 1039"/>
          <p:cNvSpPr/>
          <p:nvPr/>
        </p:nvSpPr>
        <p:spPr>
          <a:xfrm>
            <a:off x="498312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542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3" name="Rounded Rectangle 1040"/>
          <p:cNvSpPr/>
          <p:nvPr/>
        </p:nvSpPr>
        <p:spPr>
          <a:xfrm>
            <a:off x="545976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148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4" name="Rounded Rectangle 1041"/>
          <p:cNvSpPr/>
          <p:nvPr/>
        </p:nvSpPr>
        <p:spPr>
          <a:xfrm>
            <a:off x="593640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5" name="Rounded Rectangle 1042"/>
          <p:cNvSpPr/>
          <p:nvPr/>
        </p:nvSpPr>
        <p:spPr>
          <a:xfrm>
            <a:off x="6413400" y="34419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E3E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6" name="Rounded Rectangle 1043"/>
          <p:cNvSpPr/>
          <p:nvPr/>
        </p:nvSpPr>
        <p:spPr>
          <a:xfrm>
            <a:off x="164592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7" name="Rounded Rectangle 1044"/>
          <p:cNvSpPr/>
          <p:nvPr/>
        </p:nvSpPr>
        <p:spPr>
          <a:xfrm>
            <a:off x="212256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8" name="Rounded Rectangle 1045"/>
          <p:cNvSpPr/>
          <p:nvPr/>
        </p:nvSpPr>
        <p:spPr>
          <a:xfrm>
            <a:off x="259956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9474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9" name="Rounded Rectangle 1046"/>
          <p:cNvSpPr/>
          <p:nvPr/>
        </p:nvSpPr>
        <p:spPr>
          <a:xfrm>
            <a:off x="307620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04C6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0" name="Rounded Rectangle 1047"/>
          <p:cNvSpPr/>
          <p:nvPr/>
        </p:nvSpPr>
        <p:spPr>
          <a:xfrm>
            <a:off x="355284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63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1" name="Rounded Rectangle 1048"/>
          <p:cNvSpPr/>
          <p:nvPr/>
        </p:nvSpPr>
        <p:spPr>
          <a:xfrm>
            <a:off x="402948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1404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2" name="Rounded Rectangle 1049"/>
          <p:cNvSpPr/>
          <p:nvPr/>
        </p:nvSpPr>
        <p:spPr>
          <a:xfrm>
            <a:off x="450648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3" name="Rounded Rectangle 1050"/>
          <p:cNvSpPr/>
          <p:nvPr/>
        </p:nvSpPr>
        <p:spPr>
          <a:xfrm>
            <a:off x="498312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A4E9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4" name="Rounded Rectangle 1051"/>
          <p:cNvSpPr/>
          <p:nvPr/>
        </p:nvSpPr>
        <p:spPr>
          <a:xfrm>
            <a:off x="545976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5" name="Rounded Rectangle 1052"/>
          <p:cNvSpPr/>
          <p:nvPr/>
        </p:nvSpPr>
        <p:spPr>
          <a:xfrm>
            <a:off x="593640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02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6" name="Rounded Rectangle 1053"/>
          <p:cNvSpPr/>
          <p:nvPr/>
        </p:nvSpPr>
        <p:spPr>
          <a:xfrm>
            <a:off x="6413400" y="36619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023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7" name="Rounded Rectangle 1054"/>
          <p:cNvSpPr/>
          <p:nvPr/>
        </p:nvSpPr>
        <p:spPr>
          <a:xfrm>
            <a:off x="164592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D3D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8" name="Rounded Rectangle 1055"/>
          <p:cNvSpPr/>
          <p:nvPr/>
        </p:nvSpPr>
        <p:spPr>
          <a:xfrm>
            <a:off x="212256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9" name="Rounded Rectangle 1056"/>
          <p:cNvSpPr/>
          <p:nvPr/>
        </p:nvSpPr>
        <p:spPr>
          <a:xfrm>
            <a:off x="259956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3537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0" name="Rounded Rectangle 1057"/>
          <p:cNvSpPr/>
          <p:nvPr/>
        </p:nvSpPr>
        <p:spPr>
          <a:xfrm>
            <a:off x="307620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240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1" name="Rounded Rectangle 1058"/>
          <p:cNvSpPr/>
          <p:nvPr/>
        </p:nvSpPr>
        <p:spPr>
          <a:xfrm>
            <a:off x="355284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53D5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2" name="Rounded Rectangle 1059"/>
          <p:cNvSpPr/>
          <p:nvPr/>
        </p:nvSpPr>
        <p:spPr>
          <a:xfrm>
            <a:off x="402948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542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3" name="Rounded Rectangle 1060"/>
          <p:cNvSpPr/>
          <p:nvPr/>
        </p:nvSpPr>
        <p:spPr>
          <a:xfrm>
            <a:off x="450648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A4E9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4" name="Rounded Rectangle 1061"/>
          <p:cNvSpPr/>
          <p:nvPr/>
        </p:nvSpPr>
        <p:spPr>
          <a:xfrm>
            <a:off x="498312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5" name="Rounded Rectangle 1062"/>
          <p:cNvSpPr/>
          <p:nvPr/>
        </p:nvSpPr>
        <p:spPr>
          <a:xfrm>
            <a:off x="545976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3547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6" name="Rounded Rectangle 1063"/>
          <p:cNvSpPr/>
          <p:nvPr/>
        </p:nvSpPr>
        <p:spPr>
          <a:xfrm>
            <a:off x="593640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C50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7" name="Rounded Rectangle 1064"/>
          <p:cNvSpPr/>
          <p:nvPr/>
        </p:nvSpPr>
        <p:spPr>
          <a:xfrm>
            <a:off x="6413400" y="38822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D51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8" name="Rounded Rectangle 1065"/>
          <p:cNvSpPr/>
          <p:nvPr/>
        </p:nvSpPr>
        <p:spPr>
          <a:xfrm>
            <a:off x="164592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73F5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9" name="Rounded Rectangle 1066"/>
          <p:cNvSpPr/>
          <p:nvPr/>
        </p:nvSpPr>
        <p:spPr>
          <a:xfrm>
            <a:off x="212256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239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-0.07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0" name="Rounded Rectangle 1067"/>
          <p:cNvSpPr/>
          <p:nvPr/>
        </p:nvSpPr>
        <p:spPr>
          <a:xfrm>
            <a:off x="259956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5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1" name="Rounded Rectangle 1068"/>
          <p:cNvSpPr/>
          <p:nvPr/>
        </p:nvSpPr>
        <p:spPr>
          <a:xfrm>
            <a:off x="307620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53D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2" name="Rounded Rectangle 1069"/>
          <p:cNvSpPr/>
          <p:nvPr/>
        </p:nvSpPr>
        <p:spPr>
          <a:xfrm>
            <a:off x="355284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6A4C4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3" name="Rounded Rectangle 1070"/>
          <p:cNvSpPr/>
          <p:nvPr/>
        </p:nvSpPr>
        <p:spPr>
          <a:xfrm>
            <a:off x="402948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148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0.28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4" name="Rounded Rectangle 1071"/>
          <p:cNvSpPr/>
          <p:nvPr/>
        </p:nvSpPr>
        <p:spPr>
          <a:xfrm>
            <a:off x="450648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5" name="Rounded Rectangle 1072"/>
          <p:cNvSpPr/>
          <p:nvPr/>
        </p:nvSpPr>
        <p:spPr>
          <a:xfrm>
            <a:off x="498312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3547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-0.47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6" name="Rounded Rectangle 1073"/>
          <p:cNvSpPr/>
          <p:nvPr/>
        </p:nvSpPr>
        <p:spPr>
          <a:xfrm>
            <a:off x="545976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7" name="Rounded Rectangle 1074"/>
          <p:cNvSpPr/>
          <p:nvPr/>
        </p:nvSpPr>
        <p:spPr>
          <a:xfrm>
            <a:off x="593640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E3F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8" name="Rounded Rectangle 1075"/>
          <p:cNvSpPr/>
          <p:nvPr/>
        </p:nvSpPr>
        <p:spPr>
          <a:xfrm>
            <a:off x="6413400" y="410256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3E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9" name="Rounded Rectangle 1076"/>
          <p:cNvSpPr/>
          <p:nvPr/>
        </p:nvSpPr>
        <p:spPr>
          <a:xfrm>
            <a:off x="164592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9425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0" name="Rounded Rectangle 1077"/>
          <p:cNvSpPr/>
          <p:nvPr/>
        </p:nvSpPr>
        <p:spPr>
          <a:xfrm>
            <a:off x="212256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B455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1" name="Rounded Rectangle 1078"/>
          <p:cNvSpPr/>
          <p:nvPr/>
        </p:nvSpPr>
        <p:spPr>
          <a:xfrm>
            <a:off x="259956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0393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2" name="Rounded Rectangle 1079"/>
          <p:cNvSpPr/>
          <p:nvPr/>
        </p:nvSpPr>
        <p:spPr>
          <a:xfrm>
            <a:off x="307620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9435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-0.18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3" name="Rounded Rectangle 1080"/>
          <p:cNvSpPr/>
          <p:nvPr/>
        </p:nvSpPr>
        <p:spPr>
          <a:xfrm>
            <a:off x="355284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44A4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0.59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4" name="Rounded Rectangle 1081"/>
          <p:cNvSpPr/>
          <p:nvPr/>
        </p:nvSpPr>
        <p:spPr>
          <a:xfrm>
            <a:off x="402948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5A4B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0.35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5" name="Rounded Rectangle 1082"/>
          <p:cNvSpPr/>
          <p:nvPr/>
        </p:nvSpPr>
        <p:spPr>
          <a:xfrm>
            <a:off x="450648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020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6" name="Rounded Rectangle 1083"/>
          <p:cNvSpPr/>
          <p:nvPr/>
        </p:nvSpPr>
        <p:spPr>
          <a:xfrm>
            <a:off x="498312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C50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7" name="Rounded Rectangle 1084"/>
          <p:cNvSpPr/>
          <p:nvPr/>
        </p:nvSpPr>
        <p:spPr>
          <a:xfrm>
            <a:off x="545976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E3F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8" name="Rounded Rectangle 1085"/>
          <p:cNvSpPr/>
          <p:nvPr/>
        </p:nvSpPr>
        <p:spPr>
          <a:xfrm>
            <a:off x="593640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9" name="Rounded Rectangle 1086"/>
          <p:cNvSpPr/>
          <p:nvPr/>
        </p:nvSpPr>
        <p:spPr>
          <a:xfrm>
            <a:off x="6413400" y="432252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12F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0" name="Rounded Rectangle 1087"/>
          <p:cNvSpPr/>
          <p:nvPr/>
        </p:nvSpPr>
        <p:spPr>
          <a:xfrm>
            <a:off x="164592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B465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-0.21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1" name="Rounded Rectangle 1088"/>
          <p:cNvSpPr/>
          <p:nvPr/>
        </p:nvSpPr>
        <p:spPr>
          <a:xfrm>
            <a:off x="212256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14E6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2" name="Rounded Rectangle 1089"/>
          <p:cNvSpPr/>
          <p:nvPr/>
        </p:nvSpPr>
        <p:spPr>
          <a:xfrm>
            <a:off x="259956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749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0.62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3" name="Rounded Rectangle 1090"/>
          <p:cNvSpPr/>
          <p:nvPr/>
        </p:nvSpPr>
        <p:spPr>
          <a:xfrm>
            <a:off x="307620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404D6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-0.31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4" name="Rounded Rectangle 1091"/>
          <p:cNvSpPr/>
          <p:nvPr/>
        </p:nvSpPr>
        <p:spPr>
          <a:xfrm>
            <a:off x="355284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624C4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0.41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5" name="Rounded Rectangle 1092"/>
          <p:cNvSpPr/>
          <p:nvPr/>
        </p:nvSpPr>
        <p:spPr>
          <a:xfrm>
            <a:off x="402948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E3E4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0.14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6" name="Rounded Rectangle 1093"/>
          <p:cNvSpPr/>
          <p:nvPr/>
        </p:nvSpPr>
        <p:spPr>
          <a:xfrm>
            <a:off x="450648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023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0.93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7" name="Rounded Rectangle 1094"/>
          <p:cNvSpPr/>
          <p:nvPr/>
        </p:nvSpPr>
        <p:spPr>
          <a:xfrm>
            <a:off x="498312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3D519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-0.75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8" name="Rounded Rectangle 1095"/>
          <p:cNvSpPr/>
          <p:nvPr/>
        </p:nvSpPr>
        <p:spPr>
          <a:xfrm>
            <a:off x="545976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3E3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0.76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9" name="Rounded Rectangle 1096"/>
          <p:cNvSpPr/>
          <p:nvPr/>
        </p:nvSpPr>
        <p:spPr>
          <a:xfrm>
            <a:off x="593640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812F3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0.87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0" name="Rounded Rectangle 1097"/>
          <p:cNvSpPr/>
          <p:nvPr/>
        </p:nvSpPr>
        <p:spPr>
          <a:xfrm>
            <a:off x="6413400" y="4542840"/>
            <a:ext cx="438120" cy="181800"/>
          </a:xfrm>
          <a:prstGeom prst="roundRect">
            <a:avLst>
              <a:gd name="adj" fmla="val 12000"/>
            </a:avLst>
          </a:prstGeom>
          <a:solidFill>
            <a:srgbClr val="7F0B29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8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1.00</a:t>
            </a:r>
            <a:endParaRPr lang="fr-FR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1" name="TextBox 1098"/>
          <p:cNvSpPr/>
          <p:nvPr/>
        </p:nvSpPr>
        <p:spPr>
          <a:xfrm rot="18000000">
            <a:off x="1586160" y="4965840"/>
            <a:ext cx="43704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Snowfall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2" name="TextBox 1099"/>
          <p:cNvSpPr/>
          <p:nvPr/>
        </p:nvSpPr>
        <p:spPr>
          <a:xfrm rot="18000000">
            <a:off x="2063160" y="4965840"/>
            <a:ext cx="43704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Rainfall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3" name="TextBox 1100"/>
          <p:cNvSpPr/>
          <p:nvPr/>
        </p:nvSpPr>
        <p:spPr>
          <a:xfrm rot="18000000">
            <a:off x="2539800" y="4965840"/>
            <a:ext cx="43704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Avg Temp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4" name="TextBox 1101"/>
          <p:cNvSpPr/>
          <p:nvPr/>
        </p:nvSpPr>
        <p:spPr>
          <a:xfrm rot="18000000">
            <a:off x="2941920" y="5008680"/>
            <a:ext cx="53676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Wind Speed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5" name="TextBox 1102"/>
          <p:cNvSpPr/>
          <p:nvPr/>
        </p:nvSpPr>
        <p:spPr>
          <a:xfrm rot="18000000">
            <a:off x="3269520" y="5094720"/>
            <a:ext cx="73548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Spec.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6" name="TextBox 1103"/>
          <p:cNvSpPr/>
          <p:nvPr/>
        </p:nvSpPr>
        <p:spPr>
          <a:xfrm rot="18000000">
            <a:off x="3746160" y="5094720"/>
            <a:ext cx="73548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Atm. Radiation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7" name="TextBox 1104"/>
          <p:cNvSpPr/>
          <p:nvPr/>
        </p:nvSpPr>
        <p:spPr>
          <a:xfrm rot="18000000">
            <a:off x="4297680" y="5051880"/>
            <a:ext cx="63612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Visible Rad.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8" name="TextBox 1105"/>
          <p:cNvSpPr/>
          <p:nvPr/>
        </p:nvSpPr>
        <p:spPr>
          <a:xfrm rot="18000000">
            <a:off x="4736520" y="5072760"/>
            <a:ext cx="68580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Rel. Humidity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TextBox 1106"/>
          <p:cNvSpPr/>
          <p:nvPr/>
        </p:nvSpPr>
        <p:spPr>
          <a:xfrm rot="18000000">
            <a:off x="5400360" y="4965840"/>
            <a:ext cx="43704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Total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0" name="TextBox 1107"/>
          <p:cNvSpPr/>
          <p:nvPr/>
        </p:nvSpPr>
        <p:spPr>
          <a:xfrm rot="18000000">
            <a:off x="5727600" y="5051880"/>
            <a:ext cx="63612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Potential ET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1" name="TextBox 1108"/>
          <p:cNvSpPr/>
          <p:nvPr/>
        </p:nvSpPr>
        <p:spPr>
          <a:xfrm rot="18000000">
            <a:off x="6092280" y="5116320"/>
            <a:ext cx="785520" cy="12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800" b="0" u="none" strike="noStrike">
                <a:solidFill>
                  <a:srgbClr val="DCE0EB"/>
                </a:solidFill>
                <a:effectLst/>
                <a:uFillTx/>
                <a:latin typeface="Calibri"/>
              </a:rPr>
              <a:t>Prod / Capacity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2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23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4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5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6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7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8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29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0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1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2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3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4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5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6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7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8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39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0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1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2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3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4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5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6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7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8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49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0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1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2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3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4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5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6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7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8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59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0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1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2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3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4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5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6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7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8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69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0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1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2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3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4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5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6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7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8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79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0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1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2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3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4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5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86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487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04 · MODELING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8" name="TextBox 3"/>
          <p:cNvSpPr/>
          <p:nvPr/>
        </p:nvSpPr>
        <p:spPr>
          <a:xfrm>
            <a:off x="502920" y="658440"/>
            <a:ext cx="10992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Past radiation matters: ACF &amp; PACF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9" name="TextBox 4"/>
          <p:cNvSpPr/>
          <p:nvPr/>
        </p:nvSpPr>
        <p:spPr>
          <a:xfrm>
            <a:off x="502920" y="1404000"/>
            <a:ext cx="10993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Today’s radiation strongly explains tomorrow’s: the signal is concentrated in J‑1, with a last significant value at J‑3. 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0" name="Rounded Rectangle 5"/>
          <p:cNvSpPr/>
          <p:nvPr/>
        </p:nvSpPr>
        <p:spPr>
          <a:xfrm>
            <a:off x="502920" y="1828800"/>
            <a:ext cx="5581440" cy="3925440"/>
          </a:xfrm>
          <a:prstGeom prst="roundRect">
            <a:avLst>
              <a:gd name="adj" fmla="val 1860"/>
            </a:avLst>
          </a:prstGeom>
          <a:solidFill>
            <a:srgbClr val="2635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1" name="Rounded Rectangle 7"/>
          <p:cNvSpPr/>
          <p:nvPr/>
        </p:nvSpPr>
        <p:spPr>
          <a:xfrm>
            <a:off x="6319440" y="1828800"/>
            <a:ext cx="5581440" cy="3925440"/>
          </a:xfrm>
          <a:prstGeom prst="roundRect">
            <a:avLst>
              <a:gd name="adj" fmla="val 1860"/>
            </a:avLst>
          </a:prstGeom>
          <a:solidFill>
            <a:srgbClr val="2635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92" name="Connector 9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493" name="TextBox 10"/>
          <p:cNvSpPr/>
          <p:nvPr/>
        </p:nvSpPr>
        <p:spPr>
          <a:xfrm>
            <a:off x="457200" y="6172200"/>
            <a:ext cx="8222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TextBox 11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06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5" name=""/>
          <p:cNvPicPr/>
          <p:nvPr/>
        </p:nvPicPr>
        <p:blipFill>
          <a:blip r:embed="rId1"/>
          <a:stretch/>
        </p:blipFill>
        <p:spPr>
          <a:xfrm>
            <a:off x="538920" y="1866600"/>
            <a:ext cx="5503680" cy="3865680"/>
          </a:xfrm>
          <a:prstGeom prst="rect">
            <a:avLst/>
          </a:prstGeom>
          <a:noFill/>
          <a:ln w="38160">
            <a:noFill/>
          </a:ln>
        </p:spPr>
      </p:pic>
      <p:pic>
        <p:nvPicPr>
          <p:cNvPr id="1496" name=""/>
          <p:cNvPicPr/>
          <p:nvPr/>
        </p:nvPicPr>
        <p:blipFill>
          <a:blip r:embed="rId2"/>
          <a:stretch/>
        </p:blipFill>
        <p:spPr>
          <a:xfrm>
            <a:off x="6354000" y="1868400"/>
            <a:ext cx="5503680" cy="386208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498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499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0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1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2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3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4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5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6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7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8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09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0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1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2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3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4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5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6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7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8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19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0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1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2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3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4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5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6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7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8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29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0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1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2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3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4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5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6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7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8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39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0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1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2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3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4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5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6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7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8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49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0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1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2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3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4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5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6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7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8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59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0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61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562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05 · MODEL CHOICE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TextBox 3"/>
          <p:cNvSpPr/>
          <p:nvPr/>
        </p:nvSpPr>
        <p:spPr>
          <a:xfrm>
            <a:off x="502920" y="658440"/>
            <a:ext cx="1099260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From baseline to final model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4" name="TextBox 4"/>
          <p:cNvSpPr/>
          <p:nvPr/>
        </p:nvSpPr>
        <p:spPr>
          <a:xfrm>
            <a:off x="502920" y="1404000"/>
            <a:ext cx="10993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8 models evaluated, from the naive baseline to XGBoost, scored on unseen 2024-2026 data. Ridge chosen as final model.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65" name="Connector 5"/>
          <p:cNvCxnSpPr/>
          <p:nvPr/>
        </p:nvCxnSpPr>
        <p:spPr>
          <a:xfrm>
            <a:off x="708480" y="2221920"/>
            <a:ext cx="6480" cy="3151800"/>
          </a:xfrm>
          <a:prstGeom prst="straightConnector1">
            <a:avLst/>
          </a:prstGeom>
          <a:ln w="15875">
            <a:solidFill>
              <a:srgbClr val="3D4B72"/>
            </a:solidFill>
            <a:round/>
          </a:ln>
        </p:spPr>
      </p:cxnSp>
      <p:sp>
        <p:nvSpPr>
          <p:cNvPr id="1566" name="Oval 6"/>
          <p:cNvSpPr/>
          <p:nvPr/>
        </p:nvSpPr>
        <p:spPr>
          <a:xfrm>
            <a:off x="502920" y="2016360"/>
            <a:ext cx="405000" cy="4050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7" name="TextBox 7"/>
          <p:cNvSpPr/>
          <p:nvPr/>
        </p:nvSpPr>
        <p:spPr>
          <a:xfrm>
            <a:off x="502920" y="2016360"/>
            <a:ext cx="40500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8" name="TextBox 8"/>
          <p:cNvSpPr/>
          <p:nvPr/>
        </p:nvSpPr>
        <p:spPr>
          <a:xfrm>
            <a:off x="1097280" y="1957680"/>
            <a:ext cx="379908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Linear regression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9" name="TextBox 9"/>
          <p:cNvSpPr/>
          <p:nvPr/>
        </p:nvSpPr>
        <p:spPr>
          <a:xfrm>
            <a:off x="1097280" y="2250000"/>
            <a:ext cx="37990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Baseline run, no feature engineering. R² = 0.761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0" name="Oval 10"/>
          <p:cNvSpPr/>
          <p:nvPr/>
        </p:nvSpPr>
        <p:spPr>
          <a:xfrm>
            <a:off x="502920" y="2802600"/>
            <a:ext cx="405000" cy="4050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1" name="TextBox 11"/>
          <p:cNvSpPr/>
          <p:nvPr/>
        </p:nvSpPr>
        <p:spPr>
          <a:xfrm>
            <a:off x="502920" y="2802600"/>
            <a:ext cx="40500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2" name="TextBox 12"/>
          <p:cNvSpPr/>
          <p:nvPr/>
        </p:nvSpPr>
        <p:spPr>
          <a:xfrm>
            <a:off x="1097280" y="2744280"/>
            <a:ext cx="379908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Add lags &amp; rolling means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3" name="TextBox 13"/>
          <p:cNvSpPr/>
          <p:nvPr/>
        </p:nvSpPr>
        <p:spPr>
          <a:xfrm>
            <a:off x="1097280" y="3036240"/>
            <a:ext cx="37990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  <a:ea typeface="Noto Sans CJK SC"/>
              </a:rPr>
              <a:t>J-1, J-2, J-3 plus rolling means. R² = 0.778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4" name="Oval 14"/>
          <p:cNvSpPr/>
          <p:nvPr/>
        </p:nvSpPr>
        <p:spPr>
          <a:xfrm>
            <a:off x="502920" y="3589200"/>
            <a:ext cx="405000" cy="4050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5" name="TextBox 15"/>
          <p:cNvSpPr/>
          <p:nvPr/>
        </p:nvSpPr>
        <p:spPr>
          <a:xfrm>
            <a:off x="502920" y="3589200"/>
            <a:ext cx="40500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6" name="TextBox 16"/>
          <p:cNvSpPr/>
          <p:nvPr/>
        </p:nvSpPr>
        <p:spPr>
          <a:xfrm>
            <a:off x="1097280" y="3530520"/>
            <a:ext cx="37990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Add seasonality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7" name="TextBox 17"/>
          <p:cNvSpPr/>
          <p:nvPr/>
        </p:nvSpPr>
        <p:spPr>
          <a:xfrm>
            <a:off x="1097280" y="3822840"/>
            <a:ext cx="3799080" cy="1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Calendar encodings (sin/cos of day of year). R² = 0.792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8" name="Oval 18"/>
          <p:cNvSpPr/>
          <p:nvPr/>
        </p:nvSpPr>
        <p:spPr>
          <a:xfrm>
            <a:off x="502920" y="4375440"/>
            <a:ext cx="405000" cy="405000"/>
          </a:xfrm>
          <a:prstGeom prst="ellipse">
            <a:avLst/>
          </a:prstGeom>
          <a:solidFill>
            <a:srgbClr val="4338C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79" name="TextBox 19"/>
          <p:cNvSpPr/>
          <p:nvPr/>
        </p:nvSpPr>
        <p:spPr>
          <a:xfrm>
            <a:off x="502920" y="4375440"/>
            <a:ext cx="40500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4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0" name="TextBox 20"/>
          <p:cNvSpPr/>
          <p:nvPr/>
        </p:nvSpPr>
        <p:spPr>
          <a:xfrm>
            <a:off x="1097280" y="4317120"/>
            <a:ext cx="379908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GridSearchCV x TimeSeriesSplit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1" name="TextBox 21"/>
          <p:cNvSpPr/>
          <p:nvPr/>
        </p:nvSpPr>
        <p:spPr>
          <a:xfrm>
            <a:off x="1097280" y="4609080"/>
            <a:ext cx="379908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Lasso, Ridge, RF, XGBoost tuned on 5 expanding-window folds.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2" name="Oval 22"/>
          <p:cNvSpPr/>
          <p:nvPr/>
        </p:nvSpPr>
        <p:spPr>
          <a:xfrm>
            <a:off x="502920" y="5161680"/>
            <a:ext cx="405000" cy="40500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3" name="TextBox 23"/>
          <p:cNvSpPr/>
          <p:nvPr/>
        </p:nvSpPr>
        <p:spPr>
          <a:xfrm>
            <a:off x="502920" y="5161680"/>
            <a:ext cx="405000" cy="40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5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4" name="TextBox 24"/>
          <p:cNvSpPr/>
          <p:nvPr/>
        </p:nvSpPr>
        <p:spPr>
          <a:xfrm>
            <a:off x="1097280" y="5103360"/>
            <a:ext cx="379908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818CF8"/>
                </a:solidFill>
                <a:effectLst/>
                <a:uFillTx/>
                <a:latin typeface="Roboto"/>
              </a:rPr>
              <a:t>Ridge (L2) selected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5" name="TextBox 25"/>
          <p:cNvSpPr/>
          <p:nvPr/>
        </p:nvSpPr>
        <p:spPr>
          <a:xfrm>
            <a:off x="1097280" y="5395320"/>
            <a:ext cx="3799080" cy="32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−15% error vs baseline (RMSE 437 → 371), with a far smaller train-test gap than RF/XGBoost.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86" name="Table 26"/>
          <p:cNvGraphicFramePr/>
          <p:nvPr/>
        </p:nvGraphicFramePr>
        <p:xfrm>
          <a:off x="5222880" y="1828800"/>
          <a:ext cx="6465600" cy="3981240"/>
        </p:xfrm>
        <a:graphic>
          <a:graphicData uri="http://schemas.openxmlformats.org/drawingml/2006/table">
            <a:tbl>
              <a:tblPr/>
              <a:tblGrid>
                <a:gridCol w="2974320"/>
                <a:gridCol w="1163880"/>
                <a:gridCol w="1163880"/>
                <a:gridCol w="1163880"/>
              </a:tblGrid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Model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MAE</a:t>
                      </a:r>
                      <a:br>
                        <a:rPr sz="1150"/>
                      </a:b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(J/cm²)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  <a:spcBef>
                          <a:spcPts val="1191"/>
                        </a:spcBef>
                        <a:spcAft>
                          <a:spcPts val="992"/>
                        </a:spcAft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  <a:ea typeface="Noto Sans CJK SC"/>
                        </a:rPr>
                        <a:t>RMSE (J/cm²)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Naive baseline (persistence)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0.708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316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437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no feature engineering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0.761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301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395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with lags (J-1/J-2/J-3)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0.778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288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381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LR, lags + seasonality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0.792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279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Lasso (L1)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0.788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282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372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Ridge (L2), FINAL MODEL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0.789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282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371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Random Forest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0.800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274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  <a:tr h="43668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XGBoost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0.801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272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0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360</a:t>
                      </a:r>
                      <a:endParaRPr lang="fr-FR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</a:tbl>
          </a:graphicData>
        </a:graphic>
      </p:graphicFrame>
      <p:cxnSp>
        <p:nvCxnSpPr>
          <p:cNvPr id="1587" name="Connector 27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588" name="TextBox 28"/>
          <p:cNvSpPr/>
          <p:nvPr/>
        </p:nvSpPr>
        <p:spPr>
          <a:xfrm>
            <a:off x="457200" y="6172200"/>
            <a:ext cx="8222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9" name="TextBox 29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07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0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591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2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3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4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5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6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7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8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599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0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1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2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3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4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5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6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7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8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09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0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1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2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3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4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5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6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7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8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19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0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1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2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3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4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5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6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7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8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29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0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1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2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3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4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5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6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7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8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39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0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1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2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3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4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5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6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7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8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49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0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1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2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3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54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655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05 · MODEL CHOICE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6" name="TextBox 3"/>
          <p:cNvSpPr/>
          <p:nvPr/>
        </p:nvSpPr>
        <p:spPr>
          <a:xfrm>
            <a:off x="502920" y="658440"/>
            <a:ext cx="1099260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Why Ridge, not Random Forest or XGBoost?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7" name="TextBox 4"/>
          <p:cNvSpPr/>
          <p:nvPr/>
        </p:nvSpPr>
        <p:spPr>
          <a:xfrm>
            <a:off x="502920" y="1404000"/>
            <a:ext cx="1099368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5-fold cross-validation inside the training period (2020-2023): RF and XGBoost score the same test R² as Ridge (within 0.01), with a much wider train/test gap.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58" name="Table 5"/>
          <p:cNvGraphicFramePr/>
          <p:nvPr/>
        </p:nvGraphicFramePr>
        <p:xfrm>
          <a:off x="502920" y="2011680"/>
          <a:ext cx="7314120" cy="1828800"/>
        </p:xfrm>
        <a:graphic>
          <a:graphicData uri="http://schemas.openxmlformats.org/drawingml/2006/table">
            <a:tbl>
              <a:tblPr/>
              <a:tblGrid>
                <a:gridCol w="2486880"/>
                <a:gridCol w="1609200"/>
                <a:gridCol w="1609200"/>
                <a:gridCol w="1609200"/>
              </a:tblGrid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Model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 train (CV)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R² test (CV)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Train-test gap</a:t>
                      </a:r>
                      <a:endParaRPr lang="fr-FR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82240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Ridge, chosen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0.767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0.742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1" u="none" strike="noStrike">
                          <a:solidFill>
                            <a:srgbClr val="818CF8"/>
                          </a:solidFill>
                          <a:effectLst/>
                          <a:uFillTx/>
                          <a:latin typeface="Roboto"/>
                        </a:rPr>
                        <a:t>0.025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303F70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Random Forest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0.855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0.740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0.115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02C4D"/>
                    </a:solidFill>
                  </a:tcPr>
                </a:tc>
              </a:tr>
              <a:tr h="457200">
                <a:tc>
                  <a:txBody>
                    <a:bodyPr lIns="137160" tIns="68400" rIns="137160" bIns="6840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Roboto"/>
                        </a:rPr>
                        <a:t>XGBoost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0.818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0.748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  <a:tc>
                  <a:txBody>
                    <a:bodyPr lIns="137160" tIns="68400" rIns="137160" bIns="68400" anchor="ctr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50" b="0" u="none" strike="noStrike">
                          <a:solidFill>
                            <a:srgbClr val="9AA5C0"/>
                          </a:solidFill>
                          <a:effectLst/>
                          <a:uFillTx/>
                          <a:latin typeface="Roboto"/>
                        </a:rPr>
                        <a:t>0.069</a:t>
                      </a:r>
                      <a:endParaRPr lang="fr-FR" sz="11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37160" marR="137160" marT="68400" marB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263659"/>
                    </a:solidFill>
                  </a:tcPr>
                </a:tc>
              </a:tr>
            </a:tbl>
          </a:graphicData>
        </a:graphic>
      </p:graphicFrame>
      <p:sp>
        <p:nvSpPr>
          <p:cNvPr id="1659" name="Rounded Rectangle 6"/>
          <p:cNvSpPr/>
          <p:nvPr/>
        </p:nvSpPr>
        <p:spPr>
          <a:xfrm>
            <a:off x="8047800" y="2011680"/>
            <a:ext cx="3634920" cy="1822320"/>
          </a:xfrm>
          <a:prstGeom prst="roundRect">
            <a:avLst>
              <a:gd name="adj" fmla="val 4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0" name="TextBox 7"/>
          <p:cNvSpPr/>
          <p:nvPr/>
        </p:nvSpPr>
        <p:spPr>
          <a:xfrm>
            <a:off x="8276400" y="2240280"/>
            <a:ext cx="3177720" cy="95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Ridge stays stable (train-test gap of about 0.02). RF and XGBoost score the same in test (within 0.01) with a 3 to 5x larger gap: we prioritize robustness.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1" name="Rounded Rectangle 8"/>
          <p:cNvSpPr/>
          <p:nvPr/>
        </p:nvSpPr>
        <p:spPr>
          <a:xfrm>
            <a:off x="502920" y="4023360"/>
            <a:ext cx="11179800" cy="1730880"/>
          </a:xfrm>
          <a:prstGeom prst="roundRect">
            <a:avLst>
              <a:gd name="adj" fmla="val 4211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2" name="TextBox 9"/>
          <p:cNvSpPr/>
          <p:nvPr/>
        </p:nvSpPr>
        <p:spPr>
          <a:xfrm>
            <a:off x="731520" y="4206240"/>
            <a:ext cx="10722600" cy="39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physical limit, corrected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3" name="TextBox 10"/>
          <p:cNvSpPr/>
          <p:nvPr/>
        </p:nvSpPr>
        <p:spPr>
          <a:xfrm>
            <a:off x="731520" y="4640760"/>
            <a:ext cx="1072260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30000"/>
              </a:lnSpc>
            </a:pPr>
            <a:r>
              <a:rPr lang="en-US" sz="12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Ridge, like any linear model, has no awareness that radiation can't be negative: it can predict slightly below 0 on low-radiation winter days. Predictions are therefore clipped to 0 (np.clip) before display and export, a correction that can only reduce error, never increase it.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664" name="Connector 11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665" name="TextBox 12"/>
          <p:cNvSpPr/>
          <p:nvPr/>
        </p:nvSpPr>
        <p:spPr>
          <a:xfrm>
            <a:off x="457200" y="6172200"/>
            <a:ext cx="8222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6" name="TextBox 13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08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7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668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69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0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1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2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3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4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5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6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7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8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79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0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1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2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3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4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5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6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7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8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89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0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1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2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3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4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5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6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7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8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699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0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1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2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3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4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5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6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7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8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09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0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1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2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3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4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5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6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7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8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19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0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1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2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3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4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5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6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7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8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29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0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31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732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06 · RESULTS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3" name="TextBox 3"/>
          <p:cNvSpPr/>
          <p:nvPr/>
        </p:nvSpPr>
        <p:spPr>
          <a:xfrm>
            <a:off x="502920" y="658440"/>
            <a:ext cx="1099260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Forecast vs reality: final model (Ridge)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4" name="TextBox 4"/>
          <p:cNvSpPr/>
          <p:nvPr/>
        </p:nvSpPr>
        <p:spPr>
          <a:xfrm>
            <a:off x="502920" y="1404000"/>
            <a:ext cx="109936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2025 predicted vs. actual radiation, a representative year from the 2021-2026 out-of-fold evaluation (22,150 predictions).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35" name="Connector 9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736" name="TextBox 10"/>
          <p:cNvSpPr/>
          <p:nvPr/>
        </p:nvSpPr>
        <p:spPr>
          <a:xfrm>
            <a:off x="457200" y="6230160"/>
            <a:ext cx="82220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7" name="TextBox 11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09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8" name="Rounded Rectangle 964"/>
          <p:cNvSpPr/>
          <p:nvPr/>
        </p:nvSpPr>
        <p:spPr>
          <a:xfrm>
            <a:off x="502920" y="1828800"/>
            <a:ext cx="11011320" cy="3925440"/>
          </a:xfrm>
          <a:prstGeom prst="roundRect">
            <a:avLst>
              <a:gd name="adj" fmla="val 1861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739" name=""/>
          <p:cNvPicPr/>
          <p:nvPr/>
        </p:nvPicPr>
        <p:blipFill>
          <a:blip r:embed="rId1"/>
          <a:stretch/>
        </p:blipFill>
        <p:spPr>
          <a:xfrm>
            <a:off x="609840" y="2052000"/>
            <a:ext cx="10773720" cy="350964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Rectangle 2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741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2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3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4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5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6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7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8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49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0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1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2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3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4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5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6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7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8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59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0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1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2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3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4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5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6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7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8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69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0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1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2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3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4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5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6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7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8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79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0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1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2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3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4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5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6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7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8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89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0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1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2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3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4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5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6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7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8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799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0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1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2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3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04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805" name="TextBox 2"/>
          <p:cNvSpPr/>
          <p:nvPr/>
        </p:nvSpPr>
        <p:spPr>
          <a:xfrm>
            <a:off x="502920" y="463320"/>
            <a:ext cx="799344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06 · RESULTS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6" name="TextBox 3"/>
          <p:cNvSpPr/>
          <p:nvPr/>
        </p:nvSpPr>
        <p:spPr>
          <a:xfrm>
            <a:off x="502920" y="658440"/>
            <a:ext cx="1099260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Forecast vs reality: residual analysis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7" name="TextBox 4"/>
          <p:cNvSpPr/>
          <p:nvPr/>
        </p:nvSpPr>
        <p:spPr>
          <a:xfrm>
            <a:off x="502920" y="1404000"/>
            <a:ext cx="10993680" cy="39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Residuals over the full 2021-2026 test period (predicted minus actual, national daily mean): errors stay centered near zero. They are larger in spring and summer in absolute terms, but summer is the best-predicted season in relative terms (21% vs 32% in winter).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08" name="Connector 9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809" name="TextBox 10"/>
          <p:cNvSpPr/>
          <p:nvPr/>
        </p:nvSpPr>
        <p:spPr>
          <a:xfrm>
            <a:off x="457200" y="6231600"/>
            <a:ext cx="82220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0" name="TextBox 11"/>
          <p:cNvSpPr/>
          <p:nvPr/>
        </p:nvSpPr>
        <p:spPr>
          <a:xfrm>
            <a:off x="11274480" y="6231600"/>
            <a:ext cx="449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10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1" name="Rounded Rectangle 964"/>
          <p:cNvSpPr/>
          <p:nvPr/>
        </p:nvSpPr>
        <p:spPr>
          <a:xfrm>
            <a:off x="502920" y="1900800"/>
            <a:ext cx="11074680" cy="3956400"/>
          </a:xfrm>
          <a:prstGeom prst="roundRect">
            <a:avLst>
              <a:gd name="adj" fmla="val 1846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12" name=""/>
          <p:cNvPicPr/>
          <p:nvPr/>
        </p:nvPicPr>
        <p:blipFill>
          <a:blip r:embed="rId1"/>
          <a:stretch/>
        </p:blipFill>
        <p:spPr>
          <a:xfrm>
            <a:off x="646920" y="1973520"/>
            <a:ext cx="10769040" cy="3828600"/>
          </a:xfrm>
          <a:prstGeom prst="rect">
            <a:avLst/>
          </a:prstGeom>
          <a:noFill/>
          <a:ln w="3816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3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814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5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6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7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8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19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0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1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2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3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4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5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6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7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8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29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0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1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2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3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4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5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6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7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8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39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0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1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2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3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4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5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6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7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8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49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0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1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2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3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4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5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6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7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8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59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0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1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2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3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4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5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6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7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8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69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0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1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2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3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4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5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6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877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878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07 · GOVERNANCE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9" name="TextBox 3"/>
          <p:cNvSpPr/>
          <p:nvPr/>
        </p:nvSpPr>
        <p:spPr>
          <a:xfrm>
            <a:off x="502920" y="658440"/>
            <a:ext cx="1099260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Governance, compliance &amp; monitoring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0" name="TextBox 4"/>
          <p:cNvSpPr/>
          <p:nvPr/>
        </p:nvSpPr>
        <p:spPr>
          <a:xfrm>
            <a:off x="502920" y="1404000"/>
            <a:ext cx="1099368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Public, aggregated data, open licences, and how the model would be followed in production.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1" name="Gov card 1"/>
          <p:cNvSpPr/>
          <p:nvPr/>
        </p:nvSpPr>
        <p:spPr>
          <a:xfrm>
            <a:off x="502920" y="1737360"/>
            <a:ext cx="5466600" cy="1909800"/>
          </a:xfrm>
          <a:prstGeom prst="roundRect">
            <a:avLst>
              <a:gd name="adj" fmla="val 3828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2" name="Gov icon 1"/>
          <p:cNvSpPr/>
          <p:nvPr/>
        </p:nvSpPr>
        <p:spPr>
          <a:xfrm>
            <a:off x="777240" y="1938600"/>
            <a:ext cx="382680" cy="382680"/>
          </a:xfrm>
          <a:prstGeom prst="ellipse">
            <a:avLst/>
          </a:prstGeom>
          <a:solidFill>
            <a:srgbClr val="4338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1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3" name="Gov title 1"/>
          <p:cNvSpPr/>
          <p:nvPr/>
        </p:nvSpPr>
        <p:spPr>
          <a:xfrm>
            <a:off x="1307520" y="1938600"/>
            <a:ext cx="4387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GDPR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4" name="Gov text 1"/>
          <p:cNvSpPr/>
          <p:nvPr/>
        </p:nvSpPr>
        <p:spPr>
          <a:xfrm>
            <a:off x="777240" y="2468880"/>
            <a:ext cx="493632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8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No personal data: weather, production and capacity are public and aggregated by region, and the dashboard collects no user data.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8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Even at the 8 km grid scale, weather data stays non-personal. GDPR would only apply with individual households’ meter data, outside the project’s scope.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5" name="Gov card 2"/>
          <p:cNvSpPr/>
          <p:nvPr/>
        </p:nvSpPr>
        <p:spPr>
          <a:xfrm>
            <a:off x="6217920" y="1737360"/>
            <a:ext cx="5466600" cy="1909800"/>
          </a:xfrm>
          <a:prstGeom prst="roundRect">
            <a:avLst>
              <a:gd name="adj" fmla="val 3828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6" name="Gov icon 2"/>
          <p:cNvSpPr/>
          <p:nvPr/>
        </p:nvSpPr>
        <p:spPr>
          <a:xfrm>
            <a:off x="6492240" y="1938600"/>
            <a:ext cx="382680" cy="382680"/>
          </a:xfrm>
          <a:prstGeom prst="ellipse">
            <a:avLst/>
          </a:prstGeom>
          <a:solidFill>
            <a:srgbClr val="4338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2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7" name="Gov title 2"/>
          <p:cNvSpPr/>
          <p:nvPr/>
        </p:nvSpPr>
        <p:spPr>
          <a:xfrm>
            <a:off x="7022520" y="1938600"/>
            <a:ext cx="4387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Data licences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8" name="Gov text 2"/>
          <p:cNvSpPr/>
          <p:nvPr/>
        </p:nvSpPr>
        <p:spPr>
          <a:xfrm>
            <a:off x="6492240" y="2468880"/>
            <a:ext cx="493632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8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Etalab Open Licence (Météo-France, SDES), RTE eCO2mix terms of use and ODbL (OpenStreetMap): all sources credited in the README.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8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Copies of the raw files kept, since Météo-France changed its file layout after our download.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9" name="Gov card 3"/>
          <p:cNvSpPr/>
          <p:nvPr/>
        </p:nvSpPr>
        <p:spPr>
          <a:xfrm>
            <a:off x="502920" y="3840480"/>
            <a:ext cx="5466600" cy="1909800"/>
          </a:xfrm>
          <a:prstGeom prst="roundRect">
            <a:avLst>
              <a:gd name="adj" fmla="val 3828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0" name="Gov icon 3"/>
          <p:cNvSpPr/>
          <p:nvPr/>
        </p:nvSpPr>
        <p:spPr>
          <a:xfrm>
            <a:off x="777240" y="4041720"/>
            <a:ext cx="382680" cy="382680"/>
          </a:xfrm>
          <a:prstGeom prst="ellipse">
            <a:avLst/>
          </a:prstGeom>
          <a:solidFill>
            <a:srgbClr val="4338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3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1" name="Gov title 3"/>
          <p:cNvSpPr/>
          <p:nvPr/>
        </p:nvSpPr>
        <p:spPr>
          <a:xfrm>
            <a:off x="1307520" y="4041720"/>
            <a:ext cx="4387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Technology choices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2" name="Gov text 3"/>
          <p:cNvSpPr/>
          <p:nvPr/>
        </p:nvSpPr>
        <p:spPr>
          <a:xfrm>
            <a:off x="777240" y="4572000"/>
            <a:ext cx="493632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8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Python stack (pandas, scikit-learn, Streamlit). Raw Météo-France files strained memory: chunked loading, and only 2020→2026 kept.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8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At larger scale (2010-2019, or the 8 km grid), Polars or DuckDB would be needed. Docker and Hugging Face give a free, reproducible deployment.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3" name="Gov card 4"/>
          <p:cNvSpPr/>
          <p:nvPr/>
        </p:nvSpPr>
        <p:spPr>
          <a:xfrm>
            <a:off x="6217920" y="3840480"/>
            <a:ext cx="5466600" cy="1909800"/>
          </a:xfrm>
          <a:prstGeom prst="roundRect">
            <a:avLst>
              <a:gd name="adj" fmla="val 3828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4" name="Gov icon 4"/>
          <p:cNvSpPr/>
          <p:nvPr/>
        </p:nvSpPr>
        <p:spPr>
          <a:xfrm>
            <a:off x="6492240" y="4041720"/>
            <a:ext cx="382680" cy="382680"/>
          </a:xfrm>
          <a:prstGeom prst="ellipse">
            <a:avLst/>
          </a:prstGeom>
          <a:solidFill>
            <a:srgbClr val="4338C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4</a:t>
            </a:r>
            <a:endParaRPr lang="fr-F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5" name="Gov title 4"/>
          <p:cNvSpPr/>
          <p:nvPr/>
        </p:nvSpPr>
        <p:spPr>
          <a:xfrm>
            <a:off x="7022520" y="4041720"/>
            <a:ext cx="4387680" cy="38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lang="en-US" sz="14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Production monitoring</a:t>
            </a:r>
            <a:endParaRPr lang="fr-FR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6" name="Gov text 4"/>
          <p:cNvSpPr/>
          <p:nvPr/>
        </p:nvSpPr>
        <p:spPr>
          <a:xfrm>
            <a:off x="6492240" y="4572000"/>
            <a:ext cx="493632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457200">
              <a:lnSpc>
                <a:spcPct val="118000"/>
              </a:lnSpc>
              <a:spcAft>
                <a:spcPts val="499"/>
              </a:spcAft>
            </a:pPr>
            <a:r>
              <a:rPr lang="en-US" sz="110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Weekly MAE compared with the naive baseline, with an alert if the error drifts above a set threshold.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18000"/>
              </a:lnSpc>
            </a:pPr>
            <a:r>
              <a:rPr lang="en-US" sz="11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Quarterly retraining, data-drift checks, and versioned code and data (Git).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97" name="Connector 23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898" name="TextBox 24"/>
          <p:cNvSpPr/>
          <p:nvPr/>
        </p:nvSpPr>
        <p:spPr>
          <a:xfrm>
            <a:off x="457200" y="6172200"/>
            <a:ext cx="8222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9" name="TextBox 25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11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0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901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2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3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4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5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6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7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8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09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0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1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2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3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4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5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6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7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8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19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0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1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2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3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4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5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6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7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8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29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0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1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2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3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4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5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6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7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8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39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0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1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2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3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4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5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6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7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8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49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0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1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2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3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4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5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6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7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8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59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0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1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2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3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64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1965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07 · LIMITATIONS &amp; NEXT STEPS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6" name="TextBox 3"/>
          <p:cNvSpPr/>
          <p:nvPr/>
        </p:nvSpPr>
        <p:spPr>
          <a:xfrm>
            <a:off x="502920" y="658440"/>
            <a:ext cx="10992600" cy="67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What's left to improve</a:t>
            </a:r>
            <a:endParaRPr lang="fr-F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7" name="TextBox 4"/>
          <p:cNvSpPr/>
          <p:nvPr/>
        </p:nvSpPr>
        <p:spPr>
          <a:xfrm>
            <a:off x="502920" y="1404000"/>
            <a:ext cx="109936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The current model's known limitations, and the paths considered to go further.</a:t>
            </a:r>
            <a:endParaRPr lang="fr-FR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8" name="TextBox 5"/>
          <p:cNvSpPr/>
          <p:nvPr/>
        </p:nvSpPr>
        <p:spPr>
          <a:xfrm>
            <a:off x="502920" y="1737360"/>
            <a:ext cx="5495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LIMITATIONS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9" name="TextBox 6"/>
          <p:cNvSpPr/>
          <p:nvPr/>
        </p:nvSpPr>
        <p:spPr>
          <a:xfrm>
            <a:off x="6187320" y="1737360"/>
            <a:ext cx="5495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F4F6FB"/>
                </a:solidFill>
                <a:effectLst/>
                <a:uFillTx/>
                <a:latin typeface="Roboto"/>
              </a:rPr>
              <a:t>NEXT STEPS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0" name="Rounded Rectangle 7"/>
          <p:cNvSpPr/>
          <p:nvPr/>
        </p:nvSpPr>
        <p:spPr>
          <a:xfrm>
            <a:off x="502920" y="2194560"/>
            <a:ext cx="5495040" cy="10436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1" name="TextBox 8"/>
          <p:cNvSpPr/>
          <p:nvPr/>
        </p:nvSpPr>
        <p:spPr>
          <a:xfrm>
            <a:off x="685800" y="2331720"/>
            <a:ext cx="51292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A single horizon (J+1)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2" name="TextBox 9"/>
          <p:cNvSpPr/>
          <p:nvPr/>
        </p:nvSpPr>
        <p:spPr>
          <a:xfrm>
            <a:off x="685800" y="2674800"/>
            <a:ext cx="51292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No J+2/J+7 forecast for longer-term planning.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3" name="Rounded Rectangle 10"/>
          <p:cNvSpPr/>
          <p:nvPr/>
        </p:nvSpPr>
        <p:spPr>
          <a:xfrm>
            <a:off x="502920" y="3381840"/>
            <a:ext cx="5495040" cy="10436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4" name="TextBox 11"/>
          <p:cNvSpPr/>
          <p:nvPr/>
        </p:nvSpPr>
        <p:spPr>
          <a:xfrm>
            <a:off x="685800" y="3519000"/>
            <a:ext cx="5129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Observed weather, not forecasts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5" name="TextBox 12"/>
          <p:cNvSpPr/>
          <p:nvPr/>
        </p:nvSpPr>
        <p:spPr>
          <a:xfrm>
            <a:off x="685800" y="3861720"/>
            <a:ext cx="512928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The model uses measured weather for today; a real J+1 forecast would need Météo-France forecast data.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6" name="Rounded Rectangle 13"/>
          <p:cNvSpPr/>
          <p:nvPr/>
        </p:nvSpPr>
        <p:spPr>
          <a:xfrm>
            <a:off x="502920" y="4568760"/>
            <a:ext cx="5495040" cy="10436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77" name="TextBox 14"/>
          <p:cNvSpPr/>
          <p:nvPr/>
        </p:nvSpPr>
        <p:spPr>
          <a:xfrm>
            <a:off x="685800" y="4705920"/>
            <a:ext cx="5129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Radiation as a proxy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8" name="TextBox 15"/>
          <p:cNvSpPr/>
          <p:nvPr/>
        </p:nvSpPr>
        <p:spPr>
          <a:xfrm>
            <a:off x="685800" y="5049000"/>
            <a:ext cx="512928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Production is a theoretical 20% conversion per m², not RTE's actual output.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9" name="Rounded Rectangle 16"/>
          <p:cNvSpPr/>
          <p:nvPr/>
        </p:nvSpPr>
        <p:spPr>
          <a:xfrm>
            <a:off x="6187320" y="2194560"/>
            <a:ext cx="5495040" cy="10436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0" name="TextBox 17"/>
          <p:cNvSpPr/>
          <p:nvPr/>
        </p:nvSpPr>
        <p:spPr>
          <a:xfrm>
            <a:off x="6370200" y="2331720"/>
            <a:ext cx="5129280" cy="31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Extended forecasts, J+2/J+3/J+7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1" name="TextBox 18"/>
          <p:cNvSpPr/>
          <p:nvPr/>
        </p:nvSpPr>
        <p:spPr>
          <a:xfrm>
            <a:off x="6370200" y="2674800"/>
            <a:ext cx="512928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For longer-term energy planning.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2" name="Rounded Rectangle 19"/>
          <p:cNvSpPr/>
          <p:nvPr/>
        </p:nvSpPr>
        <p:spPr>
          <a:xfrm>
            <a:off x="6187320" y="3381840"/>
            <a:ext cx="5495040" cy="10436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3" name="TextBox 20"/>
          <p:cNvSpPr/>
          <p:nvPr/>
        </p:nvSpPr>
        <p:spPr>
          <a:xfrm>
            <a:off x="6370200" y="3519000"/>
            <a:ext cx="5129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Use weather forecasts as inputs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4" name="TextBox 21"/>
          <p:cNvSpPr/>
          <p:nvPr/>
        </p:nvSpPr>
        <p:spPr>
          <a:xfrm>
            <a:off x="6370200" y="3861720"/>
            <a:ext cx="5129280" cy="17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Move from a retrospective model to an operational forecast.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5" name="Rounded Rectangle 22"/>
          <p:cNvSpPr/>
          <p:nvPr/>
        </p:nvSpPr>
        <p:spPr>
          <a:xfrm>
            <a:off x="6187320" y="4568760"/>
            <a:ext cx="5495040" cy="1043640"/>
          </a:xfrm>
          <a:prstGeom prst="roundRect">
            <a:avLst>
              <a:gd name="adj" fmla="val 6000"/>
            </a:avLst>
          </a:prstGeom>
          <a:solidFill>
            <a:srgbClr val="263659"/>
          </a:solidFill>
          <a:ln w="12700">
            <a:solidFill>
              <a:srgbClr val="3D4B7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6" name="TextBox 23"/>
          <p:cNvSpPr/>
          <p:nvPr/>
        </p:nvSpPr>
        <p:spPr>
          <a:xfrm>
            <a:off x="6370200" y="4705920"/>
            <a:ext cx="51292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Predict actual production</a:t>
            </a:r>
            <a:endParaRPr lang="fr-FR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7" name="TextBox 24"/>
          <p:cNvSpPr/>
          <p:nvPr/>
        </p:nvSpPr>
        <p:spPr>
          <a:xfrm>
            <a:off x="6370200" y="5049000"/>
            <a:ext cx="5129280" cy="35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15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02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Once precise installed-capacity data is available (SDES publishes it quarterly only), or using recent production levels to track the fleet’s growth.</a:t>
            </a:r>
            <a:endParaRPr lang="fr-FR" sz="1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88" name="Connector 25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1989" name="TextBox 26"/>
          <p:cNvSpPr/>
          <p:nvPr/>
        </p:nvSpPr>
        <p:spPr>
          <a:xfrm>
            <a:off x="457200" y="6230160"/>
            <a:ext cx="82220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0" name="TextBox 27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12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1" name="Rectangle 1"/>
          <p:cNvSpPr/>
          <p:nvPr/>
        </p:nvSpPr>
        <p:spPr>
          <a:xfrm>
            <a:off x="0" y="0"/>
            <a:ext cx="12185640" cy="6851520"/>
          </a:xfrm>
          <a:prstGeom prst="rect">
            <a:avLst/>
          </a:prstGeom>
          <a:solidFill>
            <a:srgbClr val="0A0E1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1992" name="GridV901"/>
          <p:cNvCxnSpPr/>
          <p:nvPr/>
        </p:nvCxnSpPr>
        <p:spPr>
          <a:xfrm>
            <a:off x="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3" name="GridV902"/>
          <p:cNvCxnSpPr/>
          <p:nvPr/>
        </p:nvCxnSpPr>
        <p:spPr>
          <a:xfrm>
            <a:off x="304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4" name="GridV903"/>
          <p:cNvCxnSpPr/>
          <p:nvPr/>
        </p:nvCxnSpPr>
        <p:spPr>
          <a:xfrm>
            <a:off x="609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5" name="GridV904"/>
          <p:cNvCxnSpPr/>
          <p:nvPr/>
        </p:nvCxnSpPr>
        <p:spPr>
          <a:xfrm>
            <a:off x="914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6" name="GridV905"/>
          <p:cNvCxnSpPr/>
          <p:nvPr/>
        </p:nvCxnSpPr>
        <p:spPr>
          <a:xfrm>
            <a:off x="1218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7" name="GridV906"/>
          <p:cNvCxnSpPr/>
          <p:nvPr/>
        </p:nvCxnSpPr>
        <p:spPr>
          <a:xfrm>
            <a:off x="1523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8" name="GridV907"/>
          <p:cNvCxnSpPr/>
          <p:nvPr/>
        </p:nvCxnSpPr>
        <p:spPr>
          <a:xfrm>
            <a:off x="1828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1999" name="GridV908"/>
          <p:cNvCxnSpPr/>
          <p:nvPr/>
        </p:nvCxnSpPr>
        <p:spPr>
          <a:xfrm>
            <a:off x="2133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0" name="GridV909"/>
          <p:cNvCxnSpPr/>
          <p:nvPr/>
        </p:nvCxnSpPr>
        <p:spPr>
          <a:xfrm>
            <a:off x="2438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1" name="GridV910"/>
          <p:cNvCxnSpPr/>
          <p:nvPr/>
        </p:nvCxnSpPr>
        <p:spPr>
          <a:xfrm>
            <a:off x="2743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2" name="GridV911"/>
          <p:cNvCxnSpPr/>
          <p:nvPr/>
        </p:nvCxnSpPr>
        <p:spPr>
          <a:xfrm>
            <a:off x="3047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3" name="GridV912"/>
          <p:cNvCxnSpPr/>
          <p:nvPr/>
        </p:nvCxnSpPr>
        <p:spPr>
          <a:xfrm>
            <a:off x="3352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4" name="GridV913"/>
          <p:cNvCxnSpPr/>
          <p:nvPr/>
        </p:nvCxnSpPr>
        <p:spPr>
          <a:xfrm>
            <a:off x="3657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5" name="GridV914"/>
          <p:cNvCxnSpPr/>
          <p:nvPr/>
        </p:nvCxnSpPr>
        <p:spPr>
          <a:xfrm>
            <a:off x="3962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6" name="GridV915"/>
          <p:cNvCxnSpPr/>
          <p:nvPr/>
        </p:nvCxnSpPr>
        <p:spPr>
          <a:xfrm>
            <a:off x="4267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7" name="GridV916"/>
          <p:cNvCxnSpPr/>
          <p:nvPr/>
        </p:nvCxnSpPr>
        <p:spPr>
          <a:xfrm>
            <a:off x="4572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8" name="GridV917"/>
          <p:cNvCxnSpPr/>
          <p:nvPr/>
        </p:nvCxnSpPr>
        <p:spPr>
          <a:xfrm>
            <a:off x="4876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09" name="GridV918"/>
          <p:cNvCxnSpPr/>
          <p:nvPr/>
        </p:nvCxnSpPr>
        <p:spPr>
          <a:xfrm>
            <a:off x="5181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0" name="GridV919"/>
          <p:cNvCxnSpPr/>
          <p:nvPr/>
        </p:nvCxnSpPr>
        <p:spPr>
          <a:xfrm>
            <a:off x="5486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1" name="GridV920"/>
          <p:cNvCxnSpPr/>
          <p:nvPr/>
        </p:nvCxnSpPr>
        <p:spPr>
          <a:xfrm>
            <a:off x="5790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2" name="GridV921"/>
          <p:cNvCxnSpPr/>
          <p:nvPr/>
        </p:nvCxnSpPr>
        <p:spPr>
          <a:xfrm>
            <a:off x="6095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3" name="GridV922"/>
          <p:cNvCxnSpPr/>
          <p:nvPr/>
        </p:nvCxnSpPr>
        <p:spPr>
          <a:xfrm>
            <a:off x="6400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4" name="GridV923"/>
          <p:cNvCxnSpPr/>
          <p:nvPr/>
        </p:nvCxnSpPr>
        <p:spPr>
          <a:xfrm>
            <a:off x="6705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5" name="GridV924"/>
          <p:cNvCxnSpPr/>
          <p:nvPr/>
        </p:nvCxnSpPr>
        <p:spPr>
          <a:xfrm>
            <a:off x="7010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6" name="GridV925"/>
          <p:cNvCxnSpPr/>
          <p:nvPr/>
        </p:nvCxnSpPr>
        <p:spPr>
          <a:xfrm>
            <a:off x="7315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7" name="GridV926"/>
          <p:cNvCxnSpPr/>
          <p:nvPr/>
        </p:nvCxnSpPr>
        <p:spPr>
          <a:xfrm>
            <a:off x="7619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8" name="GridV927"/>
          <p:cNvCxnSpPr/>
          <p:nvPr/>
        </p:nvCxnSpPr>
        <p:spPr>
          <a:xfrm>
            <a:off x="79246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19" name="GridV928"/>
          <p:cNvCxnSpPr/>
          <p:nvPr/>
        </p:nvCxnSpPr>
        <p:spPr>
          <a:xfrm>
            <a:off x="82296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0" name="GridV929"/>
          <p:cNvCxnSpPr/>
          <p:nvPr/>
        </p:nvCxnSpPr>
        <p:spPr>
          <a:xfrm>
            <a:off x="85341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1" name="GridV930"/>
          <p:cNvCxnSpPr/>
          <p:nvPr/>
        </p:nvCxnSpPr>
        <p:spPr>
          <a:xfrm>
            <a:off x="88390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2" name="GridV931"/>
          <p:cNvCxnSpPr/>
          <p:nvPr/>
        </p:nvCxnSpPr>
        <p:spPr>
          <a:xfrm>
            <a:off x="91440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3" name="GridV932"/>
          <p:cNvCxnSpPr/>
          <p:nvPr/>
        </p:nvCxnSpPr>
        <p:spPr>
          <a:xfrm>
            <a:off x="94485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4" name="GridV933"/>
          <p:cNvCxnSpPr/>
          <p:nvPr/>
        </p:nvCxnSpPr>
        <p:spPr>
          <a:xfrm>
            <a:off x="97534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5" name="GridV934"/>
          <p:cNvCxnSpPr/>
          <p:nvPr/>
        </p:nvCxnSpPr>
        <p:spPr>
          <a:xfrm>
            <a:off x="100584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6" name="GridV935"/>
          <p:cNvCxnSpPr/>
          <p:nvPr/>
        </p:nvCxnSpPr>
        <p:spPr>
          <a:xfrm>
            <a:off x="103629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7" name="GridV936"/>
          <p:cNvCxnSpPr/>
          <p:nvPr/>
        </p:nvCxnSpPr>
        <p:spPr>
          <a:xfrm>
            <a:off x="106678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8" name="GridV937"/>
          <p:cNvCxnSpPr/>
          <p:nvPr/>
        </p:nvCxnSpPr>
        <p:spPr>
          <a:xfrm>
            <a:off x="109728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29" name="GridV938"/>
          <p:cNvCxnSpPr/>
          <p:nvPr/>
        </p:nvCxnSpPr>
        <p:spPr>
          <a:xfrm>
            <a:off x="112773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0" name="GridV939"/>
          <p:cNvCxnSpPr/>
          <p:nvPr/>
        </p:nvCxnSpPr>
        <p:spPr>
          <a:xfrm>
            <a:off x="1158228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1" name="GridV940"/>
          <p:cNvCxnSpPr/>
          <p:nvPr/>
        </p:nvCxnSpPr>
        <p:spPr>
          <a:xfrm>
            <a:off x="1188720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2" name="GridV941"/>
          <p:cNvCxnSpPr/>
          <p:nvPr/>
        </p:nvCxnSpPr>
        <p:spPr>
          <a:xfrm>
            <a:off x="12191760" y="0"/>
            <a:ext cx="6480" cy="6864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3" name="GridH942"/>
          <p:cNvCxnSpPr/>
          <p:nvPr/>
        </p:nvCxnSpPr>
        <p:spPr>
          <a:xfrm>
            <a:off x="0" y="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4" name="GridH943"/>
          <p:cNvCxnSpPr/>
          <p:nvPr/>
        </p:nvCxnSpPr>
        <p:spPr>
          <a:xfrm>
            <a:off x="0" y="304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5" name="GridH944"/>
          <p:cNvCxnSpPr/>
          <p:nvPr/>
        </p:nvCxnSpPr>
        <p:spPr>
          <a:xfrm>
            <a:off x="0" y="609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6" name="GridH945"/>
          <p:cNvCxnSpPr/>
          <p:nvPr/>
        </p:nvCxnSpPr>
        <p:spPr>
          <a:xfrm>
            <a:off x="0" y="914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7" name="GridH946"/>
          <p:cNvCxnSpPr/>
          <p:nvPr/>
        </p:nvCxnSpPr>
        <p:spPr>
          <a:xfrm>
            <a:off x="0" y="1218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8" name="GridH947"/>
          <p:cNvCxnSpPr/>
          <p:nvPr/>
        </p:nvCxnSpPr>
        <p:spPr>
          <a:xfrm>
            <a:off x="0" y="1523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39" name="GridH948"/>
          <p:cNvCxnSpPr/>
          <p:nvPr/>
        </p:nvCxnSpPr>
        <p:spPr>
          <a:xfrm>
            <a:off x="0" y="1828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0" name="GridH949"/>
          <p:cNvCxnSpPr/>
          <p:nvPr/>
        </p:nvCxnSpPr>
        <p:spPr>
          <a:xfrm>
            <a:off x="0" y="2133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1" name="GridH950"/>
          <p:cNvCxnSpPr/>
          <p:nvPr/>
        </p:nvCxnSpPr>
        <p:spPr>
          <a:xfrm>
            <a:off x="0" y="24382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2" name="GridH951"/>
          <p:cNvCxnSpPr/>
          <p:nvPr/>
        </p:nvCxnSpPr>
        <p:spPr>
          <a:xfrm>
            <a:off x="0" y="27432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3" name="GridH952"/>
          <p:cNvCxnSpPr/>
          <p:nvPr/>
        </p:nvCxnSpPr>
        <p:spPr>
          <a:xfrm>
            <a:off x="0" y="30477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4" name="GridH953"/>
          <p:cNvCxnSpPr/>
          <p:nvPr/>
        </p:nvCxnSpPr>
        <p:spPr>
          <a:xfrm>
            <a:off x="0" y="33526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5" name="GridH954"/>
          <p:cNvCxnSpPr/>
          <p:nvPr/>
        </p:nvCxnSpPr>
        <p:spPr>
          <a:xfrm>
            <a:off x="0" y="36576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6" name="GridH955"/>
          <p:cNvCxnSpPr/>
          <p:nvPr/>
        </p:nvCxnSpPr>
        <p:spPr>
          <a:xfrm>
            <a:off x="0" y="39621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7" name="GridH956"/>
          <p:cNvCxnSpPr/>
          <p:nvPr/>
        </p:nvCxnSpPr>
        <p:spPr>
          <a:xfrm>
            <a:off x="0" y="42670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8" name="GridH957"/>
          <p:cNvCxnSpPr/>
          <p:nvPr/>
        </p:nvCxnSpPr>
        <p:spPr>
          <a:xfrm>
            <a:off x="0" y="45720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49" name="GridH958"/>
          <p:cNvCxnSpPr/>
          <p:nvPr/>
        </p:nvCxnSpPr>
        <p:spPr>
          <a:xfrm>
            <a:off x="0" y="48765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50" name="GridH959"/>
          <p:cNvCxnSpPr/>
          <p:nvPr/>
        </p:nvCxnSpPr>
        <p:spPr>
          <a:xfrm>
            <a:off x="0" y="51814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51" name="GridH960"/>
          <p:cNvCxnSpPr/>
          <p:nvPr/>
        </p:nvCxnSpPr>
        <p:spPr>
          <a:xfrm>
            <a:off x="0" y="54864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52" name="GridH961"/>
          <p:cNvCxnSpPr/>
          <p:nvPr/>
        </p:nvCxnSpPr>
        <p:spPr>
          <a:xfrm>
            <a:off x="0" y="57909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53" name="GridH962"/>
          <p:cNvCxnSpPr/>
          <p:nvPr/>
        </p:nvCxnSpPr>
        <p:spPr>
          <a:xfrm>
            <a:off x="0" y="609588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54" name="GridH963"/>
          <p:cNvCxnSpPr/>
          <p:nvPr/>
        </p:nvCxnSpPr>
        <p:spPr>
          <a:xfrm>
            <a:off x="0" y="640080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cxnSp>
        <p:nvCxnSpPr>
          <p:cNvPr id="2055" name="GridH964"/>
          <p:cNvCxnSpPr/>
          <p:nvPr/>
        </p:nvCxnSpPr>
        <p:spPr>
          <a:xfrm>
            <a:off x="0" y="6705360"/>
            <a:ext cx="12198240" cy="6480"/>
          </a:xfrm>
          <a:prstGeom prst="straightConnector1">
            <a:avLst/>
          </a:prstGeom>
          <a:ln w="6350">
            <a:solidFill>
              <a:srgbClr val="FFFFFF">
                <a:alpha val="5000"/>
              </a:srgbClr>
            </a:solidFill>
            <a:round/>
          </a:ln>
        </p:spPr>
      </p:cxnSp>
      <p:sp>
        <p:nvSpPr>
          <p:cNvPr id="2056" name="TextBox 2"/>
          <p:cNvSpPr/>
          <p:nvPr/>
        </p:nvSpPr>
        <p:spPr>
          <a:xfrm>
            <a:off x="502920" y="411480"/>
            <a:ext cx="79934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pc="201" strike="noStrike">
                <a:solidFill>
                  <a:srgbClr val="818CF8"/>
                </a:solidFill>
                <a:effectLst/>
                <a:uFillTx/>
                <a:latin typeface="Roboto"/>
              </a:rPr>
              <a:t>SUMMARY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7" name="TextBox 3"/>
          <p:cNvSpPr/>
          <p:nvPr/>
        </p:nvSpPr>
        <p:spPr>
          <a:xfrm>
            <a:off x="502920" y="658440"/>
            <a:ext cx="10992600" cy="99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5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From raw data to a production forecasting dashboard</a:t>
            </a:r>
            <a:endParaRPr lang="fr-F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8" name="Oval 4"/>
          <p:cNvSpPr/>
          <p:nvPr/>
        </p:nvSpPr>
        <p:spPr>
          <a:xfrm>
            <a:off x="502920" y="1929960"/>
            <a:ext cx="130680" cy="13068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9" name="TextBox 5"/>
          <p:cNvSpPr/>
          <p:nvPr/>
        </p:nvSpPr>
        <p:spPr>
          <a:xfrm>
            <a:off x="822960" y="1900080"/>
            <a:ext cx="10493640" cy="49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26,676 observations, 12 regions, 6 years of Meteo-France x RTE x SDES data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0" name="Oval 6"/>
          <p:cNvSpPr/>
          <p:nvPr/>
        </p:nvSpPr>
        <p:spPr>
          <a:xfrm>
            <a:off x="502920" y="2549880"/>
            <a:ext cx="130680" cy="13068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1" name="TextBox 7"/>
          <p:cNvSpPr/>
          <p:nvPr/>
        </p:nvSpPr>
        <p:spPr>
          <a:xfrm>
            <a:off x="822960" y="2520000"/>
            <a:ext cx="104936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Time-respecting validation (TimeSeriesSplit + GridSearchCV). Ridge chosen for its stability: −15% error vs "tomorrow = today" (R² ≈ 0.79 on 2024-2026 data)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2" name="TextBox 9"/>
          <p:cNvSpPr/>
          <p:nvPr/>
        </p:nvSpPr>
        <p:spPr>
          <a:xfrm>
            <a:off x="822960" y="3139920"/>
            <a:ext cx="104936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Business impact: ~70 MWh/year of forecast error avoided for a </a:t>
            </a: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10,000 m² plant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3" name="Connector 10"/>
          <p:cNvCxnSpPr/>
          <p:nvPr/>
        </p:nvCxnSpPr>
        <p:spPr>
          <a:xfrm>
            <a:off x="502920" y="4199760"/>
            <a:ext cx="1119240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2064" name="TextBox 11"/>
          <p:cNvSpPr/>
          <p:nvPr/>
        </p:nvSpPr>
        <p:spPr>
          <a:xfrm>
            <a:off x="502920" y="4700160"/>
            <a:ext cx="1117980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FFFF"/>
                </a:solidFill>
                <a:effectLst/>
                <a:uFillTx/>
                <a:latin typeface="Roboto"/>
              </a:rPr>
              <a:t>Thank you for your attention.</a:t>
            </a:r>
            <a:endParaRPr lang="fr-F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5" name="TextBox 12"/>
          <p:cNvSpPr/>
          <p:nvPr/>
        </p:nvSpPr>
        <p:spPr>
          <a:xfrm>
            <a:off x="502920" y="5400000"/>
            <a:ext cx="1117980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9AA5C0"/>
                </a:solidFill>
                <a:effectLst/>
                <a:uFillTx/>
                <a:latin typeface="Roboto"/>
              </a:rPr>
              <a:t>Any questions?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66" name="Connector 13"/>
          <p:cNvCxnSpPr/>
          <p:nvPr/>
        </p:nvCxnSpPr>
        <p:spPr>
          <a:xfrm>
            <a:off x="548640" y="5943600"/>
            <a:ext cx="10979280" cy="6480"/>
          </a:xfrm>
          <a:prstGeom prst="straightConnector1">
            <a:avLst/>
          </a:prstGeom>
          <a:ln w="9525">
            <a:solidFill>
              <a:srgbClr val="3D4B72"/>
            </a:solidFill>
            <a:round/>
          </a:ln>
        </p:spPr>
      </p:cxnSp>
      <p:sp>
        <p:nvSpPr>
          <p:cNvPr id="2067" name="TextBox 14"/>
          <p:cNvSpPr/>
          <p:nvPr/>
        </p:nvSpPr>
        <p:spPr>
          <a:xfrm>
            <a:off x="457200" y="6172200"/>
            <a:ext cx="82220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Solar Production Forecasting · Machine Learning · Streamlit Dashboard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8" name="TextBox 15"/>
          <p:cNvSpPr/>
          <p:nvPr/>
        </p:nvSpPr>
        <p:spPr>
          <a:xfrm>
            <a:off x="11274480" y="6172200"/>
            <a:ext cx="449640" cy="26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C6684"/>
                </a:solidFill>
                <a:effectLst/>
                <a:uFillTx/>
                <a:latin typeface="Roboto"/>
              </a:rPr>
              <a:t>13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9" name="Oval 1"/>
          <p:cNvSpPr/>
          <p:nvPr/>
        </p:nvSpPr>
        <p:spPr>
          <a:xfrm>
            <a:off x="503280" y="3818520"/>
            <a:ext cx="130680" cy="13068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0" name="Oval 2"/>
          <p:cNvSpPr/>
          <p:nvPr/>
        </p:nvSpPr>
        <p:spPr>
          <a:xfrm>
            <a:off x="503280" y="3170520"/>
            <a:ext cx="130680" cy="130680"/>
          </a:xfrm>
          <a:prstGeom prst="ellipse">
            <a:avLst/>
          </a:prstGeom>
          <a:solidFill>
            <a:srgbClr val="818CF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65520" tIns="45000" rIns="6552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71" name="TextBox 1"/>
          <p:cNvSpPr/>
          <p:nvPr/>
        </p:nvSpPr>
        <p:spPr>
          <a:xfrm>
            <a:off x="823320" y="3787920"/>
            <a:ext cx="10493640" cy="24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20000"/>
              </a:lnSpc>
            </a:pPr>
            <a:r>
              <a:rPr lang="en-US" sz="1350" b="0" u="none" strike="noStrike">
                <a:solidFill>
                  <a:srgbClr val="F4F6FB"/>
                </a:solidFill>
                <a:effectLst/>
                <a:uFillTx/>
                <a:latin typeface="Roboto"/>
              </a:rPr>
              <a:t>Streamlit dashboard in production: interactive EDA and next-day production estimates derived from the radiation forecast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</TotalTime>
  <Application>LibreOffice/26.8.2.2$Linux_X86_64 LibreOffice_project/9dea406ab7695df6325b11b0e19fdca8db4b7276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fr-FR</dc:language>
  <cp:lastModifiedBy/>
  <dcterms:modified xsi:type="dcterms:W3CDTF">2026-10-31T16:40:02Z</dcterms:modified>
  <cp:revision>80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