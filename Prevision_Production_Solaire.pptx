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8080" cy="14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85FCA8D-343F-4245-8051-5E9D1E28D8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3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1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2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0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1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2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3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1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2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3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4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5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6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7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8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6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7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8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9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0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1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2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3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BC6EC2B-BB80-432F-81FE-8BFF7751A2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9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0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1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7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8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8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9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7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8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3080" cy="584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5600" cy="584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B227606-BAA8-4100-BE0E-47C1AA349D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528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E524CFA-7610-4167-9A43-25C4CB9633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7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8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9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0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1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2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3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4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5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6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7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8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9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0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1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2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3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4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5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6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7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8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9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0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1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2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3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4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5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6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7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8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9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0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1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2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3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4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5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6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7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8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9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0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1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2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3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4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5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6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7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8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9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0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1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2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3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4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5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6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7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8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9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0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8080" cy="13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8080" cy="1495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6AF1FF5-EEA7-40D0-8F43-496E7DA221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4160" cy="4521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3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C76C3DF-DDCD-403A-BDBF-9A1085763B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1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5960" cy="63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2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5960" cy="394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3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7400" cy="63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4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7400" cy="3947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6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7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4AE9FA6-09F3-42AA-ACE0-94ECC4D563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8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5280" cy="1138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2D2375FD-6DB0-4A84-B80E-31D16B4F55A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2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F7CFAFB-9CA9-4C01-970D-467BC9E538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8480" cy="1140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h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x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8480" cy="3973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8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3840" cy="1157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7320" cy="584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3840" cy="468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B009C670-5C3F-445D-907F-A2DD275509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2080" cy="56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2080" cy="41104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ubl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e-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to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Ima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2080" cy="800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CE3BA85-101D-4FA4-930C-312ECC40C1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6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830" name="TextBox 2"/>
          <p:cNvSpPr/>
          <p:nvPr/>
        </p:nvSpPr>
        <p:spPr>
          <a:xfrm>
            <a:off x="502920" y="173736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ANA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LYST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CAP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STO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NE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PRO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JECT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3"/>
          <p:cNvSpPr/>
          <p:nvPr/>
        </p:nvSpPr>
        <p:spPr>
          <a:xfrm>
            <a:off x="502920" y="2085480"/>
            <a:ext cx="1118196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xt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-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ol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di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x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ol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 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ct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</a:t>
            </a: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endParaRPr lang="fr-F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Box 4"/>
          <p:cNvSpPr/>
          <p:nvPr/>
        </p:nvSpPr>
        <p:spPr>
          <a:xfrm>
            <a:off x="502920" y="3449880"/>
            <a:ext cx="949572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From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her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sign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 to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next-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forec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ast: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mod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eling,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temp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oral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valid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ation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, and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depl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oym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ent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a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Strea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mlit 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dash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boar</a:t>
            </a: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Rounded Rectangle 5"/>
          <p:cNvSpPr/>
          <p:nvPr/>
        </p:nvSpPr>
        <p:spPr>
          <a:xfrm>
            <a:off x="502920" y="4267080"/>
            <a:ext cx="3602520" cy="1145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4" name="TextBox 6"/>
          <p:cNvSpPr/>
          <p:nvPr/>
        </p:nvSpPr>
        <p:spPr>
          <a:xfrm>
            <a:off x="731520" y="4405320"/>
            <a:ext cx="314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6,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7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7"/>
          <p:cNvSpPr/>
          <p:nvPr/>
        </p:nvSpPr>
        <p:spPr>
          <a:xfrm>
            <a:off x="731520" y="4888080"/>
            <a:ext cx="314532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daily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obser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vation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Rounded Rectangle 8"/>
          <p:cNvSpPr/>
          <p:nvPr/>
        </p:nvSpPr>
        <p:spPr>
          <a:xfrm>
            <a:off x="4292640" y="4267080"/>
            <a:ext cx="3602520" cy="1145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7" name="TextBox 9"/>
          <p:cNvSpPr/>
          <p:nvPr/>
        </p:nvSpPr>
        <p:spPr>
          <a:xfrm>
            <a:off x="4521240" y="4405320"/>
            <a:ext cx="314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1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10"/>
          <p:cNvSpPr/>
          <p:nvPr/>
        </p:nvSpPr>
        <p:spPr>
          <a:xfrm>
            <a:off x="4521240" y="4888080"/>
            <a:ext cx="3145320" cy="24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Frenc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covere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ounded Rectangle 11"/>
          <p:cNvSpPr/>
          <p:nvPr/>
        </p:nvSpPr>
        <p:spPr>
          <a:xfrm>
            <a:off x="8082360" y="4267080"/>
            <a:ext cx="3602520" cy="11455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TextBox 12"/>
          <p:cNvSpPr/>
          <p:nvPr/>
        </p:nvSpPr>
        <p:spPr>
          <a:xfrm>
            <a:off x="8310960" y="4405320"/>
            <a:ext cx="314532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3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13"/>
          <p:cNvSpPr/>
          <p:nvPr/>
        </p:nvSpPr>
        <p:spPr>
          <a:xfrm>
            <a:off x="8310960" y="4888080"/>
            <a:ext cx="31453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Input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featur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2" name="Connector 14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843" name="TextBox 15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Box 16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46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7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8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9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0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1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2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3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4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5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6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7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8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9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0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1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2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3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4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5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6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7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8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9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0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1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2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3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4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5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6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7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8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9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0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1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2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3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4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5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6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7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8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9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0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1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2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3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4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5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6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7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8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9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0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1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2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3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4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5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6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7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8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9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910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01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CON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TEXT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hy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st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lar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od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uc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tio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Box 4"/>
          <p:cNvSpPr/>
          <p:nvPr/>
        </p:nvSpPr>
        <p:spPr>
          <a:xfrm>
            <a:off x="502920" y="1404000"/>
            <a:ext cx="10995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outpu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 is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entire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ly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her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depe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ndent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: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witho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ut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forec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ast,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every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gap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betw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een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expec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ted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actua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ction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has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direct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cost.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Rounded Rectangle 5"/>
          <p:cNvSpPr/>
          <p:nvPr/>
        </p:nvSpPr>
        <p:spPr>
          <a:xfrm>
            <a:off x="502920" y="1737360"/>
            <a:ext cx="5482080" cy="401112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4" name="Oval 6"/>
          <p:cNvSpPr/>
          <p:nvPr/>
        </p:nvSpPr>
        <p:spPr>
          <a:xfrm>
            <a:off x="868680" y="2057400"/>
            <a:ext cx="452880" cy="45288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5" name="TextBox 7"/>
          <p:cNvSpPr/>
          <p:nvPr/>
        </p:nvSpPr>
        <p:spPr>
          <a:xfrm>
            <a:off x="868680" y="2057400"/>
            <a:ext cx="4528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!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Box 8"/>
          <p:cNvSpPr/>
          <p:nvPr/>
        </p:nvSpPr>
        <p:spPr>
          <a:xfrm>
            <a:off x="1508760" y="2057400"/>
            <a:ext cx="429336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Tota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 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inter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mitt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ency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Box 9"/>
          <p:cNvSpPr/>
          <p:nvPr/>
        </p:nvSpPr>
        <p:spPr>
          <a:xfrm>
            <a:off x="868680" y="2743200"/>
            <a:ext cx="4752720" cy="94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Unlik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nucle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ar or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gas,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solar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produ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ction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cann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ot be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dispa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tched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dema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nd: it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depe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nds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entire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ly 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tomo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rrow's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radiat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ion.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TextBox 10"/>
          <p:cNvSpPr/>
          <p:nvPr/>
        </p:nvSpPr>
        <p:spPr>
          <a:xfrm>
            <a:off x="868680" y="3840480"/>
            <a:ext cx="4752720" cy="169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reliab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le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next-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day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forec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ast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mean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antici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patin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g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produ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ction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befor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 it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happ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ens,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inste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ad of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just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reacti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ng to </a:t>
            </a: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it.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9" name="Rounded Rectangle 11"/>
          <p:cNvSpPr/>
          <p:nvPr/>
        </p:nvSpPr>
        <p:spPr>
          <a:xfrm>
            <a:off x="6316920" y="173736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0" name="TextBox 12"/>
          <p:cNvSpPr/>
          <p:nvPr/>
        </p:nvSpPr>
        <p:spPr>
          <a:xfrm>
            <a:off x="6499800" y="192024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Sellin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electr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TextBox 13"/>
          <p:cNvSpPr/>
          <p:nvPr/>
        </p:nvSpPr>
        <p:spPr>
          <a:xfrm>
            <a:off x="6499800" y="237744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Avoid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unfavo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rable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buyba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cks or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underp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riced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sales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wholes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market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2" name="Rounded Rectangle 14"/>
          <p:cNvSpPr/>
          <p:nvPr/>
        </p:nvSpPr>
        <p:spPr>
          <a:xfrm>
            <a:off x="9132480" y="173736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3" name="TextBox 15"/>
          <p:cNvSpPr/>
          <p:nvPr/>
        </p:nvSpPr>
        <p:spPr>
          <a:xfrm>
            <a:off x="9315360" y="192024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Batte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ry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mana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geme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TextBox 16"/>
          <p:cNvSpPr/>
          <p:nvPr/>
        </p:nvSpPr>
        <p:spPr>
          <a:xfrm>
            <a:off x="9315360" y="237744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Optimi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ze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charge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/disch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arge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cycles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extend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storag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syste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lifespa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5" name="Rounded Rectangle 17"/>
          <p:cNvSpPr/>
          <p:nvPr/>
        </p:nvSpPr>
        <p:spPr>
          <a:xfrm>
            <a:off x="6316920" y="381780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6" name="TextBox 18"/>
          <p:cNvSpPr/>
          <p:nvPr/>
        </p:nvSpPr>
        <p:spPr>
          <a:xfrm>
            <a:off x="6499800" y="400068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Preve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ntive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maint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enan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Box 19"/>
          <p:cNvSpPr/>
          <p:nvPr/>
        </p:nvSpPr>
        <p:spPr>
          <a:xfrm>
            <a:off x="6499800" y="445788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Detect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yield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anoma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(dirty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or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faulty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panels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) and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plan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interve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ntions.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Rounded Rectangle 20"/>
          <p:cNvSpPr/>
          <p:nvPr/>
        </p:nvSpPr>
        <p:spPr>
          <a:xfrm>
            <a:off x="9132480" y="3817800"/>
            <a:ext cx="2665800" cy="193068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9" name="TextBox 21"/>
          <p:cNvSpPr/>
          <p:nvPr/>
        </p:nvSpPr>
        <p:spPr>
          <a:xfrm>
            <a:off x="9315360" y="4000680"/>
            <a:ext cx="23000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mana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geme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TextBox 22"/>
          <p:cNvSpPr/>
          <p:nvPr/>
        </p:nvSpPr>
        <p:spPr>
          <a:xfrm>
            <a:off x="9315360" y="4457880"/>
            <a:ext cx="230004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Anticip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ate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high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tion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reduce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relianc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on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gas.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1" name="Connector 23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932" name="TextBox 24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Box 25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93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999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02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 &amp;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MET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HOD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0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ta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&amp;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et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Three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data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sourc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joine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 by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 and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day,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5-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step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pipeli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ne,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with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time-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respe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cting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valida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tion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(no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shuffl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ing).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2" name="Rounded Rectangle 5"/>
          <p:cNvSpPr/>
          <p:nvPr/>
        </p:nvSpPr>
        <p:spPr>
          <a:xfrm>
            <a:off x="502920" y="1737360"/>
            <a:ext cx="3570840" cy="13662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3" name="TextBox 6"/>
          <p:cNvSpPr/>
          <p:nvPr/>
        </p:nvSpPr>
        <p:spPr>
          <a:xfrm>
            <a:off x="731520" y="1874520"/>
            <a:ext cx="31136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26,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67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 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row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Box 7"/>
          <p:cNvSpPr/>
          <p:nvPr/>
        </p:nvSpPr>
        <p:spPr>
          <a:xfrm>
            <a:off x="731520" y="2239200"/>
            <a:ext cx="3113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Mete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o-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Franc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TextBox 8"/>
          <p:cNvSpPr/>
          <p:nvPr/>
        </p:nvSpPr>
        <p:spPr>
          <a:xfrm>
            <a:off x="731520" y="2529720"/>
            <a:ext cx="31136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tempe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rature,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humid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ity,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wind...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Rounded Rectangle 9"/>
          <p:cNvSpPr/>
          <p:nvPr/>
        </p:nvSpPr>
        <p:spPr>
          <a:xfrm>
            <a:off x="4306680" y="1737360"/>
            <a:ext cx="3570840" cy="13662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7" name="TextBox 10"/>
          <p:cNvSpPr/>
          <p:nvPr/>
        </p:nvSpPr>
        <p:spPr>
          <a:xfrm>
            <a:off x="4535280" y="1874520"/>
            <a:ext cx="31136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12 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reg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ion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Box 11"/>
          <p:cNvSpPr/>
          <p:nvPr/>
        </p:nvSpPr>
        <p:spPr>
          <a:xfrm>
            <a:off x="4535280" y="2239200"/>
            <a:ext cx="3113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RTE,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solar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produ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Box 12"/>
          <p:cNvSpPr/>
          <p:nvPr/>
        </p:nvSpPr>
        <p:spPr>
          <a:xfrm>
            <a:off x="4535280" y="2529720"/>
            <a:ext cx="31136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Half-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hourly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ction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aggre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gated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daily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TWh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Rounded Rectangle 13"/>
          <p:cNvSpPr/>
          <p:nvPr/>
        </p:nvSpPr>
        <p:spPr>
          <a:xfrm>
            <a:off x="8110440" y="1737360"/>
            <a:ext cx="3570840" cy="13662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1" name="TextBox 14"/>
          <p:cNvSpPr/>
          <p:nvPr/>
        </p:nvSpPr>
        <p:spPr>
          <a:xfrm>
            <a:off x="8339040" y="1874520"/>
            <a:ext cx="3113640" cy="36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SD</a:t>
            </a: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Box 15"/>
          <p:cNvSpPr/>
          <p:nvPr/>
        </p:nvSpPr>
        <p:spPr>
          <a:xfrm>
            <a:off x="8339040" y="2239200"/>
            <a:ext cx="31136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Instal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led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capa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city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(MW)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TextBox 16"/>
          <p:cNvSpPr/>
          <p:nvPr/>
        </p:nvSpPr>
        <p:spPr>
          <a:xfrm>
            <a:off x="8339040" y="2529720"/>
            <a:ext cx="3113640" cy="54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Install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photo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voltaic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capaci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ty by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region,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used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norma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lize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ction.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Box 17"/>
          <p:cNvSpPr/>
          <p:nvPr/>
        </p:nvSpPr>
        <p:spPr>
          <a:xfrm>
            <a:off x="502920" y="3474720"/>
            <a:ext cx="499572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MET</a:t>
            </a: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HOD</a:t>
            </a: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OLO</a:t>
            </a: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GY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Rounded Rectangle 18"/>
          <p:cNvSpPr/>
          <p:nvPr/>
        </p:nvSpPr>
        <p:spPr>
          <a:xfrm>
            <a:off x="50292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6" name="Oval 19"/>
          <p:cNvSpPr/>
          <p:nvPr/>
        </p:nvSpPr>
        <p:spPr>
          <a:xfrm>
            <a:off x="134244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7" name="TextBox 20"/>
          <p:cNvSpPr/>
          <p:nvPr/>
        </p:nvSpPr>
        <p:spPr>
          <a:xfrm>
            <a:off x="134244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TextBox 21"/>
          <p:cNvSpPr/>
          <p:nvPr/>
        </p:nvSpPr>
        <p:spPr>
          <a:xfrm>
            <a:off x="68580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Featu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engin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eerin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Box 22"/>
          <p:cNvSpPr/>
          <p:nvPr/>
        </p:nvSpPr>
        <p:spPr>
          <a:xfrm>
            <a:off x="603000" y="5242680"/>
            <a:ext cx="193104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Lags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J-1/J-2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/J-3, 7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rolling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means,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season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ality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(sin/co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s).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0" name="Rounded Rectangle 23"/>
          <p:cNvSpPr/>
          <p:nvPr/>
        </p:nvSpPr>
        <p:spPr>
          <a:xfrm>
            <a:off x="277524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1" name="Oval 24"/>
          <p:cNvSpPr/>
          <p:nvPr/>
        </p:nvSpPr>
        <p:spPr>
          <a:xfrm>
            <a:off x="361512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2" name="TextBox 25"/>
          <p:cNvSpPr/>
          <p:nvPr/>
        </p:nvSpPr>
        <p:spPr>
          <a:xfrm>
            <a:off x="361512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Box 26"/>
          <p:cNvSpPr/>
          <p:nvPr/>
        </p:nvSpPr>
        <p:spPr>
          <a:xfrm>
            <a:off x="295812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Basel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ine &amp;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raw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regre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ssion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Box 27"/>
          <p:cNvSpPr/>
          <p:nvPr/>
        </p:nvSpPr>
        <p:spPr>
          <a:xfrm>
            <a:off x="2875320" y="5242680"/>
            <a:ext cx="193104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Naive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persist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ence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vs.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regress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without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feature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engine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ering.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Rounded Rectangle 28"/>
          <p:cNvSpPr/>
          <p:nvPr/>
        </p:nvSpPr>
        <p:spPr>
          <a:xfrm>
            <a:off x="504792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6" name="Oval 29"/>
          <p:cNvSpPr/>
          <p:nvPr/>
        </p:nvSpPr>
        <p:spPr>
          <a:xfrm>
            <a:off x="588744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7" name="TextBox 30"/>
          <p:cNvSpPr/>
          <p:nvPr/>
        </p:nvSpPr>
        <p:spPr>
          <a:xfrm>
            <a:off x="588744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Box 31"/>
          <p:cNvSpPr/>
          <p:nvPr/>
        </p:nvSpPr>
        <p:spPr>
          <a:xfrm>
            <a:off x="523080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Temp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oral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valid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Box 32"/>
          <p:cNvSpPr/>
          <p:nvPr/>
        </p:nvSpPr>
        <p:spPr>
          <a:xfrm>
            <a:off x="5147640" y="5242680"/>
            <a:ext cx="193104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TimeSe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riesSpli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 (5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folds),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pipelin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refit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every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fold.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Rounded Rectangle 33"/>
          <p:cNvSpPr/>
          <p:nvPr/>
        </p:nvSpPr>
        <p:spPr>
          <a:xfrm>
            <a:off x="732024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1" name="Oval 34"/>
          <p:cNvSpPr/>
          <p:nvPr/>
        </p:nvSpPr>
        <p:spPr>
          <a:xfrm>
            <a:off x="815976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2" name="TextBox 35"/>
          <p:cNvSpPr/>
          <p:nvPr/>
        </p:nvSpPr>
        <p:spPr>
          <a:xfrm>
            <a:off x="815976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Box 36"/>
          <p:cNvSpPr/>
          <p:nvPr/>
        </p:nvSpPr>
        <p:spPr>
          <a:xfrm>
            <a:off x="750312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GridS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earch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CV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TextBox 37"/>
          <p:cNvSpPr/>
          <p:nvPr/>
        </p:nvSpPr>
        <p:spPr>
          <a:xfrm>
            <a:off x="7420320" y="5242680"/>
            <a:ext cx="1931040" cy="30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Hyperp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aramet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er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search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(RMSE)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across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all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models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Rounded Rectangle 38"/>
          <p:cNvSpPr/>
          <p:nvPr/>
        </p:nvSpPr>
        <p:spPr>
          <a:xfrm>
            <a:off x="9592560" y="3931920"/>
            <a:ext cx="2130840" cy="186912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6" name="Oval 39"/>
          <p:cNvSpPr/>
          <p:nvPr/>
        </p:nvSpPr>
        <p:spPr>
          <a:xfrm>
            <a:off x="10432440" y="4114800"/>
            <a:ext cx="451800" cy="4518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7" name="TextBox 40"/>
          <p:cNvSpPr/>
          <p:nvPr/>
        </p:nvSpPr>
        <p:spPr>
          <a:xfrm>
            <a:off x="10432440" y="4114800"/>
            <a:ext cx="451800" cy="45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5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TextBox 41"/>
          <p:cNvSpPr/>
          <p:nvPr/>
        </p:nvSpPr>
        <p:spPr>
          <a:xfrm>
            <a:off x="9775440" y="4750920"/>
            <a:ext cx="1765080" cy="45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Final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model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selecti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Box 42"/>
          <p:cNvSpPr/>
          <p:nvPr/>
        </p:nvSpPr>
        <p:spPr>
          <a:xfrm>
            <a:off x="9692640" y="5242680"/>
            <a:ext cx="193104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R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²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/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MAE/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RMSE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train vs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test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compari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son,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prioritizi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ng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stability.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0" name="Connector 43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041" name="TextBox 44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Forecastin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Box 45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03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044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5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6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7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8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9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0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1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2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3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4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5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6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7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8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9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0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1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2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3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4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5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6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7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8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9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0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1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2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3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4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5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6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7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8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9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0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1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2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3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4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5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6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7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8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9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0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1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2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3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4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5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6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7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8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9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0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1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2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3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4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5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6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7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108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02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A &amp;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MET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HOD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ul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pi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el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e,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to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Rounded Rectangle 7"/>
          <p:cNvSpPr/>
          <p:nvPr/>
        </p:nvSpPr>
        <p:spPr>
          <a:xfrm>
            <a:off x="502920" y="1550160"/>
            <a:ext cx="3145320" cy="379800"/>
          </a:xfrm>
          <a:prstGeom prst="roundRect">
            <a:avLst>
              <a:gd name="adj" fmla="val 28000"/>
            </a:avLst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Box 8"/>
          <p:cNvSpPr/>
          <p:nvPr/>
        </p:nvSpPr>
        <p:spPr>
          <a:xfrm>
            <a:off x="658440" y="1550160"/>
            <a:ext cx="28710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 · DATA COLLECTION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Rounded Rectangle 9"/>
          <p:cNvSpPr/>
          <p:nvPr/>
        </p:nvSpPr>
        <p:spPr>
          <a:xfrm>
            <a:off x="4521240" y="1550160"/>
            <a:ext cx="3145320" cy="379800"/>
          </a:xfrm>
          <a:prstGeom prst="roundRect">
            <a:avLst>
              <a:gd name="adj" fmla="val 28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TextBox 10"/>
          <p:cNvSpPr/>
          <p:nvPr/>
        </p:nvSpPr>
        <p:spPr>
          <a:xfrm>
            <a:off x="4676760" y="1550160"/>
            <a:ext cx="28710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 · PREPARATION &amp; ANALYSIS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Rounded Rectangle 11"/>
          <p:cNvSpPr/>
          <p:nvPr/>
        </p:nvSpPr>
        <p:spPr>
          <a:xfrm>
            <a:off x="8539560" y="1550160"/>
            <a:ext cx="3145320" cy="379800"/>
          </a:xfrm>
          <a:prstGeom prst="roundRect">
            <a:avLst>
              <a:gd name="adj" fmla="val 28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Box 12"/>
          <p:cNvSpPr/>
          <p:nvPr/>
        </p:nvSpPr>
        <p:spPr>
          <a:xfrm>
            <a:off x="8695080" y="1550160"/>
            <a:ext cx="28710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 · MODELING &amp; COMPUTATION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Rounded Rectangle 13"/>
          <p:cNvSpPr/>
          <p:nvPr/>
        </p:nvSpPr>
        <p:spPr>
          <a:xfrm>
            <a:off x="594360" y="207108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14"/>
          <p:cNvSpPr/>
          <p:nvPr/>
        </p:nvSpPr>
        <p:spPr>
          <a:xfrm>
            <a:off x="594360" y="207108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18" name="Picture 15" descr="icon_cloud.png"/>
          <p:cNvPicPr/>
          <p:nvPr/>
        </p:nvPicPr>
        <p:blipFill>
          <a:blip r:embed="rId1"/>
          <a:stretch/>
        </p:blipFill>
        <p:spPr>
          <a:xfrm>
            <a:off x="731520" y="216828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9" name="TextBox 16"/>
          <p:cNvSpPr/>
          <p:nvPr/>
        </p:nvSpPr>
        <p:spPr>
          <a:xfrm>
            <a:off x="1216080" y="218304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Meteo-France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Box 17"/>
          <p:cNvSpPr/>
          <p:nvPr/>
        </p:nvSpPr>
        <p:spPr>
          <a:xfrm>
            <a:off x="1216080" y="237348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Weather data,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Rounded Rectangle 18"/>
          <p:cNvSpPr/>
          <p:nvPr/>
        </p:nvSpPr>
        <p:spPr>
          <a:xfrm>
            <a:off x="594360" y="28598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19"/>
          <p:cNvSpPr/>
          <p:nvPr/>
        </p:nvSpPr>
        <p:spPr>
          <a:xfrm>
            <a:off x="594360" y="285984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3" name="Picture 20" descr="icon_bolt.png"/>
          <p:cNvPicPr/>
          <p:nvPr/>
        </p:nvPicPr>
        <p:blipFill>
          <a:blip r:embed="rId2"/>
          <a:stretch/>
        </p:blipFill>
        <p:spPr>
          <a:xfrm>
            <a:off x="731520" y="29570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4" name="TextBox 21"/>
          <p:cNvSpPr/>
          <p:nvPr/>
        </p:nvSpPr>
        <p:spPr>
          <a:xfrm>
            <a:off x="1216080" y="297180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RTE France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Box 22"/>
          <p:cNvSpPr/>
          <p:nvPr/>
        </p:nvSpPr>
        <p:spPr>
          <a:xfrm>
            <a:off x="1216080" y="31622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production,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Rounded Rectangle 23"/>
          <p:cNvSpPr/>
          <p:nvPr/>
        </p:nvSpPr>
        <p:spPr>
          <a:xfrm>
            <a:off x="594360" y="36482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24"/>
          <p:cNvSpPr/>
          <p:nvPr/>
        </p:nvSpPr>
        <p:spPr>
          <a:xfrm>
            <a:off x="594360" y="364824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8" name="Picture 25" descr="icon_panel.png"/>
          <p:cNvPicPr/>
          <p:nvPr/>
        </p:nvPicPr>
        <p:blipFill>
          <a:blip r:embed="rId3"/>
          <a:stretch/>
        </p:blipFill>
        <p:spPr>
          <a:xfrm>
            <a:off x="731520" y="37454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9" name="TextBox 26"/>
          <p:cNvSpPr/>
          <p:nvPr/>
        </p:nvSpPr>
        <p:spPr>
          <a:xfrm>
            <a:off x="1216080" y="37605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Installed PV capacity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Box 27"/>
          <p:cNvSpPr/>
          <p:nvPr/>
        </p:nvSpPr>
        <p:spPr>
          <a:xfrm>
            <a:off x="1216080" y="39506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Capacity by region (SDES).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Rounded Rectangle 28"/>
          <p:cNvSpPr/>
          <p:nvPr/>
        </p:nvSpPr>
        <p:spPr>
          <a:xfrm>
            <a:off x="594360" y="443700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Rectangle 29"/>
          <p:cNvSpPr/>
          <p:nvPr/>
        </p:nvSpPr>
        <p:spPr>
          <a:xfrm>
            <a:off x="594360" y="4437000"/>
            <a:ext cx="32400" cy="55584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3" name="Picture 30" descr="icon_map.png"/>
          <p:cNvPicPr/>
          <p:nvPr/>
        </p:nvPicPr>
        <p:blipFill>
          <a:blip r:embed="rId4"/>
          <a:stretch/>
        </p:blipFill>
        <p:spPr>
          <a:xfrm>
            <a:off x="731520" y="453420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4" name="TextBox 31"/>
          <p:cNvSpPr/>
          <p:nvPr/>
        </p:nvSpPr>
        <p:spPr>
          <a:xfrm>
            <a:off x="1216080" y="45489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GeoJSON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Box 32"/>
          <p:cNvSpPr/>
          <p:nvPr/>
        </p:nvSpPr>
        <p:spPr>
          <a:xfrm>
            <a:off x="1216080" y="473940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12 French regions.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Rounded Rectangle 33"/>
          <p:cNvSpPr/>
          <p:nvPr/>
        </p:nvSpPr>
        <p:spPr>
          <a:xfrm>
            <a:off x="4612680" y="207108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34"/>
          <p:cNvSpPr/>
          <p:nvPr/>
        </p:nvSpPr>
        <p:spPr>
          <a:xfrm>
            <a:off x="4612680" y="207108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8" name="Picture 35" descr="icon_pin.png"/>
          <p:cNvPicPr/>
          <p:nvPr/>
        </p:nvPicPr>
        <p:blipFill>
          <a:blip r:embed="rId5"/>
          <a:stretch/>
        </p:blipFill>
        <p:spPr>
          <a:xfrm>
            <a:off x="4749840" y="216828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9" name="TextBox 36"/>
          <p:cNvSpPr/>
          <p:nvPr/>
        </p:nvSpPr>
        <p:spPr>
          <a:xfrm>
            <a:off x="5234400" y="218304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Regional mapping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Box 37"/>
          <p:cNvSpPr/>
          <p:nvPr/>
        </p:nvSpPr>
        <p:spPr>
          <a:xfrm>
            <a:off x="5234400" y="2373480"/>
            <a:ext cx="22492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Grid points mapped to regions.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Down Arrow 38"/>
          <p:cNvSpPr/>
          <p:nvPr/>
        </p:nvSpPr>
        <p:spPr>
          <a:xfrm>
            <a:off x="6059520" y="269964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ounded Rectangle 39"/>
          <p:cNvSpPr/>
          <p:nvPr/>
        </p:nvSpPr>
        <p:spPr>
          <a:xfrm>
            <a:off x="4612680" y="28598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40"/>
          <p:cNvSpPr/>
          <p:nvPr/>
        </p:nvSpPr>
        <p:spPr>
          <a:xfrm>
            <a:off x="4612680" y="285984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44" name="Picture 41" descr="icon_refresh.png"/>
          <p:cNvPicPr/>
          <p:nvPr/>
        </p:nvPicPr>
        <p:blipFill>
          <a:blip r:embed="rId6"/>
          <a:stretch/>
        </p:blipFill>
        <p:spPr>
          <a:xfrm>
            <a:off x="4749840" y="29570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5" name="TextBox 42"/>
          <p:cNvSpPr/>
          <p:nvPr/>
        </p:nvSpPr>
        <p:spPr>
          <a:xfrm>
            <a:off x="5234400" y="297180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harmonization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Box 43"/>
          <p:cNvSpPr/>
          <p:nvPr/>
        </p:nvSpPr>
        <p:spPr>
          <a:xfrm>
            <a:off x="5234400" y="31622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Common period: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Down Arrow 44"/>
          <p:cNvSpPr/>
          <p:nvPr/>
        </p:nvSpPr>
        <p:spPr>
          <a:xfrm>
            <a:off x="6059520" y="348840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ounded Rectangle 45"/>
          <p:cNvSpPr/>
          <p:nvPr/>
        </p:nvSpPr>
        <p:spPr>
          <a:xfrm>
            <a:off x="4612680" y="36482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46"/>
          <p:cNvSpPr/>
          <p:nvPr/>
        </p:nvSpPr>
        <p:spPr>
          <a:xfrm>
            <a:off x="4612680" y="364824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0" name="Picture 47" descr="icon_share.png"/>
          <p:cNvPicPr/>
          <p:nvPr/>
        </p:nvPicPr>
        <p:blipFill>
          <a:blip r:embed="rId7"/>
          <a:stretch/>
        </p:blipFill>
        <p:spPr>
          <a:xfrm>
            <a:off x="4749840" y="37454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1" name="TextBox 48"/>
          <p:cNvSpPr/>
          <p:nvPr/>
        </p:nvSpPr>
        <p:spPr>
          <a:xfrm>
            <a:off x="5234400" y="37605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integration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Box 49"/>
          <p:cNvSpPr/>
          <p:nvPr/>
        </p:nvSpPr>
        <p:spPr>
          <a:xfrm>
            <a:off x="5234400" y="39506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Weather + production + capacity.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Down Arrow 50"/>
          <p:cNvSpPr/>
          <p:nvPr/>
        </p:nvSpPr>
        <p:spPr>
          <a:xfrm>
            <a:off x="6059520" y="427716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ounded Rectangle 51"/>
          <p:cNvSpPr/>
          <p:nvPr/>
        </p:nvSpPr>
        <p:spPr>
          <a:xfrm>
            <a:off x="4612680" y="443700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52"/>
          <p:cNvSpPr/>
          <p:nvPr/>
        </p:nvSpPr>
        <p:spPr>
          <a:xfrm>
            <a:off x="4612680" y="443700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6" name="Picture 53" descr="icon_database.png"/>
          <p:cNvPicPr/>
          <p:nvPr/>
        </p:nvPicPr>
        <p:blipFill>
          <a:blip r:embed="rId8"/>
          <a:stretch/>
        </p:blipFill>
        <p:spPr>
          <a:xfrm>
            <a:off x="4749840" y="453420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7" name="TextBox 54"/>
          <p:cNvSpPr/>
          <p:nvPr/>
        </p:nvSpPr>
        <p:spPr>
          <a:xfrm>
            <a:off x="5234400" y="45489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Consolidated dataset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55"/>
          <p:cNvSpPr/>
          <p:nvPr/>
        </p:nvSpPr>
        <p:spPr>
          <a:xfrm>
            <a:off x="5234400" y="473940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 x day,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Down Arrow 56"/>
          <p:cNvSpPr/>
          <p:nvPr/>
        </p:nvSpPr>
        <p:spPr>
          <a:xfrm>
            <a:off x="6059520" y="506556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ounded Rectangle 57"/>
          <p:cNvSpPr/>
          <p:nvPr/>
        </p:nvSpPr>
        <p:spPr>
          <a:xfrm>
            <a:off x="4612680" y="522576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58"/>
          <p:cNvSpPr/>
          <p:nvPr/>
        </p:nvSpPr>
        <p:spPr>
          <a:xfrm>
            <a:off x="4612680" y="5225760"/>
            <a:ext cx="32400" cy="55584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2" name="Picture 59" descr="icon_chart.png"/>
          <p:cNvPicPr/>
          <p:nvPr/>
        </p:nvPicPr>
        <p:blipFill>
          <a:blip r:embed="rId9"/>
          <a:stretch/>
        </p:blipFill>
        <p:spPr>
          <a:xfrm>
            <a:off x="4749840" y="532260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3" name="TextBox 60"/>
          <p:cNvSpPr/>
          <p:nvPr/>
        </p:nvSpPr>
        <p:spPr>
          <a:xfrm>
            <a:off x="5234400" y="533772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Exploratory analysis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Box 61"/>
          <p:cNvSpPr/>
          <p:nvPr/>
        </p:nvSpPr>
        <p:spPr>
          <a:xfrm>
            <a:off x="5234400" y="552816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Correlations, trends, seasonality.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Rounded Rectangle 62"/>
          <p:cNvSpPr/>
          <p:nvPr/>
        </p:nvSpPr>
        <p:spPr>
          <a:xfrm>
            <a:off x="8631000" y="207108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63"/>
          <p:cNvSpPr/>
          <p:nvPr/>
        </p:nvSpPr>
        <p:spPr>
          <a:xfrm>
            <a:off x="8631000" y="2071080"/>
            <a:ext cx="32400" cy="55584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7" name="Picture 64" descr="icon_gear.png"/>
          <p:cNvPicPr/>
          <p:nvPr/>
        </p:nvPicPr>
        <p:blipFill>
          <a:blip r:embed="rId10"/>
          <a:stretch/>
        </p:blipFill>
        <p:spPr>
          <a:xfrm>
            <a:off x="8768160" y="216828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8" name="TextBox 65"/>
          <p:cNvSpPr/>
          <p:nvPr/>
        </p:nvSpPr>
        <p:spPr>
          <a:xfrm>
            <a:off x="9252720" y="218304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Machine Learning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Box 66"/>
          <p:cNvSpPr/>
          <p:nvPr/>
        </p:nvSpPr>
        <p:spPr>
          <a:xfrm>
            <a:off x="9252720" y="2373480"/>
            <a:ext cx="22492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Regression modeling.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Down Arrow 67"/>
          <p:cNvSpPr/>
          <p:nvPr/>
        </p:nvSpPr>
        <p:spPr>
          <a:xfrm>
            <a:off x="10077840" y="269964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ounded Rectangle 68"/>
          <p:cNvSpPr/>
          <p:nvPr/>
        </p:nvSpPr>
        <p:spPr>
          <a:xfrm>
            <a:off x="8631000" y="28598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69"/>
          <p:cNvSpPr/>
          <p:nvPr/>
        </p:nvSpPr>
        <p:spPr>
          <a:xfrm>
            <a:off x="8631000" y="2859840"/>
            <a:ext cx="32400" cy="55584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3" name="Picture 70" descr="icon_sun.png"/>
          <p:cNvPicPr/>
          <p:nvPr/>
        </p:nvPicPr>
        <p:blipFill>
          <a:blip r:embed="rId11"/>
          <a:stretch/>
        </p:blipFill>
        <p:spPr>
          <a:xfrm>
            <a:off x="8768160" y="29570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4" name="TextBox 71"/>
          <p:cNvSpPr/>
          <p:nvPr/>
        </p:nvSpPr>
        <p:spPr>
          <a:xfrm>
            <a:off x="9252720" y="297180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Radiation forecast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Box 72"/>
          <p:cNvSpPr/>
          <p:nvPr/>
        </p:nvSpPr>
        <p:spPr>
          <a:xfrm>
            <a:off x="9252720" y="3162240"/>
            <a:ext cx="22492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Predicts next-day visible radiation.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Down Arrow 73"/>
          <p:cNvSpPr/>
          <p:nvPr/>
        </p:nvSpPr>
        <p:spPr>
          <a:xfrm>
            <a:off x="10077840" y="3488400"/>
            <a:ext cx="68760" cy="871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4560" tIns="28080" rIns="3456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ounded Rectangle 74"/>
          <p:cNvSpPr/>
          <p:nvPr/>
        </p:nvSpPr>
        <p:spPr>
          <a:xfrm>
            <a:off x="8631000" y="3648240"/>
            <a:ext cx="2962440" cy="5558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75"/>
          <p:cNvSpPr/>
          <p:nvPr/>
        </p:nvSpPr>
        <p:spPr>
          <a:xfrm>
            <a:off x="8631000" y="3648240"/>
            <a:ext cx="32400" cy="55584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6200" tIns="45000" rIns="162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9" name="Picture 76" descr="icon_battery.png"/>
          <p:cNvPicPr/>
          <p:nvPr/>
        </p:nvPicPr>
        <p:blipFill>
          <a:blip r:embed="rId12"/>
          <a:stretch/>
        </p:blipFill>
        <p:spPr>
          <a:xfrm>
            <a:off x="8768160" y="3745440"/>
            <a:ext cx="361440" cy="36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0" name="TextBox 77"/>
          <p:cNvSpPr/>
          <p:nvPr/>
        </p:nvSpPr>
        <p:spPr>
          <a:xfrm>
            <a:off x="9252720" y="3760560"/>
            <a:ext cx="2249280" cy="19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Production estimate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Box 78"/>
          <p:cNvSpPr/>
          <p:nvPr/>
        </p:nvSpPr>
        <p:spPr>
          <a:xfrm>
            <a:off x="9252720" y="3950640"/>
            <a:ext cx="224928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Radiation → kWh/m² at 20% efficiency.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2" name="Connector 79"/>
          <p:cNvCxnSpPr/>
          <p:nvPr/>
        </p:nvCxnSpPr>
        <p:spPr>
          <a:xfrm>
            <a:off x="3560760" y="235116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3" name="Connector 80"/>
          <p:cNvCxnSpPr/>
          <p:nvPr/>
        </p:nvCxnSpPr>
        <p:spPr>
          <a:xfrm>
            <a:off x="3560760" y="313956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4" name="Connector 81"/>
          <p:cNvCxnSpPr/>
          <p:nvPr/>
        </p:nvCxnSpPr>
        <p:spPr>
          <a:xfrm>
            <a:off x="3560760" y="392832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5" name="Connector 82"/>
          <p:cNvCxnSpPr/>
          <p:nvPr/>
        </p:nvCxnSpPr>
        <p:spPr>
          <a:xfrm>
            <a:off x="3560760" y="4716720"/>
            <a:ext cx="44352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6" name="Connector 83"/>
          <p:cNvCxnSpPr/>
          <p:nvPr/>
        </p:nvCxnSpPr>
        <p:spPr>
          <a:xfrm>
            <a:off x="3999960" y="2351160"/>
            <a:ext cx="4320" cy="236988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7" name="Connector 84"/>
          <p:cNvCxnSpPr/>
          <p:nvPr/>
        </p:nvCxnSpPr>
        <p:spPr>
          <a:xfrm>
            <a:off x="3999960" y="2351160"/>
            <a:ext cx="616680" cy="432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  <a:tailEnd len="med" type="triangle" w="med"/>
          </a:ln>
        </p:spPr>
      </p:cxnSp>
      <p:cxnSp>
        <p:nvCxnSpPr>
          <p:cNvPr id="1188" name="Connector 85"/>
          <p:cNvCxnSpPr/>
          <p:nvPr/>
        </p:nvCxnSpPr>
        <p:spPr>
          <a:xfrm>
            <a:off x="7579080" y="5505480"/>
            <a:ext cx="573480" cy="432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89" name="Connector 86"/>
          <p:cNvCxnSpPr/>
          <p:nvPr/>
        </p:nvCxnSpPr>
        <p:spPr>
          <a:xfrm flipV="1">
            <a:off x="8148240" y="2351160"/>
            <a:ext cx="4320" cy="315864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90" name="Connector 87"/>
          <p:cNvCxnSpPr/>
          <p:nvPr/>
        </p:nvCxnSpPr>
        <p:spPr>
          <a:xfrm>
            <a:off x="8148240" y="2351160"/>
            <a:ext cx="486720" cy="432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  <a:tailEnd len="med" type="triangle" w="med"/>
          </a:ln>
        </p:spPr>
      </p:cxnSp>
      <p:cxnSp>
        <p:nvCxnSpPr>
          <p:cNvPr id="1191" name="Connector 88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192" name="TextBox 89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Box 90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19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259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03 · EXPLORATORY ANALYSIS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What explains solar production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Correlations between weather variables and production per capacity, across 26,676 observations.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Rounded Rectangle 7"/>
          <p:cNvSpPr/>
          <p:nvPr/>
        </p:nvSpPr>
        <p:spPr>
          <a:xfrm>
            <a:off x="7360920" y="1828800"/>
            <a:ext cx="4323960" cy="1195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TextBox 8"/>
          <p:cNvSpPr/>
          <p:nvPr/>
        </p:nvSpPr>
        <p:spPr>
          <a:xfrm>
            <a:off x="7589520" y="1965960"/>
            <a:ext cx="12956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0.93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Box 9"/>
          <p:cNvSpPr/>
          <p:nvPr/>
        </p:nvSpPr>
        <p:spPr>
          <a:xfrm>
            <a:off x="8960760" y="1983960"/>
            <a:ext cx="24937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Visible radiation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Box 10"/>
          <p:cNvSpPr/>
          <p:nvPr/>
        </p:nvSpPr>
        <p:spPr>
          <a:xfrm>
            <a:off x="8960760" y="2388960"/>
            <a:ext cx="249372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Strongest correlation with production.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Rounded Rectangle 11"/>
          <p:cNvSpPr/>
          <p:nvPr/>
        </p:nvSpPr>
        <p:spPr>
          <a:xfrm>
            <a:off x="7360920" y="3193920"/>
            <a:ext cx="4323960" cy="1195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TextBox 12"/>
          <p:cNvSpPr/>
          <p:nvPr/>
        </p:nvSpPr>
        <p:spPr>
          <a:xfrm>
            <a:off x="7589520" y="3331080"/>
            <a:ext cx="12956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-0.75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Box 13"/>
          <p:cNvSpPr/>
          <p:nvPr/>
        </p:nvSpPr>
        <p:spPr>
          <a:xfrm>
            <a:off x="8960760" y="3348720"/>
            <a:ext cx="24937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Relative humidity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Box 14"/>
          <p:cNvSpPr/>
          <p:nvPr/>
        </p:nvSpPr>
        <p:spPr>
          <a:xfrm>
            <a:off x="8960760" y="3753720"/>
            <a:ext cx="249372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Negative correlation (cloudier sky).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Rounded Rectangle 15"/>
          <p:cNvSpPr/>
          <p:nvPr/>
        </p:nvSpPr>
        <p:spPr>
          <a:xfrm>
            <a:off x="7360920" y="4558680"/>
            <a:ext cx="4323960" cy="11955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TextBox 16"/>
          <p:cNvSpPr/>
          <p:nvPr/>
        </p:nvSpPr>
        <p:spPr>
          <a:xfrm>
            <a:off x="7589520" y="4695840"/>
            <a:ext cx="12956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0.87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Box 17"/>
          <p:cNvSpPr/>
          <p:nvPr/>
        </p:nvSpPr>
        <p:spPr>
          <a:xfrm>
            <a:off x="8960760" y="4713840"/>
            <a:ext cx="24937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Potential evapotranspiration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Box 18"/>
          <p:cNvSpPr/>
          <p:nvPr/>
        </p:nvSpPr>
        <p:spPr>
          <a:xfrm>
            <a:off x="8960760" y="5118840"/>
            <a:ext cx="2493720" cy="59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 positive correlation, tied to sunshine.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74" name="Connector 1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275" name="TextBox 20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Box 21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05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Rounded Rectangle 964"/>
          <p:cNvSpPr/>
          <p:nvPr/>
        </p:nvSpPr>
        <p:spPr>
          <a:xfrm>
            <a:off x="502920" y="1828800"/>
            <a:ext cx="6579360" cy="3927600"/>
          </a:xfrm>
          <a:prstGeom prst="roundRect">
            <a:avLst>
              <a:gd name="adj" fmla="val 186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TextBox 965"/>
          <p:cNvSpPr/>
          <p:nvPr/>
        </p:nvSpPr>
        <p:spPr>
          <a:xfrm>
            <a:off x="502920" y="1901880"/>
            <a:ext cx="6579360" cy="34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Correlation Matrix | Meteorological Variables vs Solar Production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Box 966"/>
          <p:cNvSpPr/>
          <p:nvPr/>
        </p:nvSpPr>
        <p:spPr>
          <a:xfrm>
            <a:off x="731520" y="23407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Box 967"/>
          <p:cNvSpPr/>
          <p:nvPr/>
        </p:nvSpPr>
        <p:spPr>
          <a:xfrm>
            <a:off x="731520" y="25610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968"/>
          <p:cNvSpPr/>
          <p:nvPr/>
        </p:nvSpPr>
        <p:spPr>
          <a:xfrm>
            <a:off x="731520" y="278136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969"/>
          <p:cNvSpPr/>
          <p:nvPr/>
        </p:nvSpPr>
        <p:spPr>
          <a:xfrm>
            <a:off x="731520" y="30013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Box 970"/>
          <p:cNvSpPr/>
          <p:nvPr/>
        </p:nvSpPr>
        <p:spPr>
          <a:xfrm>
            <a:off x="731520" y="32216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Box 971"/>
          <p:cNvSpPr/>
          <p:nvPr/>
        </p:nvSpPr>
        <p:spPr>
          <a:xfrm>
            <a:off x="731520" y="344196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Box 972"/>
          <p:cNvSpPr/>
          <p:nvPr/>
        </p:nvSpPr>
        <p:spPr>
          <a:xfrm>
            <a:off x="731520" y="36619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Box 973"/>
          <p:cNvSpPr/>
          <p:nvPr/>
        </p:nvSpPr>
        <p:spPr>
          <a:xfrm>
            <a:off x="731520" y="38822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Box 974"/>
          <p:cNvSpPr/>
          <p:nvPr/>
        </p:nvSpPr>
        <p:spPr>
          <a:xfrm>
            <a:off x="731520" y="410256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Box 975"/>
          <p:cNvSpPr/>
          <p:nvPr/>
        </p:nvSpPr>
        <p:spPr>
          <a:xfrm>
            <a:off x="731520" y="432252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Box 976"/>
          <p:cNvSpPr/>
          <p:nvPr/>
        </p:nvSpPr>
        <p:spPr>
          <a:xfrm>
            <a:off x="731520" y="4542840"/>
            <a:ext cx="837000" cy="18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Rounded Rectangle 977"/>
          <p:cNvSpPr/>
          <p:nvPr/>
        </p:nvSpPr>
        <p:spPr>
          <a:xfrm>
            <a:off x="164592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Rounded Rectangle 978"/>
          <p:cNvSpPr/>
          <p:nvPr/>
        </p:nvSpPr>
        <p:spPr>
          <a:xfrm>
            <a:off x="212256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Rounded Rectangle 979"/>
          <p:cNvSpPr/>
          <p:nvPr/>
        </p:nvSpPr>
        <p:spPr>
          <a:xfrm>
            <a:off x="259956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Rounded Rectangle 980"/>
          <p:cNvSpPr/>
          <p:nvPr/>
        </p:nvSpPr>
        <p:spPr>
          <a:xfrm>
            <a:off x="307620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Rounded Rectangle 981"/>
          <p:cNvSpPr/>
          <p:nvPr/>
        </p:nvSpPr>
        <p:spPr>
          <a:xfrm>
            <a:off x="355284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Rounded Rectangle 982"/>
          <p:cNvSpPr/>
          <p:nvPr/>
        </p:nvSpPr>
        <p:spPr>
          <a:xfrm>
            <a:off x="402948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Rounded Rectangle 983"/>
          <p:cNvSpPr/>
          <p:nvPr/>
        </p:nvSpPr>
        <p:spPr>
          <a:xfrm>
            <a:off x="450648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Rounded Rectangle 984"/>
          <p:cNvSpPr/>
          <p:nvPr/>
        </p:nvSpPr>
        <p:spPr>
          <a:xfrm>
            <a:off x="498312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Rounded Rectangle 985"/>
          <p:cNvSpPr/>
          <p:nvPr/>
        </p:nvSpPr>
        <p:spPr>
          <a:xfrm>
            <a:off x="545976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Rounded Rectangle 986"/>
          <p:cNvSpPr/>
          <p:nvPr/>
        </p:nvSpPr>
        <p:spPr>
          <a:xfrm>
            <a:off x="593640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Rounded Rectangle 987"/>
          <p:cNvSpPr/>
          <p:nvPr/>
        </p:nvSpPr>
        <p:spPr>
          <a:xfrm>
            <a:off x="6413400" y="23407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Rounded Rectangle 988"/>
          <p:cNvSpPr/>
          <p:nvPr/>
        </p:nvSpPr>
        <p:spPr>
          <a:xfrm>
            <a:off x="164592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Rounded Rectangle 989"/>
          <p:cNvSpPr/>
          <p:nvPr/>
        </p:nvSpPr>
        <p:spPr>
          <a:xfrm>
            <a:off x="212256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Rounded Rectangle 990"/>
          <p:cNvSpPr/>
          <p:nvPr/>
        </p:nvSpPr>
        <p:spPr>
          <a:xfrm>
            <a:off x="259956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Rounded Rectangle 991"/>
          <p:cNvSpPr/>
          <p:nvPr/>
        </p:nvSpPr>
        <p:spPr>
          <a:xfrm>
            <a:off x="307620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Rounded Rectangle 992"/>
          <p:cNvSpPr/>
          <p:nvPr/>
        </p:nvSpPr>
        <p:spPr>
          <a:xfrm>
            <a:off x="355284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Rounded Rectangle 993"/>
          <p:cNvSpPr/>
          <p:nvPr/>
        </p:nvSpPr>
        <p:spPr>
          <a:xfrm>
            <a:off x="402948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ounded Rectangle 994"/>
          <p:cNvSpPr/>
          <p:nvPr/>
        </p:nvSpPr>
        <p:spPr>
          <a:xfrm>
            <a:off x="450648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ounded Rectangle 995"/>
          <p:cNvSpPr/>
          <p:nvPr/>
        </p:nvSpPr>
        <p:spPr>
          <a:xfrm>
            <a:off x="498312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Rounded Rectangle 996"/>
          <p:cNvSpPr/>
          <p:nvPr/>
        </p:nvSpPr>
        <p:spPr>
          <a:xfrm>
            <a:off x="545976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Rounded Rectangle 997"/>
          <p:cNvSpPr/>
          <p:nvPr/>
        </p:nvSpPr>
        <p:spPr>
          <a:xfrm>
            <a:off x="593640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Rounded Rectangle 998"/>
          <p:cNvSpPr/>
          <p:nvPr/>
        </p:nvSpPr>
        <p:spPr>
          <a:xfrm>
            <a:off x="6413400" y="25610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Rounded Rectangle 999"/>
          <p:cNvSpPr/>
          <p:nvPr/>
        </p:nvSpPr>
        <p:spPr>
          <a:xfrm>
            <a:off x="164592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Rounded Rectangle 1000"/>
          <p:cNvSpPr/>
          <p:nvPr/>
        </p:nvSpPr>
        <p:spPr>
          <a:xfrm>
            <a:off x="212256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Rounded Rectangle 1001"/>
          <p:cNvSpPr/>
          <p:nvPr/>
        </p:nvSpPr>
        <p:spPr>
          <a:xfrm>
            <a:off x="259956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Rounded Rectangle 1002"/>
          <p:cNvSpPr/>
          <p:nvPr/>
        </p:nvSpPr>
        <p:spPr>
          <a:xfrm>
            <a:off x="307620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Rounded Rectangle 1003"/>
          <p:cNvSpPr/>
          <p:nvPr/>
        </p:nvSpPr>
        <p:spPr>
          <a:xfrm>
            <a:off x="355284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Rounded Rectangle 1004"/>
          <p:cNvSpPr/>
          <p:nvPr/>
        </p:nvSpPr>
        <p:spPr>
          <a:xfrm>
            <a:off x="402948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Rounded Rectangle 1005"/>
          <p:cNvSpPr/>
          <p:nvPr/>
        </p:nvSpPr>
        <p:spPr>
          <a:xfrm>
            <a:off x="450648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Rounded Rectangle 1006"/>
          <p:cNvSpPr/>
          <p:nvPr/>
        </p:nvSpPr>
        <p:spPr>
          <a:xfrm>
            <a:off x="498312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Rounded Rectangle 1007"/>
          <p:cNvSpPr/>
          <p:nvPr/>
        </p:nvSpPr>
        <p:spPr>
          <a:xfrm>
            <a:off x="545976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Rounded Rectangle 1008"/>
          <p:cNvSpPr/>
          <p:nvPr/>
        </p:nvSpPr>
        <p:spPr>
          <a:xfrm>
            <a:off x="593640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Rounded Rectangle 1009"/>
          <p:cNvSpPr/>
          <p:nvPr/>
        </p:nvSpPr>
        <p:spPr>
          <a:xfrm>
            <a:off x="6413400" y="27813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Rounded Rectangle 1010"/>
          <p:cNvSpPr/>
          <p:nvPr/>
        </p:nvSpPr>
        <p:spPr>
          <a:xfrm>
            <a:off x="164592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Rounded Rectangle 1011"/>
          <p:cNvSpPr/>
          <p:nvPr/>
        </p:nvSpPr>
        <p:spPr>
          <a:xfrm>
            <a:off x="212256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012"/>
          <p:cNvSpPr/>
          <p:nvPr/>
        </p:nvSpPr>
        <p:spPr>
          <a:xfrm>
            <a:off x="259956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Rounded Rectangle 1013"/>
          <p:cNvSpPr/>
          <p:nvPr/>
        </p:nvSpPr>
        <p:spPr>
          <a:xfrm>
            <a:off x="307620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Rounded Rectangle 1014"/>
          <p:cNvSpPr/>
          <p:nvPr/>
        </p:nvSpPr>
        <p:spPr>
          <a:xfrm>
            <a:off x="355284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Rounded Rectangle 1015"/>
          <p:cNvSpPr/>
          <p:nvPr/>
        </p:nvSpPr>
        <p:spPr>
          <a:xfrm>
            <a:off x="402948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Rounded Rectangle 1016"/>
          <p:cNvSpPr/>
          <p:nvPr/>
        </p:nvSpPr>
        <p:spPr>
          <a:xfrm>
            <a:off x="450648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Rounded Rectangle 1017"/>
          <p:cNvSpPr/>
          <p:nvPr/>
        </p:nvSpPr>
        <p:spPr>
          <a:xfrm>
            <a:off x="498312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Rounded Rectangle 1018"/>
          <p:cNvSpPr/>
          <p:nvPr/>
        </p:nvSpPr>
        <p:spPr>
          <a:xfrm>
            <a:off x="545976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ounded Rectangle 1019"/>
          <p:cNvSpPr/>
          <p:nvPr/>
        </p:nvSpPr>
        <p:spPr>
          <a:xfrm>
            <a:off x="593640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ounded Rectangle 1020"/>
          <p:cNvSpPr/>
          <p:nvPr/>
        </p:nvSpPr>
        <p:spPr>
          <a:xfrm>
            <a:off x="6413400" y="30013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Rounded Rectangle 1021"/>
          <p:cNvSpPr/>
          <p:nvPr/>
        </p:nvSpPr>
        <p:spPr>
          <a:xfrm>
            <a:off x="164592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Rounded Rectangle 1022"/>
          <p:cNvSpPr/>
          <p:nvPr/>
        </p:nvSpPr>
        <p:spPr>
          <a:xfrm>
            <a:off x="212256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Rounded Rectangle 1023"/>
          <p:cNvSpPr/>
          <p:nvPr/>
        </p:nvSpPr>
        <p:spPr>
          <a:xfrm>
            <a:off x="259956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Rounded Rectangle 1024"/>
          <p:cNvSpPr/>
          <p:nvPr/>
        </p:nvSpPr>
        <p:spPr>
          <a:xfrm>
            <a:off x="307620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Rounded Rectangle 1025"/>
          <p:cNvSpPr/>
          <p:nvPr/>
        </p:nvSpPr>
        <p:spPr>
          <a:xfrm>
            <a:off x="355284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Rounded Rectangle 1026"/>
          <p:cNvSpPr/>
          <p:nvPr/>
        </p:nvSpPr>
        <p:spPr>
          <a:xfrm>
            <a:off x="402948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Rounded Rectangle 1027"/>
          <p:cNvSpPr/>
          <p:nvPr/>
        </p:nvSpPr>
        <p:spPr>
          <a:xfrm>
            <a:off x="450648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Rounded Rectangle 1028"/>
          <p:cNvSpPr/>
          <p:nvPr/>
        </p:nvSpPr>
        <p:spPr>
          <a:xfrm>
            <a:off x="498312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Rounded Rectangle 1029"/>
          <p:cNvSpPr/>
          <p:nvPr/>
        </p:nvSpPr>
        <p:spPr>
          <a:xfrm>
            <a:off x="545976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Rounded Rectangle 1030"/>
          <p:cNvSpPr/>
          <p:nvPr/>
        </p:nvSpPr>
        <p:spPr>
          <a:xfrm>
            <a:off x="593640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Rounded Rectangle 1031"/>
          <p:cNvSpPr/>
          <p:nvPr/>
        </p:nvSpPr>
        <p:spPr>
          <a:xfrm>
            <a:off x="6413400" y="32216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Rounded Rectangle 1032"/>
          <p:cNvSpPr/>
          <p:nvPr/>
        </p:nvSpPr>
        <p:spPr>
          <a:xfrm>
            <a:off x="164592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Rounded Rectangle 1033"/>
          <p:cNvSpPr/>
          <p:nvPr/>
        </p:nvSpPr>
        <p:spPr>
          <a:xfrm>
            <a:off x="212256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Rounded Rectangle 1034"/>
          <p:cNvSpPr/>
          <p:nvPr/>
        </p:nvSpPr>
        <p:spPr>
          <a:xfrm>
            <a:off x="259956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Rounded Rectangle 1035"/>
          <p:cNvSpPr/>
          <p:nvPr/>
        </p:nvSpPr>
        <p:spPr>
          <a:xfrm>
            <a:off x="307620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Rounded Rectangle 1036"/>
          <p:cNvSpPr/>
          <p:nvPr/>
        </p:nvSpPr>
        <p:spPr>
          <a:xfrm>
            <a:off x="355284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Rounded Rectangle 1037"/>
          <p:cNvSpPr/>
          <p:nvPr/>
        </p:nvSpPr>
        <p:spPr>
          <a:xfrm>
            <a:off x="402948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Rounded Rectangle 1038"/>
          <p:cNvSpPr/>
          <p:nvPr/>
        </p:nvSpPr>
        <p:spPr>
          <a:xfrm>
            <a:off x="450648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Rounded Rectangle 1039"/>
          <p:cNvSpPr/>
          <p:nvPr/>
        </p:nvSpPr>
        <p:spPr>
          <a:xfrm>
            <a:off x="498312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Rounded Rectangle 1040"/>
          <p:cNvSpPr/>
          <p:nvPr/>
        </p:nvSpPr>
        <p:spPr>
          <a:xfrm>
            <a:off x="545976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Rounded Rectangle 1041"/>
          <p:cNvSpPr/>
          <p:nvPr/>
        </p:nvSpPr>
        <p:spPr>
          <a:xfrm>
            <a:off x="593640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Rounded Rectangle 1042"/>
          <p:cNvSpPr/>
          <p:nvPr/>
        </p:nvSpPr>
        <p:spPr>
          <a:xfrm>
            <a:off x="6413400" y="34419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Rounded Rectangle 1043"/>
          <p:cNvSpPr/>
          <p:nvPr/>
        </p:nvSpPr>
        <p:spPr>
          <a:xfrm>
            <a:off x="164592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ounded Rectangle 1044"/>
          <p:cNvSpPr/>
          <p:nvPr/>
        </p:nvSpPr>
        <p:spPr>
          <a:xfrm>
            <a:off x="212256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ounded Rectangle 1045"/>
          <p:cNvSpPr/>
          <p:nvPr/>
        </p:nvSpPr>
        <p:spPr>
          <a:xfrm>
            <a:off x="259956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Rounded Rectangle 1046"/>
          <p:cNvSpPr/>
          <p:nvPr/>
        </p:nvSpPr>
        <p:spPr>
          <a:xfrm>
            <a:off x="307620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ounded Rectangle 1047"/>
          <p:cNvSpPr/>
          <p:nvPr/>
        </p:nvSpPr>
        <p:spPr>
          <a:xfrm>
            <a:off x="355284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ounded Rectangle 1048"/>
          <p:cNvSpPr/>
          <p:nvPr/>
        </p:nvSpPr>
        <p:spPr>
          <a:xfrm>
            <a:off x="402948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Rounded Rectangle 1049"/>
          <p:cNvSpPr/>
          <p:nvPr/>
        </p:nvSpPr>
        <p:spPr>
          <a:xfrm>
            <a:off x="450648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Rounded Rectangle 1050"/>
          <p:cNvSpPr/>
          <p:nvPr/>
        </p:nvSpPr>
        <p:spPr>
          <a:xfrm>
            <a:off x="498312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Rounded Rectangle 1051"/>
          <p:cNvSpPr/>
          <p:nvPr/>
        </p:nvSpPr>
        <p:spPr>
          <a:xfrm>
            <a:off x="545976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Rounded Rectangle 1052"/>
          <p:cNvSpPr/>
          <p:nvPr/>
        </p:nvSpPr>
        <p:spPr>
          <a:xfrm>
            <a:off x="593640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Rounded Rectangle 1053"/>
          <p:cNvSpPr/>
          <p:nvPr/>
        </p:nvSpPr>
        <p:spPr>
          <a:xfrm>
            <a:off x="6413400" y="36619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Rounded Rectangle 1054"/>
          <p:cNvSpPr/>
          <p:nvPr/>
        </p:nvSpPr>
        <p:spPr>
          <a:xfrm>
            <a:off x="164592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Rounded Rectangle 1055"/>
          <p:cNvSpPr/>
          <p:nvPr/>
        </p:nvSpPr>
        <p:spPr>
          <a:xfrm>
            <a:off x="212256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Rounded Rectangle 1056"/>
          <p:cNvSpPr/>
          <p:nvPr/>
        </p:nvSpPr>
        <p:spPr>
          <a:xfrm>
            <a:off x="259956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Rounded Rectangle 1057"/>
          <p:cNvSpPr/>
          <p:nvPr/>
        </p:nvSpPr>
        <p:spPr>
          <a:xfrm>
            <a:off x="307620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Rounded Rectangle 1058"/>
          <p:cNvSpPr/>
          <p:nvPr/>
        </p:nvSpPr>
        <p:spPr>
          <a:xfrm>
            <a:off x="355284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Rounded Rectangle 1059"/>
          <p:cNvSpPr/>
          <p:nvPr/>
        </p:nvSpPr>
        <p:spPr>
          <a:xfrm>
            <a:off x="402948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Rounded Rectangle 1060"/>
          <p:cNvSpPr/>
          <p:nvPr/>
        </p:nvSpPr>
        <p:spPr>
          <a:xfrm>
            <a:off x="450648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Rounded Rectangle 1061"/>
          <p:cNvSpPr/>
          <p:nvPr/>
        </p:nvSpPr>
        <p:spPr>
          <a:xfrm>
            <a:off x="498312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5" name="Rounded Rectangle 1062"/>
          <p:cNvSpPr/>
          <p:nvPr/>
        </p:nvSpPr>
        <p:spPr>
          <a:xfrm>
            <a:off x="545976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Rounded Rectangle 1063"/>
          <p:cNvSpPr/>
          <p:nvPr/>
        </p:nvSpPr>
        <p:spPr>
          <a:xfrm>
            <a:off x="593640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ounded Rectangle 1064"/>
          <p:cNvSpPr/>
          <p:nvPr/>
        </p:nvSpPr>
        <p:spPr>
          <a:xfrm>
            <a:off x="6413400" y="38822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ounded Rectangle 1065"/>
          <p:cNvSpPr/>
          <p:nvPr/>
        </p:nvSpPr>
        <p:spPr>
          <a:xfrm>
            <a:off x="164592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Rounded Rectangle 1066"/>
          <p:cNvSpPr/>
          <p:nvPr/>
        </p:nvSpPr>
        <p:spPr>
          <a:xfrm>
            <a:off x="212256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ounded Rectangle 1067"/>
          <p:cNvSpPr/>
          <p:nvPr/>
        </p:nvSpPr>
        <p:spPr>
          <a:xfrm>
            <a:off x="259956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ounded Rectangle 1068"/>
          <p:cNvSpPr/>
          <p:nvPr/>
        </p:nvSpPr>
        <p:spPr>
          <a:xfrm>
            <a:off x="307620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Rounded Rectangle 1069"/>
          <p:cNvSpPr/>
          <p:nvPr/>
        </p:nvSpPr>
        <p:spPr>
          <a:xfrm>
            <a:off x="355284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Rounded Rectangle 1070"/>
          <p:cNvSpPr/>
          <p:nvPr/>
        </p:nvSpPr>
        <p:spPr>
          <a:xfrm>
            <a:off x="402948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4" name="Rounded Rectangle 1071"/>
          <p:cNvSpPr/>
          <p:nvPr/>
        </p:nvSpPr>
        <p:spPr>
          <a:xfrm>
            <a:off x="450648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Rounded Rectangle 1072"/>
          <p:cNvSpPr/>
          <p:nvPr/>
        </p:nvSpPr>
        <p:spPr>
          <a:xfrm>
            <a:off x="498312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Rounded Rectangle 1073"/>
          <p:cNvSpPr/>
          <p:nvPr/>
        </p:nvSpPr>
        <p:spPr>
          <a:xfrm>
            <a:off x="545976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7" name="Rounded Rectangle 1074"/>
          <p:cNvSpPr/>
          <p:nvPr/>
        </p:nvSpPr>
        <p:spPr>
          <a:xfrm>
            <a:off x="593640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Rounded Rectangle 1075"/>
          <p:cNvSpPr/>
          <p:nvPr/>
        </p:nvSpPr>
        <p:spPr>
          <a:xfrm>
            <a:off x="6413400" y="410256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Rounded Rectangle 1076"/>
          <p:cNvSpPr/>
          <p:nvPr/>
        </p:nvSpPr>
        <p:spPr>
          <a:xfrm>
            <a:off x="164592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0" name="Rounded Rectangle 1077"/>
          <p:cNvSpPr/>
          <p:nvPr/>
        </p:nvSpPr>
        <p:spPr>
          <a:xfrm>
            <a:off x="212256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Rounded Rectangle 1078"/>
          <p:cNvSpPr/>
          <p:nvPr/>
        </p:nvSpPr>
        <p:spPr>
          <a:xfrm>
            <a:off x="259956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2" name="Rounded Rectangle 1079"/>
          <p:cNvSpPr/>
          <p:nvPr/>
        </p:nvSpPr>
        <p:spPr>
          <a:xfrm>
            <a:off x="307620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3" name="Rounded Rectangle 1080"/>
          <p:cNvSpPr/>
          <p:nvPr/>
        </p:nvSpPr>
        <p:spPr>
          <a:xfrm>
            <a:off x="355284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Rounded Rectangle 1081"/>
          <p:cNvSpPr/>
          <p:nvPr/>
        </p:nvSpPr>
        <p:spPr>
          <a:xfrm>
            <a:off x="402948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5" name="Rounded Rectangle 1082"/>
          <p:cNvSpPr/>
          <p:nvPr/>
        </p:nvSpPr>
        <p:spPr>
          <a:xfrm>
            <a:off x="450648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Rounded Rectangle 1083"/>
          <p:cNvSpPr/>
          <p:nvPr/>
        </p:nvSpPr>
        <p:spPr>
          <a:xfrm>
            <a:off x="498312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ounded Rectangle 1084"/>
          <p:cNvSpPr/>
          <p:nvPr/>
        </p:nvSpPr>
        <p:spPr>
          <a:xfrm>
            <a:off x="545976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ounded Rectangle 1085"/>
          <p:cNvSpPr/>
          <p:nvPr/>
        </p:nvSpPr>
        <p:spPr>
          <a:xfrm>
            <a:off x="593640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9" name="Rounded Rectangle 1086"/>
          <p:cNvSpPr/>
          <p:nvPr/>
        </p:nvSpPr>
        <p:spPr>
          <a:xfrm>
            <a:off x="6413400" y="432252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Rounded Rectangle 1087"/>
          <p:cNvSpPr/>
          <p:nvPr/>
        </p:nvSpPr>
        <p:spPr>
          <a:xfrm>
            <a:off x="164592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ounded Rectangle 1088"/>
          <p:cNvSpPr/>
          <p:nvPr/>
        </p:nvSpPr>
        <p:spPr>
          <a:xfrm>
            <a:off x="212256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ounded Rectangle 1089"/>
          <p:cNvSpPr/>
          <p:nvPr/>
        </p:nvSpPr>
        <p:spPr>
          <a:xfrm>
            <a:off x="259956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Rounded Rectangle 1090"/>
          <p:cNvSpPr/>
          <p:nvPr/>
        </p:nvSpPr>
        <p:spPr>
          <a:xfrm>
            <a:off x="307620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ounded Rectangle 1091"/>
          <p:cNvSpPr/>
          <p:nvPr/>
        </p:nvSpPr>
        <p:spPr>
          <a:xfrm>
            <a:off x="355284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ounded Rectangle 1092"/>
          <p:cNvSpPr/>
          <p:nvPr/>
        </p:nvSpPr>
        <p:spPr>
          <a:xfrm>
            <a:off x="402948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Rounded Rectangle 1093"/>
          <p:cNvSpPr/>
          <p:nvPr/>
        </p:nvSpPr>
        <p:spPr>
          <a:xfrm>
            <a:off x="450648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Rounded Rectangle 1094"/>
          <p:cNvSpPr/>
          <p:nvPr/>
        </p:nvSpPr>
        <p:spPr>
          <a:xfrm>
            <a:off x="498312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8" name="Rounded Rectangle 1095"/>
          <p:cNvSpPr/>
          <p:nvPr/>
        </p:nvSpPr>
        <p:spPr>
          <a:xfrm>
            <a:off x="545976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Rounded Rectangle 1096"/>
          <p:cNvSpPr/>
          <p:nvPr/>
        </p:nvSpPr>
        <p:spPr>
          <a:xfrm>
            <a:off x="593640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Rounded Rectangle 1097"/>
          <p:cNvSpPr/>
          <p:nvPr/>
        </p:nvSpPr>
        <p:spPr>
          <a:xfrm>
            <a:off x="6413400" y="4542840"/>
            <a:ext cx="440280" cy="18396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1" name="TextBox 1098"/>
          <p:cNvSpPr/>
          <p:nvPr/>
        </p:nvSpPr>
        <p:spPr>
          <a:xfrm rot="18000000">
            <a:off x="158760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Box 1099"/>
          <p:cNvSpPr/>
          <p:nvPr/>
        </p:nvSpPr>
        <p:spPr>
          <a:xfrm rot="18000000">
            <a:off x="206460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TextBox 1100"/>
          <p:cNvSpPr/>
          <p:nvPr/>
        </p:nvSpPr>
        <p:spPr>
          <a:xfrm rot="18000000">
            <a:off x="254124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TextBox 1101"/>
          <p:cNvSpPr/>
          <p:nvPr/>
        </p:nvSpPr>
        <p:spPr>
          <a:xfrm rot="18000000">
            <a:off x="2943000" y="5008680"/>
            <a:ext cx="53892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TextBox 1102"/>
          <p:cNvSpPr/>
          <p:nvPr/>
        </p:nvSpPr>
        <p:spPr>
          <a:xfrm rot="18000000">
            <a:off x="3270600" y="5094720"/>
            <a:ext cx="73764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TextBox 1103"/>
          <p:cNvSpPr/>
          <p:nvPr/>
        </p:nvSpPr>
        <p:spPr>
          <a:xfrm rot="18000000">
            <a:off x="3747240" y="5094720"/>
            <a:ext cx="73764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TextBox 1104"/>
          <p:cNvSpPr/>
          <p:nvPr/>
        </p:nvSpPr>
        <p:spPr>
          <a:xfrm rot="18000000">
            <a:off x="4298760" y="5051160"/>
            <a:ext cx="6382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Box 1105"/>
          <p:cNvSpPr/>
          <p:nvPr/>
        </p:nvSpPr>
        <p:spPr>
          <a:xfrm rot="18000000">
            <a:off x="4738320" y="5072760"/>
            <a:ext cx="68796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TextBox 1106"/>
          <p:cNvSpPr/>
          <p:nvPr/>
        </p:nvSpPr>
        <p:spPr>
          <a:xfrm rot="18000000">
            <a:off x="5401800" y="4965480"/>
            <a:ext cx="43920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TextBox 1107"/>
          <p:cNvSpPr/>
          <p:nvPr/>
        </p:nvSpPr>
        <p:spPr>
          <a:xfrm rot="18000000">
            <a:off x="5728680" y="5051160"/>
            <a:ext cx="6382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108"/>
          <p:cNvSpPr/>
          <p:nvPr/>
        </p:nvSpPr>
        <p:spPr>
          <a:xfrm rot="18000000">
            <a:off x="6093720" y="5115600"/>
            <a:ext cx="787680" cy="12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23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4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5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6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7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8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9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0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1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2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3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4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5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6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7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8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9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0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1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2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3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4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5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6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7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8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9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0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1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2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3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4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5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6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7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8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9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0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1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2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3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4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5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6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7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8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9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0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1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2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3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4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5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6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7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8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9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0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1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2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3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4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5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6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487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04 · MODELING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TextBox 3"/>
          <p:cNvSpPr/>
          <p:nvPr/>
        </p:nvSpPr>
        <p:spPr>
          <a:xfrm>
            <a:off x="502920" y="658440"/>
            <a:ext cx="10994760" cy="42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Past radiation matters: ACF &amp; PACF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TextBox 4"/>
          <p:cNvSpPr/>
          <p:nvPr/>
        </p:nvSpPr>
        <p:spPr>
          <a:xfrm>
            <a:off x="502920" y="1404000"/>
            <a:ext cx="10995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Today's radiation strongly explains tomorrow's, but most of the signal is already captured by J-1.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Rounded Rectangle 5"/>
          <p:cNvSpPr/>
          <p:nvPr/>
        </p:nvSpPr>
        <p:spPr>
          <a:xfrm>
            <a:off x="502920" y="1828800"/>
            <a:ext cx="5583600" cy="392760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Rounded Rectangle 7"/>
          <p:cNvSpPr/>
          <p:nvPr/>
        </p:nvSpPr>
        <p:spPr>
          <a:xfrm>
            <a:off x="6319440" y="1828800"/>
            <a:ext cx="5583600" cy="392760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2" name="Connector 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493" name="TextBox 10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TextBox 11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5" name=""/>
          <p:cNvPicPr/>
          <p:nvPr/>
        </p:nvPicPr>
        <p:blipFill>
          <a:blip r:embed="rId1"/>
          <a:stretch/>
        </p:blipFill>
        <p:spPr>
          <a:xfrm>
            <a:off x="538920" y="1866600"/>
            <a:ext cx="5505840" cy="386784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1496" name=""/>
          <p:cNvPicPr/>
          <p:nvPr/>
        </p:nvPicPr>
        <p:blipFill>
          <a:blip r:embed="rId2"/>
          <a:stretch/>
        </p:blipFill>
        <p:spPr>
          <a:xfrm>
            <a:off x="6354000" y="1868400"/>
            <a:ext cx="5505840" cy="386424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562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From baseline to final model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8 models evaluated, from the naive baseline to XGBoost, scored on unseen 2024–2026 data. Ridge chosen as final model.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65" name="Connector 5"/>
          <p:cNvCxnSpPr/>
          <p:nvPr/>
        </p:nvCxnSpPr>
        <p:spPr>
          <a:xfrm>
            <a:off x="708480" y="2221920"/>
            <a:ext cx="4320" cy="3149640"/>
          </a:xfrm>
          <a:prstGeom prst="straightConnector1">
            <a:avLst/>
          </a:prstGeom>
          <a:ln w="15875">
            <a:solidFill>
              <a:srgbClr val="3D4B72"/>
            </a:solidFill>
            <a:round/>
          </a:ln>
        </p:spPr>
      </p:cxnSp>
      <p:sp>
        <p:nvSpPr>
          <p:cNvPr id="1566" name="Oval 6"/>
          <p:cNvSpPr/>
          <p:nvPr/>
        </p:nvSpPr>
        <p:spPr>
          <a:xfrm>
            <a:off x="502920" y="201636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7" name="TextBox 7"/>
          <p:cNvSpPr/>
          <p:nvPr/>
        </p:nvSpPr>
        <p:spPr>
          <a:xfrm>
            <a:off x="502920" y="201636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Box 8"/>
          <p:cNvSpPr/>
          <p:nvPr/>
        </p:nvSpPr>
        <p:spPr>
          <a:xfrm>
            <a:off x="1097280" y="195768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Linear regression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TextBox 9"/>
          <p:cNvSpPr/>
          <p:nvPr/>
        </p:nvSpPr>
        <p:spPr>
          <a:xfrm>
            <a:off x="1097280" y="2250000"/>
            <a:ext cx="38012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Baseline run, no feature engineering. R² = 0.761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Oval 10"/>
          <p:cNvSpPr/>
          <p:nvPr/>
        </p:nvSpPr>
        <p:spPr>
          <a:xfrm>
            <a:off x="502920" y="280260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1" name="TextBox 11"/>
          <p:cNvSpPr/>
          <p:nvPr/>
        </p:nvSpPr>
        <p:spPr>
          <a:xfrm>
            <a:off x="502920" y="280260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TextBox 12"/>
          <p:cNvSpPr/>
          <p:nvPr/>
        </p:nvSpPr>
        <p:spPr>
          <a:xfrm>
            <a:off x="1097280" y="274428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lags &amp; rolling means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Box 13"/>
          <p:cNvSpPr/>
          <p:nvPr/>
        </p:nvSpPr>
        <p:spPr>
          <a:xfrm>
            <a:off x="1097280" y="3036240"/>
            <a:ext cx="38012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J-1, J-2, J-3 plus rolling means. R² = 0.778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4" name="Oval 14"/>
          <p:cNvSpPr/>
          <p:nvPr/>
        </p:nvSpPr>
        <p:spPr>
          <a:xfrm>
            <a:off x="502920" y="358920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Box 15"/>
          <p:cNvSpPr/>
          <p:nvPr/>
        </p:nvSpPr>
        <p:spPr>
          <a:xfrm>
            <a:off x="502920" y="358920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Box 16"/>
          <p:cNvSpPr/>
          <p:nvPr/>
        </p:nvSpPr>
        <p:spPr>
          <a:xfrm>
            <a:off x="1097280" y="3530520"/>
            <a:ext cx="38012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seasonality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Box 17"/>
          <p:cNvSpPr/>
          <p:nvPr/>
        </p:nvSpPr>
        <p:spPr>
          <a:xfrm>
            <a:off x="1097280" y="3822840"/>
            <a:ext cx="380124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Calendar encodings (sin/cos of day of year). R² = 0.792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Oval 18"/>
          <p:cNvSpPr/>
          <p:nvPr/>
        </p:nvSpPr>
        <p:spPr>
          <a:xfrm>
            <a:off x="502920" y="4375440"/>
            <a:ext cx="407160" cy="40716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Box 19"/>
          <p:cNvSpPr/>
          <p:nvPr/>
        </p:nvSpPr>
        <p:spPr>
          <a:xfrm>
            <a:off x="502920" y="437544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Box 20"/>
          <p:cNvSpPr/>
          <p:nvPr/>
        </p:nvSpPr>
        <p:spPr>
          <a:xfrm>
            <a:off x="1097280" y="431712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GridSearchCV x TimeSeriesSplit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TextBox 21"/>
          <p:cNvSpPr/>
          <p:nvPr/>
        </p:nvSpPr>
        <p:spPr>
          <a:xfrm>
            <a:off x="1097280" y="4609080"/>
            <a:ext cx="380124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Lasso, Ridge, RF, XGBoost tuned on 5 expanding-window folds.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Oval 22"/>
          <p:cNvSpPr/>
          <p:nvPr/>
        </p:nvSpPr>
        <p:spPr>
          <a:xfrm>
            <a:off x="502920" y="5161680"/>
            <a:ext cx="407160" cy="40716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3" name="TextBox 23"/>
          <p:cNvSpPr/>
          <p:nvPr/>
        </p:nvSpPr>
        <p:spPr>
          <a:xfrm>
            <a:off x="502920" y="5161680"/>
            <a:ext cx="40716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TextBox 24"/>
          <p:cNvSpPr/>
          <p:nvPr/>
        </p:nvSpPr>
        <p:spPr>
          <a:xfrm>
            <a:off x="1097280" y="5103360"/>
            <a:ext cx="380124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Ridge (L2) selected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25"/>
          <p:cNvSpPr/>
          <p:nvPr/>
        </p:nvSpPr>
        <p:spPr>
          <a:xfrm>
            <a:off x="1097280" y="5395320"/>
            <a:ext cx="380124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−15% error vs baseline (RMSE 437 → 371), with a far smaller train-test gap than RF/XGBoost.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86" name="Table 26"/>
          <p:cNvGraphicFramePr/>
          <p:nvPr/>
        </p:nvGraphicFramePr>
        <p:xfrm>
          <a:off x="5222880" y="1828800"/>
          <a:ext cx="6465600" cy="3981240"/>
        </p:xfrm>
        <a:graphic>
          <a:graphicData uri="http://schemas.openxmlformats.org/drawingml/2006/table">
            <a:tbl>
              <a:tblPr/>
              <a:tblGrid>
                <a:gridCol w="2974320"/>
                <a:gridCol w="1163880"/>
                <a:gridCol w="1163880"/>
                <a:gridCol w="1163880"/>
              </a:tblGrid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MAE</a:t>
                      </a:r>
                      <a:br>
                        <a:rPr sz="1150"/>
                      </a:b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  <a:ea typeface="Noto Sans CJK SC"/>
                        </a:rPr>
                        <a:t>RMSE 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Naive baseline (persistence)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0.708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316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437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no feature engineering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0.761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395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with lags (J-1/J-2/J-3)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0.778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381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lags + seasonality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0.792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Lasso (L1)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 (L2), FINAL MODEL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0.789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371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274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</a:tbl>
          </a:graphicData>
        </a:graphic>
      </p:graphicFrame>
      <p:cxnSp>
        <p:nvCxnSpPr>
          <p:cNvPr id="1587" name="Connector 27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588" name="TextBox 28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TextBox 29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07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591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2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3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4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5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6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7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8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9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0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1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2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3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4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5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6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7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8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9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0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1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2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3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4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5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6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7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8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9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0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1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2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3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4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5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6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7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8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9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0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1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2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3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4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5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6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7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8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9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0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1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2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3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4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5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6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7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8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9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0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1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2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3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4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655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Why Ridge, not Random Forest or XGBoost?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4"/>
          <p:cNvSpPr/>
          <p:nvPr/>
        </p:nvSpPr>
        <p:spPr>
          <a:xfrm>
            <a:off x="502920" y="1404000"/>
            <a:ext cx="1099584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5-fold cross-validation inside the training period (2020–2023): RF and XGBoost score the same test R² as Ridge (within 0.01), with a much wider train/test gap.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8" name="Table 5"/>
          <p:cNvGraphicFramePr/>
          <p:nvPr/>
        </p:nvGraphicFramePr>
        <p:xfrm>
          <a:off x="502920" y="2011680"/>
          <a:ext cx="7314120" cy="1828800"/>
        </p:xfrm>
        <a:graphic>
          <a:graphicData uri="http://schemas.openxmlformats.org/drawingml/2006/table">
            <a:tbl>
              <a:tblPr/>
              <a:tblGrid>
                <a:gridCol w="2486880"/>
                <a:gridCol w="1609200"/>
                <a:gridCol w="1609200"/>
                <a:gridCol w="1609200"/>
              </a:tblGrid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train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test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Train-test gap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Ridge, chosen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0.767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0.742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0.025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0.855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0.740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0.115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0.818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0.069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</a:tbl>
          </a:graphicData>
        </a:graphic>
      </p:graphicFrame>
      <p:sp>
        <p:nvSpPr>
          <p:cNvPr id="1659" name="Rounded Rectangle 6"/>
          <p:cNvSpPr/>
          <p:nvPr/>
        </p:nvSpPr>
        <p:spPr>
          <a:xfrm>
            <a:off x="8047800" y="2011680"/>
            <a:ext cx="3637080" cy="1824480"/>
          </a:xfrm>
          <a:prstGeom prst="roundRect">
            <a:avLst>
              <a:gd name="adj" fmla="val 4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Box 7"/>
          <p:cNvSpPr/>
          <p:nvPr/>
        </p:nvSpPr>
        <p:spPr>
          <a:xfrm>
            <a:off x="8276400" y="2240280"/>
            <a:ext cx="3179880" cy="95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Ridge stays stable fold to fold (gap of about 0.02). RF and XGBoost score the same in test (within 0.01) with a 3 to 5x larger gap: we prioritize robustness.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1" name="Rounded Rectangle 8"/>
          <p:cNvSpPr/>
          <p:nvPr/>
        </p:nvSpPr>
        <p:spPr>
          <a:xfrm>
            <a:off x="502920" y="4023360"/>
            <a:ext cx="11181960" cy="1733040"/>
          </a:xfrm>
          <a:prstGeom prst="roundRect">
            <a:avLst>
              <a:gd name="adj" fmla="val 421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2" name="TextBox 9"/>
          <p:cNvSpPr/>
          <p:nvPr/>
        </p:nvSpPr>
        <p:spPr>
          <a:xfrm>
            <a:off x="731520" y="4206240"/>
            <a:ext cx="1072476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physical limit, corrected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10"/>
          <p:cNvSpPr/>
          <p:nvPr/>
        </p:nvSpPr>
        <p:spPr>
          <a:xfrm>
            <a:off x="731520" y="4640760"/>
            <a:ext cx="10724760" cy="89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Ridge, like any linear model, has no awareness that radiation can't be negative: it can predict slightly below 0 on low-radiation winter days. Predictions are therefore clipped to 0 (np.clip) before display and export, a correction that can only reduce error, never increase it.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64" name="Connector 11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665" name="TextBox 12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13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668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9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0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1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2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3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4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5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6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7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8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9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0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1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2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3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4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5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6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7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8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9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0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1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2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3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4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5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6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7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8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9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0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1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2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3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4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5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6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7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8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9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0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1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2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3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4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5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6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7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8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9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0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1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2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3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4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5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6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7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8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9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0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1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732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final model (Ridge)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4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2025 predicted vs. actual radiation, a representative year from the 2021-2026 out-of-fold evaluation (22,150 predictions).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35" name="Connector 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736" name="TextBox 10"/>
          <p:cNvSpPr/>
          <p:nvPr/>
        </p:nvSpPr>
        <p:spPr>
          <a:xfrm>
            <a:off x="457200" y="6230160"/>
            <a:ext cx="8224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Box 11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09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8" name="Rounded Rectangle 964"/>
          <p:cNvSpPr/>
          <p:nvPr/>
        </p:nvSpPr>
        <p:spPr>
          <a:xfrm>
            <a:off x="502920" y="1828800"/>
            <a:ext cx="11013480" cy="3927600"/>
          </a:xfrm>
          <a:prstGeom prst="roundRect">
            <a:avLst>
              <a:gd name="adj" fmla="val 186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9" name=""/>
          <p:cNvPicPr/>
          <p:nvPr/>
        </p:nvPicPr>
        <p:blipFill>
          <a:blip r:embed="rId1"/>
          <a:stretch/>
        </p:blipFill>
        <p:spPr>
          <a:xfrm>
            <a:off x="501840" y="1980000"/>
            <a:ext cx="11035440" cy="359640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Rectangle 2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741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2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3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4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5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6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7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8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9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0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1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2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3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4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5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6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7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8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9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0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1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2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3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4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5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6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7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8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9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0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1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2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3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4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5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6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7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8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9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0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1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2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3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4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5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6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7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8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9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0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1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2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3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4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5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6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7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8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9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0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1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2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3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4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05" name="TextBox 2"/>
          <p:cNvSpPr/>
          <p:nvPr/>
        </p:nvSpPr>
        <p:spPr>
          <a:xfrm>
            <a:off x="502920" y="463320"/>
            <a:ext cx="799560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Box 3"/>
          <p:cNvSpPr/>
          <p:nvPr/>
        </p:nvSpPr>
        <p:spPr>
          <a:xfrm>
            <a:off x="502920" y="658440"/>
            <a:ext cx="109947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residual analysis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4"/>
          <p:cNvSpPr/>
          <p:nvPr/>
        </p:nvSpPr>
        <p:spPr>
          <a:xfrm>
            <a:off x="502920" y="1404000"/>
            <a:ext cx="1099584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Residuals over the full 2021-2026 test period (predicted minus actual, national daily mean): errors stay centered near zero.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08" name="Connector 9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809" name="TextBox 10"/>
          <p:cNvSpPr/>
          <p:nvPr/>
        </p:nvSpPr>
        <p:spPr>
          <a:xfrm>
            <a:off x="457200" y="6231600"/>
            <a:ext cx="82242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Box 11"/>
          <p:cNvSpPr/>
          <p:nvPr/>
        </p:nvSpPr>
        <p:spPr>
          <a:xfrm>
            <a:off x="11274480" y="6231600"/>
            <a:ext cx="451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10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1" name="Rounded Rectangle 964"/>
          <p:cNvSpPr/>
          <p:nvPr/>
        </p:nvSpPr>
        <p:spPr>
          <a:xfrm>
            <a:off x="502920" y="1828800"/>
            <a:ext cx="11076840" cy="395856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2" name=""/>
          <p:cNvPicPr/>
          <p:nvPr/>
        </p:nvPicPr>
        <p:blipFill>
          <a:blip r:embed="rId1"/>
          <a:stretch/>
        </p:blipFill>
        <p:spPr>
          <a:xfrm>
            <a:off x="646920" y="1901520"/>
            <a:ext cx="10771200" cy="383076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814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5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6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7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8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9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0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1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2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3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4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5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6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7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8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9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0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1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2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3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4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5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6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7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8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9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0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1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2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3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4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5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6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7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8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9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0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1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2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3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4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5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6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7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8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9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0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1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2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3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4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5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6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7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8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9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0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1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2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3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4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5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6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7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78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07 · LIMITATIONS &amp; NEXT STEPS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9" name="TextBox 3"/>
          <p:cNvSpPr/>
          <p:nvPr/>
        </p:nvSpPr>
        <p:spPr>
          <a:xfrm>
            <a:off x="502920" y="658440"/>
            <a:ext cx="10994760" cy="68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What's left to improve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0" name="TextBox 4"/>
          <p:cNvSpPr/>
          <p:nvPr/>
        </p:nvSpPr>
        <p:spPr>
          <a:xfrm>
            <a:off x="502920" y="1404000"/>
            <a:ext cx="10995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current model's known limitations, and the paths considered to go further.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1" name="TextBox 5"/>
          <p:cNvSpPr/>
          <p:nvPr/>
        </p:nvSpPr>
        <p:spPr>
          <a:xfrm>
            <a:off x="502920" y="1737360"/>
            <a:ext cx="5497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LIMITATIONS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2" name="TextBox 6"/>
          <p:cNvSpPr/>
          <p:nvPr/>
        </p:nvSpPr>
        <p:spPr>
          <a:xfrm>
            <a:off x="6187320" y="1737360"/>
            <a:ext cx="5497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NEXT STEPS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3" name="Rounded Rectangle 7"/>
          <p:cNvSpPr/>
          <p:nvPr/>
        </p:nvSpPr>
        <p:spPr>
          <a:xfrm>
            <a:off x="502920" y="21945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4" name="TextBox 8"/>
          <p:cNvSpPr/>
          <p:nvPr/>
        </p:nvSpPr>
        <p:spPr>
          <a:xfrm>
            <a:off x="685800" y="2331720"/>
            <a:ext cx="51314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single horizon (J+1)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5" name="TextBox 9"/>
          <p:cNvSpPr/>
          <p:nvPr/>
        </p:nvSpPr>
        <p:spPr>
          <a:xfrm>
            <a:off x="685800" y="2674800"/>
            <a:ext cx="51314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No J+2/J+7 forecast for longer-term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6" name="Rounded Rectangle 10"/>
          <p:cNvSpPr/>
          <p:nvPr/>
        </p:nvSpPr>
        <p:spPr>
          <a:xfrm>
            <a:off x="502920" y="338184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7" name="TextBox 11"/>
          <p:cNvSpPr/>
          <p:nvPr/>
        </p:nvSpPr>
        <p:spPr>
          <a:xfrm>
            <a:off x="685800" y="351900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Observed weather, not forecasts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8" name="TextBox 12"/>
          <p:cNvSpPr/>
          <p:nvPr/>
        </p:nvSpPr>
        <p:spPr>
          <a:xfrm>
            <a:off x="685800" y="3861720"/>
            <a:ext cx="513144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model uses measured weather for today; a real J+1 forecast would need Météo-France forecast data.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9" name="Rounded Rectangle 13"/>
          <p:cNvSpPr/>
          <p:nvPr/>
        </p:nvSpPr>
        <p:spPr>
          <a:xfrm>
            <a:off x="502920" y="45687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0" name="TextBox 14"/>
          <p:cNvSpPr/>
          <p:nvPr/>
        </p:nvSpPr>
        <p:spPr>
          <a:xfrm>
            <a:off x="685800" y="470592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Radiation as a proxy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1" name="TextBox 15"/>
          <p:cNvSpPr/>
          <p:nvPr/>
        </p:nvSpPr>
        <p:spPr>
          <a:xfrm>
            <a:off x="685800" y="5049000"/>
            <a:ext cx="51314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Production is a theoretical 20% conversion per m², not RTE's actual output.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2" name="Rounded Rectangle 16"/>
          <p:cNvSpPr/>
          <p:nvPr/>
        </p:nvSpPr>
        <p:spPr>
          <a:xfrm>
            <a:off x="6187320" y="21945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3" name="TextBox 17"/>
          <p:cNvSpPr/>
          <p:nvPr/>
        </p:nvSpPr>
        <p:spPr>
          <a:xfrm>
            <a:off x="6370200" y="2331720"/>
            <a:ext cx="51314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Extended forecasts, J+2/J+3/J+7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4" name="TextBox 18"/>
          <p:cNvSpPr/>
          <p:nvPr/>
        </p:nvSpPr>
        <p:spPr>
          <a:xfrm>
            <a:off x="6370200" y="2674800"/>
            <a:ext cx="513144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 longer-term energy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5" name="Rounded Rectangle 19"/>
          <p:cNvSpPr/>
          <p:nvPr/>
        </p:nvSpPr>
        <p:spPr>
          <a:xfrm>
            <a:off x="6187320" y="338184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6" name="TextBox 20"/>
          <p:cNvSpPr/>
          <p:nvPr/>
        </p:nvSpPr>
        <p:spPr>
          <a:xfrm>
            <a:off x="6370200" y="351900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Use weather forecasts as inputs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7" name="TextBox 21"/>
          <p:cNvSpPr/>
          <p:nvPr/>
        </p:nvSpPr>
        <p:spPr>
          <a:xfrm>
            <a:off x="6370200" y="3861720"/>
            <a:ext cx="51314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Move from a retrospective model to an operational forecast.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8" name="Rounded Rectangle 22"/>
          <p:cNvSpPr/>
          <p:nvPr/>
        </p:nvSpPr>
        <p:spPr>
          <a:xfrm>
            <a:off x="6187320" y="4568760"/>
            <a:ext cx="5497200" cy="10458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99" name="TextBox 23"/>
          <p:cNvSpPr/>
          <p:nvPr/>
        </p:nvSpPr>
        <p:spPr>
          <a:xfrm>
            <a:off x="6370200" y="4705920"/>
            <a:ext cx="513144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Predict actual production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0" name="TextBox 24"/>
          <p:cNvSpPr/>
          <p:nvPr/>
        </p:nvSpPr>
        <p:spPr>
          <a:xfrm>
            <a:off x="6370200" y="5049000"/>
            <a:ext cx="513144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Target RTE output (TWh or capacity factor) directly. This also enables anomaly detection.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01" name="Connector 25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02" name="TextBox 26"/>
          <p:cNvSpPr/>
          <p:nvPr/>
        </p:nvSpPr>
        <p:spPr>
          <a:xfrm>
            <a:off x="457200" y="6230160"/>
            <a:ext cx="8224200" cy="15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3" name="TextBox 27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" name="Rectangle 1"/>
          <p:cNvSpPr/>
          <p:nvPr/>
        </p:nvSpPr>
        <p:spPr>
          <a:xfrm>
            <a:off x="0" y="0"/>
            <a:ext cx="12187800" cy="685368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905" name="GridV901"/>
          <p:cNvCxnSpPr/>
          <p:nvPr/>
        </p:nvCxnSpPr>
        <p:spPr>
          <a:xfrm>
            <a:off x="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6" name="GridV902"/>
          <p:cNvCxnSpPr/>
          <p:nvPr/>
        </p:nvCxnSpPr>
        <p:spPr>
          <a:xfrm>
            <a:off x="304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7" name="GridV903"/>
          <p:cNvCxnSpPr/>
          <p:nvPr/>
        </p:nvCxnSpPr>
        <p:spPr>
          <a:xfrm>
            <a:off x="609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8" name="GridV904"/>
          <p:cNvCxnSpPr/>
          <p:nvPr/>
        </p:nvCxnSpPr>
        <p:spPr>
          <a:xfrm>
            <a:off x="914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9" name="GridV905"/>
          <p:cNvCxnSpPr/>
          <p:nvPr/>
        </p:nvCxnSpPr>
        <p:spPr>
          <a:xfrm>
            <a:off x="1218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0" name="GridV906"/>
          <p:cNvCxnSpPr/>
          <p:nvPr/>
        </p:nvCxnSpPr>
        <p:spPr>
          <a:xfrm>
            <a:off x="1523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1" name="GridV907"/>
          <p:cNvCxnSpPr/>
          <p:nvPr/>
        </p:nvCxnSpPr>
        <p:spPr>
          <a:xfrm>
            <a:off x="1828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2" name="GridV908"/>
          <p:cNvCxnSpPr/>
          <p:nvPr/>
        </p:nvCxnSpPr>
        <p:spPr>
          <a:xfrm>
            <a:off x="2133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3" name="GridV909"/>
          <p:cNvCxnSpPr/>
          <p:nvPr/>
        </p:nvCxnSpPr>
        <p:spPr>
          <a:xfrm>
            <a:off x="2438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4" name="GridV910"/>
          <p:cNvCxnSpPr/>
          <p:nvPr/>
        </p:nvCxnSpPr>
        <p:spPr>
          <a:xfrm>
            <a:off x="2743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5" name="GridV911"/>
          <p:cNvCxnSpPr/>
          <p:nvPr/>
        </p:nvCxnSpPr>
        <p:spPr>
          <a:xfrm>
            <a:off x="3047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6" name="GridV912"/>
          <p:cNvCxnSpPr/>
          <p:nvPr/>
        </p:nvCxnSpPr>
        <p:spPr>
          <a:xfrm>
            <a:off x="3352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7" name="GridV913"/>
          <p:cNvCxnSpPr/>
          <p:nvPr/>
        </p:nvCxnSpPr>
        <p:spPr>
          <a:xfrm>
            <a:off x="3657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8" name="GridV914"/>
          <p:cNvCxnSpPr/>
          <p:nvPr/>
        </p:nvCxnSpPr>
        <p:spPr>
          <a:xfrm>
            <a:off x="3962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9" name="GridV915"/>
          <p:cNvCxnSpPr/>
          <p:nvPr/>
        </p:nvCxnSpPr>
        <p:spPr>
          <a:xfrm>
            <a:off x="4267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0" name="GridV916"/>
          <p:cNvCxnSpPr/>
          <p:nvPr/>
        </p:nvCxnSpPr>
        <p:spPr>
          <a:xfrm>
            <a:off x="4572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1" name="GridV917"/>
          <p:cNvCxnSpPr/>
          <p:nvPr/>
        </p:nvCxnSpPr>
        <p:spPr>
          <a:xfrm>
            <a:off x="4876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2" name="GridV918"/>
          <p:cNvCxnSpPr/>
          <p:nvPr/>
        </p:nvCxnSpPr>
        <p:spPr>
          <a:xfrm>
            <a:off x="5181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3" name="GridV919"/>
          <p:cNvCxnSpPr/>
          <p:nvPr/>
        </p:nvCxnSpPr>
        <p:spPr>
          <a:xfrm>
            <a:off x="5486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4" name="GridV920"/>
          <p:cNvCxnSpPr/>
          <p:nvPr/>
        </p:nvCxnSpPr>
        <p:spPr>
          <a:xfrm>
            <a:off x="5790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5" name="GridV921"/>
          <p:cNvCxnSpPr/>
          <p:nvPr/>
        </p:nvCxnSpPr>
        <p:spPr>
          <a:xfrm>
            <a:off x="6095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6" name="GridV922"/>
          <p:cNvCxnSpPr/>
          <p:nvPr/>
        </p:nvCxnSpPr>
        <p:spPr>
          <a:xfrm>
            <a:off x="6400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7" name="GridV923"/>
          <p:cNvCxnSpPr/>
          <p:nvPr/>
        </p:nvCxnSpPr>
        <p:spPr>
          <a:xfrm>
            <a:off x="6705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8" name="GridV924"/>
          <p:cNvCxnSpPr/>
          <p:nvPr/>
        </p:nvCxnSpPr>
        <p:spPr>
          <a:xfrm>
            <a:off x="7010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9" name="GridV925"/>
          <p:cNvCxnSpPr/>
          <p:nvPr/>
        </p:nvCxnSpPr>
        <p:spPr>
          <a:xfrm>
            <a:off x="7315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0" name="GridV926"/>
          <p:cNvCxnSpPr/>
          <p:nvPr/>
        </p:nvCxnSpPr>
        <p:spPr>
          <a:xfrm>
            <a:off x="7619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1" name="GridV927"/>
          <p:cNvCxnSpPr/>
          <p:nvPr/>
        </p:nvCxnSpPr>
        <p:spPr>
          <a:xfrm>
            <a:off x="79246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2" name="GridV928"/>
          <p:cNvCxnSpPr/>
          <p:nvPr/>
        </p:nvCxnSpPr>
        <p:spPr>
          <a:xfrm>
            <a:off x="82296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3" name="GridV929"/>
          <p:cNvCxnSpPr/>
          <p:nvPr/>
        </p:nvCxnSpPr>
        <p:spPr>
          <a:xfrm>
            <a:off x="85341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4" name="GridV930"/>
          <p:cNvCxnSpPr/>
          <p:nvPr/>
        </p:nvCxnSpPr>
        <p:spPr>
          <a:xfrm>
            <a:off x="88390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5" name="GridV931"/>
          <p:cNvCxnSpPr/>
          <p:nvPr/>
        </p:nvCxnSpPr>
        <p:spPr>
          <a:xfrm>
            <a:off x="91440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6" name="GridV932"/>
          <p:cNvCxnSpPr/>
          <p:nvPr/>
        </p:nvCxnSpPr>
        <p:spPr>
          <a:xfrm>
            <a:off x="94485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7" name="GridV933"/>
          <p:cNvCxnSpPr/>
          <p:nvPr/>
        </p:nvCxnSpPr>
        <p:spPr>
          <a:xfrm>
            <a:off x="97534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8" name="GridV934"/>
          <p:cNvCxnSpPr/>
          <p:nvPr/>
        </p:nvCxnSpPr>
        <p:spPr>
          <a:xfrm>
            <a:off x="100584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9" name="GridV935"/>
          <p:cNvCxnSpPr/>
          <p:nvPr/>
        </p:nvCxnSpPr>
        <p:spPr>
          <a:xfrm>
            <a:off x="103629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0" name="GridV936"/>
          <p:cNvCxnSpPr/>
          <p:nvPr/>
        </p:nvCxnSpPr>
        <p:spPr>
          <a:xfrm>
            <a:off x="106678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1" name="GridV937"/>
          <p:cNvCxnSpPr/>
          <p:nvPr/>
        </p:nvCxnSpPr>
        <p:spPr>
          <a:xfrm>
            <a:off x="109728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2" name="GridV938"/>
          <p:cNvCxnSpPr/>
          <p:nvPr/>
        </p:nvCxnSpPr>
        <p:spPr>
          <a:xfrm>
            <a:off x="112773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3" name="GridV939"/>
          <p:cNvCxnSpPr/>
          <p:nvPr/>
        </p:nvCxnSpPr>
        <p:spPr>
          <a:xfrm>
            <a:off x="1158228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4" name="GridV940"/>
          <p:cNvCxnSpPr/>
          <p:nvPr/>
        </p:nvCxnSpPr>
        <p:spPr>
          <a:xfrm>
            <a:off x="1188720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5" name="GridV941"/>
          <p:cNvCxnSpPr/>
          <p:nvPr/>
        </p:nvCxnSpPr>
        <p:spPr>
          <a:xfrm>
            <a:off x="12191760" y="0"/>
            <a:ext cx="4320" cy="6862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6" name="GridH942"/>
          <p:cNvCxnSpPr/>
          <p:nvPr/>
        </p:nvCxnSpPr>
        <p:spPr>
          <a:xfrm>
            <a:off x="0" y="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7" name="GridH943"/>
          <p:cNvCxnSpPr/>
          <p:nvPr/>
        </p:nvCxnSpPr>
        <p:spPr>
          <a:xfrm>
            <a:off x="0" y="304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8" name="GridH944"/>
          <p:cNvCxnSpPr/>
          <p:nvPr/>
        </p:nvCxnSpPr>
        <p:spPr>
          <a:xfrm>
            <a:off x="0" y="609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9" name="GridH945"/>
          <p:cNvCxnSpPr/>
          <p:nvPr/>
        </p:nvCxnSpPr>
        <p:spPr>
          <a:xfrm>
            <a:off x="0" y="914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0" name="GridH946"/>
          <p:cNvCxnSpPr/>
          <p:nvPr/>
        </p:nvCxnSpPr>
        <p:spPr>
          <a:xfrm>
            <a:off x="0" y="1218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1" name="GridH947"/>
          <p:cNvCxnSpPr/>
          <p:nvPr/>
        </p:nvCxnSpPr>
        <p:spPr>
          <a:xfrm>
            <a:off x="0" y="1523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2" name="GridH948"/>
          <p:cNvCxnSpPr/>
          <p:nvPr/>
        </p:nvCxnSpPr>
        <p:spPr>
          <a:xfrm>
            <a:off x="0" y="1828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3" name="GridH949"/>
          <p:cNvCxnSpPr/>
          <p:nvPr/>
        </p:nvCxnSpPr>
        <p:spPr>
          <a:xfrm>
            <a:off x="0" y="2133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4" name="GridH950"/>
          <p:cNvCxnSpPr/>
          <p:nvPr/>
        </p:nvCxnSpPr>
        <p:spPr>
          <a:xfrm>
            <a:off x="0" y="24382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5" name="GridH951"/>
          <p:cNvCxnSpPr/>
          <p:nvPr/>
        </p:nvCxnSpPr>
        <p:spPr>
          <a:xfrm>
            <a:off x="0" y="27432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6" name="GridH952"/>
          <p:cNvCxnSpPr/>
          <p:nvPr/>
        </p:nvCxnSpPr>
        <p:spPr>
          <a:xfrm>
            <a:off x="0" y="30477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7" name="GridH953"/>
          <p:cNvCxnSpPr/>
          <p:nvPr/>
        </p:nvCxnSpPr>
        <p:spPr>
          <a:xfrm>
            <a:off x="0" y="33526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8" name="GridH954"/>
          <p:cNvCxnSpPr/>
          <p:nvPr/>
        </p:nvCxnSpPr>
        <p:spPr>
          <a:xfrm>
            <a:off x="0" y="36576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9" name="GridH955"/>
          <p:cNvCxnSpPr/>
          <p:nvPr/>
        </p:nvCxnSpPr>
        <p:spPr>
          <a:xfrm>
            <a:off x="0" y="39621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0" name="GridH956"/>
          <p:cNvCxnSpPr/>
          <p:nvPr/>
        </p:nvCxnSpPr>
        <p:spPr>
          <a:xfrm>
            <a:off x="0" y="42670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1" name="GridH957"/>
          <p:cNvCxnSpPr/>
          <p:nvPr/>
        </p:nvCxnSpPr>
        <p:spPr>
          <a:xfrm>
            <a:off x="0" y="45720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2" name="GridH958"/>
          <p:cNvCxnSpPr/>
          <p:nvPr/>
        </p:nvCxnSpPr>
        <p:spPr>
          <a:xfrm>
            <a:off x="0" y="48765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3" name="GridH959"/>
          <p:cNvCxnSpPr/>
          <p:nvPr/>
        </p:nvCxnSpPr>
        <p:spPr>
          <a:xfrm>
            <a:off x="0" y="51814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4" name="GridH960"/>
          <p:cNvCxnSpPr/>
          <p:nvPr/>
        </p:nvCxnSpPr>
        <p:spPr>
          <a:xfrm>
            <a:off x="0" y="54864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5" name="GridH961"/>
          <p:cNvCxnSpPr/>
          <p:nvPr/>
        </p:nvCxnSpPr>
        <p:spPr>
          <a:xfrm>
            <a:off x="0" y="57909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6" name="GridH962"/>
          <p:cNvCxnSpPr/>
          <p:nvPr/>
        </p:nvCxnSpPr>
        <p:spPr>
          <a:xfrm>
            <a:off x="0" y="609588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7" name="GridH963"/>
          <p:cNvCxnSpPr/>
          <p:nvPr/>
        </p:nvCxnSpPr>
        <p:spPr>
          <a:xfrm>
            <a:off x="0" y="640080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8" name="GridH964"/>
          <p:cNvCxnSpPr/>
          <p:nvPr/>
        </p:nvCxnSpPr>
        <p:spPr>
          <a:xfrm>
            <a:off x="0" y="6705360"/>
            <a:ext cx="12196080" cy="432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969" name="TextBox 2"/>
          <p:cNvSpPr/>
          <p:nvPr/>
        </p:nvSpPr>
        <p:spPr>
          <a:xfrm>
            <a:off x="502920" y="411480"/>
            <a:ext cx="79956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SUMMARY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0" name="TextBox 3"/>
          <p:cNvSpPr/>
          <p:nvPr/>
        </p:nvSpPr>
        <p:spPr>
          <a:xfrm>
            <a:off x="502920" y="658440"/>
            <a:ext cx="10994760" cy="99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From raw data to a production forecasting dashboard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1" name="Oval 4"/>
          <p:cNvSpPr/>
          <p:nvPr/>
        </p:nvSpPr>
        <p:spPr>
          <a:xfrm>
            <a:off x="502920" y="1929960"/>
            <a:ext cx="132840" cy="13284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2" name="TextBox 5"/>
          <p:cNvSpPr/>
          <p:nvPr/>
        </p:nvSpPr>
        <p:spPr>
          <a:xfrm>
            <a:off x="822960" y="1900080"/>
            <a:ext cx="10495800" cy="49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26,676 observations, 12 regions, 6 years of Meteo-France x RTE x SDES data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3" name="Oval 6"/>
          <p:cNvSpPr/>
          <p:nvPr/>
        </p:nvSpPr>
        <p:spPr>
          <a:xfrm>
            <a:off x="502920" y="2549880"/>
            <a:ext cx="132840" cy="13284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TextBox 7"/>
          <p:cNvSpPr/>
          <p:nvPr/>
        </p:nvSpPr>
        <p:spPr>
          <a:xfrm>
            <a:off x="822960" y="2520000"/>
            <a:ext cx="104958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Time-respecting validation (TimeSeriesSplit + GridSearchCV). Ridge chosen for its stability: −15% error vs "tomorrow = today" (R² ≈ 0.79)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5" name="Oval 8"/>
          <p:cNvSpPr/>
          <p:nvPr/>
        </p:nvSpPr>
        <p:spPr>
          <a:xfrm>
            <a:off x="502920" y="3170160"/>
            <a:ext cx="132840" cy="13284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6600" tIns="45000" rIns="666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6" name="TextBox 9"/>
          <p:cNvSpPr/>
          <p:nvPr/>
        </p:nvSpPr>
        <p:spPr>
          <a:xfrm>
            <a:off x="822960" y="3139920"/>
            <a:ext cx="1049580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Streamlit dashboard in production: interactive EDA and next-day production estimates derived from the radiation forecast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77" name="Connector 10"/>
          <p:cNvCxnSpPr/>
          <p:nvPr/>
        </p:nvCxnSpPr>
        <p:spPr>
          <a:xfrm>
            <a:off x="502920" y="4199760"/>
            <a:ext cx="1119024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78" name="TextBox 11"/>
          <p:cNvSpPr/>
          <p:nvPr/>
        </p:nvSpPr>
        <p:spPr>
          <a:xfrm>
            <a:off x="502920" y="4700160"/>
            <a:ext cx="11181960" cy="69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Thank you for your attention.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9" name="TextBox 12"/>
          <p:cNvSpPr/>
          <p:nvPr/>
        </p:nvSpPr>
        <p:spPr>
          <a:xfrm>
            <a:off x="502920" y="5400000"/>
            <a:ext cx="11181960" cy="21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Any questions?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80" name="Connector 13"/>
          <p:cNvCxnSpPr/>
          <p:nvPr/>
        </p:nvCxnSpPr>
        <p:spPr>
          <a:xfrm>
            <a:off x="548640" y="5943600"/>
            <a:ext cx="10977120" cy="432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81" name="TextBox 14"/>
          <p:cNvSpPr/>
          <p:nvPr/>
        </p:nvSpPr>
        <p:spPr>
          <a:xfrm>
            <a:off x="457200" y="6172200"/>
            <a:ext cx="82242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2" name="TextBox 15"/>
          <p:cNvSpPr/>
          <p:nvPr/>
        </p:nvSpPr>
        <p:spPr>
          <a:xfrm>
            <a:off x="11274480" y="6172200"/>
            <a:ext cx="451800" cy="26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</TotalTime>
  <Application>LibreOffice/26.8.2.2$Linux_X86_64 LibreOffice_project/9dea406ab7695df6325b11b0e19fdca8db4b7276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2026-10-30T15:21:16Z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