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5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9.xml" ContentType="application/vnd.openxmlformats-officedocument.presentationml.slide+xml"/>
  <Override PartName="/ppt/slides/slide6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GridV901"/>
          <p:cNvCxnSpPr/>
          <p:nvPr/>
        </p:nvCxnSpPr>
        <p:spPr>
          <a:xfrm>
            <a:off x="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" name="GridV902"/>
          <p:cNvCxnSpPr/>
          <p:nvPr/>
        </p:nvCxnSpPr>
        <p:spPr>
          <a:xfrm>
            <a:off x="3045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" name="GridV903"/>
          <p:cNvCxnSpPr/>
          <p:nvPr/>
        </p:nvCxnSpPr>
        <p:spPr>
          <a:xfrm>
            <a:off x="6094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" name="GridV904"/>
          <p:cNvCxnSpPr/>
          <p:nvPr/>
        </p:nvCxnSpPr>
        <p:spPr>
          <a:xfrm>
            <a:off x="9144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" name="GridV905"/>
          <p:cNvCxnSpPr/>
          <p:nvPr/>
        </p:nvCxnSpPr>
        <p:spPr>
          <a:xfrm>
            <a:off x="12189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" name="GridV906"/>
          <p:cNvCxnSpPr/>
          <p:nvPr/>
        </p:nvCxnSpPr>
        <p:spPr>
          <a:xfrm>
            <a:off x="15238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" name="GridV907"/>
          <p:cNvCxnSpPr/>
          <p:nvPr/>
        </p:nvCxnSpPr>
        <p:spPr>
          <a:xfrm>
            <a:off x="18288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" name="GridV908"/>
          <p:cNvCxnSpPr/>
          <p:nvPr/>
        </p:nvCxnSpPr>
        <p:spPr>
          <a:xfrm>
            <a:off x="21333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" name="GridV909"/>
          <p:cNvCxnSpPr/>
          <p:nvPr/>
        </p:nvCxnSpPr>
        <p:spPr>
          <a:xfrm>
            <a:off x="24382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1" name="GridV910"/>
          <p:cNvCxnSpPr/>
          <p:nvPr/>
        </p:nvCxnSpPr>
        <p:spPr>
          <a:xfrm>
            <a:off x="27432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" name="GridV911"/>
          <p:cNvCxnSpPr/>
          <p:nvPr/>
        </p:nvCxnSpPr>
        <p:spPr>
          <a:xfrm>
            <a:off x="30477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3" name="GridV912"/>
          <p:cNvCxnSpPr/>
          <p:nvPr/>
        </p:nvCxnSpPr>
        <p:spPr>
          <a:xfrm>
            <a:off x="33526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" name="GridV913"/>
          <p:cNvCxnSpPr/>
          <p:nvPr/>
        </p:nvCxnSpPr>
        <p:spPr>
          <a:xfrm>
            <a:off x="36576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" name="GridV914"/>
          <p:cNvCxnSpPr/>
          <p:nvPr/>
        </p:nvCxnSpPr>
        <p:spPr>
          <a:xfrm>
            <a:off x="39621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" name="GridV915"/>
          <p:cNvCxnSpPr/>
          <p:nvPr/>
        </p:nvCxnSpPr>
        <p:spPr>
          <a:xfrm>
            <a:off x="42670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" name="GridV916"/>
          <p:cNvCxnSpPr/>
          <p:nvPr/>
        </p:nvCxnSpPr>
        <p:spPr>
          <a:xfrm>
            <a:off x="45720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" name="GridV917"/>
          <p:cNvCxnSpPr/>
          <p:nvPr/>
        </p:nvCxnSpPr>
        <p:spPr>
          <a:xfrm>
            <a:off x="48765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" name="GridV918"/>
          <p:cNvCxnSpPr/>
          <p:nvPr/>
        </p:nvCxnSpPr>
        <p:spPr>
          <a:xfrm>
            <a:off x="51814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0" name="GridV919"/>
          <p:cNvCxnSpPr/>
          <p:nvPr/>
        </p:nvCxnSpPr>
        <p:spPr>
          <a:xfrm>
            <a:off x="54864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1" name="GridV920"/>
          <p:cNvCxnSpPr/>
          <p:nvPr/>
        </p:nvCxnSpPr>
        <p:spPr>
          <a:xfrm>
            <a:off x="57909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2" name="GridV921"/>
          <p:cNvCxnSpPr/>
          <p:nvPr/>
        </p:nvCxnSpPr>
        <p:spPr>
          <a:xfrm>
            <a:off x="60958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3" name="GridV922"/>
          <p:cNvCxnSpPr/>
          <p:nvPr/>
        </p:nvCxnSpPr>
        <p:spPr>
          <a:xfrm>
            <a:off x="64008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4" name="GridV923"/>
          <p:cNvCxnSpPr/>
          <p:nvPr/>
        </p:nvCxnSpPr>
        <p:spPr>
          <a:xfrm>
            <a:off x="67053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5" name="GridV924"/>
          <p:cNvCxnSpPr/>
          <p:nvPr/>
        </p:nvCxnSpPr>
        <p:spPr>
          <a:xfrm>
            <a:off x="70102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6" name="GridV925"/>
          <p:cNvCxnSpPr/>
          <p:nvPr/>
        </p:nvCxnSpPr>
        <p:spPr>
          <a:xfrm>
            <a:off x="73152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7" name="GridV926"/>
          <p:cNvCxnSpPr/>
          <p:nvPr/>
        </p:nvCxnSpPr>
        <p:spPr>
          <a:xfrm>
            <a:off x="76197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8" name="GridV927"/>
          <p:cNvCxnSpPr/>
          <p:nvPr/>
        </p:nvCxnSpPr>
        <p:spPr>
          <a:xfrm>
            <a:off x="79246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9" name="GridV928"/>
          <p:cNvCxnSpPr/>
          <p:nvPr/>
        </p:nvCxnSpPr>
        <p:spPr>
          <a:xfrm>
            <a:off x="82296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0" name="GridV929"/>
          <p:cNvCxnSpPr/>
          <p:nvPr/>
        </p:nvCxnSpPr>
        <p:spPr>
          <a:xfrm>
            <a:off x="85341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1" name="GridV930"/>
          <p:cNvCxnSpPr/>
          <p:nvPr/>
        </p:nvCxnSpPr>
        <p:spPr>
          <a:xfrm>
            <a:off x="88390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2" name="GridV931"/>
          <p:cNvCxnSpPr/>
          <p:nvPr/>
        </p:nvCxnSpPr>
        <p:spPr>
          <a:xfrm>
            <a:off x="91440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3" name="GridV932"/>
          <p:cNvCxnSpPr/>
          <p:nvPr/>
        </p:nvCxnSpPr>
        <p:spPr>
          <a:xfrm>
            <a:off x="94485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4" name="GridV933"/>
          <p:cNvCxnSpPr/>
          <p:nvPr/>
        </p:nvCxnSpPr>
        <p:spPr>
          <a:xfrm>
            <a:off x="97534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5" name="GridV934"/>
          <p:cNvCxnSpPr/>
          <p:nvPr/>
        </p:nvCxnSpPr>
        <p:spPr>
          <a:xfrm>
            <a:off x="100584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6" name="GridV935"/>
          <p:cNvCxnSpPr/>
          <p:nvPr/>
        </p:nvCxnSpPr>
        <p:spPr>
          <a:xfrm>
            <a:off x="103629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7" name="GridV936"/>
          <p:cNvCxnSpPr/>
          <p:nvPr/>
        </p:nvCxnSpPr>
        <p:spPr>
          <a:xfrm>
            <a:off x="106678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8" name="GridV937"/>
          <p:cNvCxnSpPr/>
          <p:nvPr/>
        </p:nvCxnSpPr>
        <p:spPr>
          <a:xfrm>
            <a:off x="109728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9" name="GridV938"/>
          <p:cNvCxnSpPr/>
          <p:nvPr/>
        </p:nvCxnSpPr>
        <p:spPr>
          <a:xfrm>
            <a:off x="112773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0" name="GridV939"/>
          <p:cNvCxnSpPr/>
          <p:nvPr/>
        </p:nvCxnSpPr>
        <p:spPr>
          <a:xfrm>
            <a:off x="115822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1" name="GridV940"/>
          <p:cNvCxnSpPr/>
          <p:nvPr/>
        </p:nvCxnSpPr>
        <p:spPr>
          <a:xfrm>
            <a:off x="118872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2" name="GridV941"/>
          <p:cNvCxnSpPr/>
          <p:nvPr/>
        </p:nvCxnSpPr>
        <p:spPr>
          <a:xfrm>
            <a:off x="121917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3" name="GridH942"/>
          <p:cNvCxnSpPr/>
          <p:nvPr/>
        </p:nvCxnSpPr>
        <p:spPr>
          <a:xfrm>
            <a:off x="0" y="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4" name="GridH943"/>
          <p:cNvCxnSpPr/>
          <p:nvPr/>
        </p:nvCxnSpPr>
        <p:spPr>
          <a:xfrm>
            <a:off x="0" y="3045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5" name="GridH944"/>
          <p:cNvCxnSpPr/>
          <p:nvPr/>
        </p:nvCxnSpPr>
        <p:spPr>
          <a:xfrm>
            <a:off x="0" y="60948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6" name="GridH945"/>
          <p:cNvCxnSpPr/>
          <p:nvPr/>
        </p:nvCxnSpPr>
        <p:spPr>
          <a:xfrm>
            <a:off x="0" y="91440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7" name="GridH946"/>
          <p:cNvCxnSpPr/>
          <p:nvPr/>
        </p:nvCxnSpPr>
        <p:spPr>
          <a:xfrm>
            <a:off x="0" y="12189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8" name="GridH947"/>
          <p:cNvCxnSpPr/>
          <p:nvPr/>
        </p:nvCxnSpPr>
        <p:spPr>
          <a:xfrm>
            <a:off x="0" y="152388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9" name="GridH948"/>
          <p:cNvCxnSpPr/>
          <p:nvPr/>
        </p:nvCxnSpPr>
        <p:spPr>
          <a:xfrm>
            <a:off x="0" y="182880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0" name="GridH949"/>
          <p:cNvCxnSpPr/>
          <p:nvPr/>
        </p:nvCxnSpPr>
        <p:spPr>
          <a:xfrm>
            <a:off x="0" y="21333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1" name="GridH950"/>
          <p:cNvCxnSpPr/>
          <p:nvPr/>
        </p:nvCxnSpPr>
        <p:spPr>
          <a:xfrm>
            <a:off x="0" y="243828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2" name="GridH951"/>
          <p:cNvCxnSpPr/>
          <p:nvPr/>
        </p:nvCxnSpPr>
        <p:spPr>
          <a:xfrm>
            <a:off x="0" y="274320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3" name="GridH952"/>
          <p:cNvCxnSpPr/>
          <p:nvPr/>
        </p:nvCxnSpPr>
        <p:spPr>
          <a:xfrm>
            <a:off x="0" y="30477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4" name="GridH953"/>
          <p:cNvCxnSpPr/>
          <p:nvPr/>
        </p:nvCxnSpPr>
        <p:spPr>
          <a:xfrm>
            <a:off x="0" y="335268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5" name="GridH954"/>
          <p:cNvCxnSpPr/>
          <p:nvPr/>
        </p:nvCxnSpPr>
        <p:spPr>
          <a:xfrm>
            <a:off x="0" y="365760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6" name="GridH955"/>
          <p:cNvCxnSpPr/>
          <p:nvPr/>
        </p:nvCxnSpPr>
        <p:spPr>
          <a:xfrm>
            <a:off x="0" y="39621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7" name="GridH956"/>
          <p:cNvCxnSpPr/>
          <p:nvPr/>
        </p:nvCxnSpPr>
        <p:spPr>
          <a:xfrm>
            <a:off x="0" y="426708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8" name="GridH957"/>
          <p:cNvCxnSpPr/>
          <p:nvPr/>
        </p:nvCxnSpPr>
        <p:spPr>
          <a:xfrm>
            <a:off x="0" y="457200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9" name="GridH958"/>
          <p:cNvCxnSpPr/>
          <p:nvPr/>
        </p:nvCxnSpPr>
        <p:spPr>
          <a:xfrm>
            <a:off x="0" y="48765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0" name="GridH959"/>
          <p:cNvCxnSpPr/>
          <p:nvPr/>
        </p:nvCxnSpPr>
        <p:spPr>
          <a:xfrm>
            <a:off x="0" y="518148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1" name="GridH960"/>
          <p:cNvCxnSpPr/>
          <p:nvPr/>
        </p:nvCxnSpPr>
        <p:spPr>
          <a:xfrm>
            <a:off x="0" y="548640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2" name="GridH961"/>
          <p:cNvCxnSpPr/>
          <p:nvPr/>
        </p:nvCxnSpPr>
        <p:spPr>
          <a:xfrm>
            <a:off x="0" y="57909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3" name="GridH962"/>
          <p:cNvCxnSpPr/>
          <p:nvPr/>
        </p:nvCxnSpPr>
        <p:spPr>
          <a:xfrm>
            <a:off x="0" y="609588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4" name="GridH963"/>
          <p:cNvCxnSpPr/>
          <p:nvPr/>
        </p:nvCxnSpPr>
        <p:spPr>
          <a:xfrm>
            <a:off x="0" y="640080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5" name="GridH964"/>
          <p:cNvCxnSpPr/>
          <p:nvPr/>
        </p:nvCxnSpPr>
        <p:spPr>
          <a:xfrm>
            <a:off x="0" y="67053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6000" cy="1139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7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6680" cy="63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8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6680" cy="3947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9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38120" cy="63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0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38120" cy="3947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1" name="PlaceHolder 6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0120" cy="361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" name="PlaceHolder 7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1880" cy="361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" name="PlaceHolder 8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0120" cy="361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40B48F25-DB7E-46A8-B994-E00C9AACEC7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10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4" name="GridV901"/>
          <p:cNvCxnSpPr/>
          <p:nvPr/>
        </p:nvCxnSpPr>
        <p:spPr>
          <a:xfrm>
            <a:off x="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5" name="GridV902"/>
          <p:cNvCxnSpPr/>
          <p:nvPr/>
        </p:nvCxnSpPr>
        <p:spPr>
          <a:xfrm>
            <a:off x="3045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6" name="GridV903"/>
          <p:cNvCxnSpPr/>
          <p:nvPr/>
        </p:nvCxnSpPr>
        <p:spPr>
          <a:xfrm>
            <a:off x="6094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7" name="GridV904"/>
          <p:cNvCxnSpPr/>
          <p:nvPr/>
        </p:nvCxnSpPr>
        <p:spPr>
          <a:xfrm>
            <a:off x="9144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8" name="GridV905"/>
          <p:cNvCxnSpPr/>
          <p:nvPr/>
        </p:nvCxnSpPr>
        <p:spPr>
          <a:xfrm>
            <a:off x="12189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9" name="GridV906"/>
          <p:cNvCxnSpPr/>
          <p:nvPr/>
        </p:nvCxnSpPr>
        <p:spPr>
          <a:xfrm>
            <a:off x="15238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0" name="GridV907"/>
          <p:cNvCxnSpPr/>
          <p:nvPr/>
        </p:nvCxnSpPr>
        <p:spPr>
          <a:xfrm>
            <a:off x="18288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1" name="GridV908"/>
          <p:cNvCxnSpPr/>
          <p:nvPr/>
        </p:nvCxnSpPr>
        <p:spPr>
          <a:xfrm>
            <a:off x="21333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2" name="GridV909"/>
          <p:cNvCxnSpPr/>
          <p:nvPr/>
        </p:nvCxnSpPr>
        <p:spPr>
          <a:xfrm>
            <a:off x="24382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3" name="GridV910"/>
          <p:cNvCxnSpPr/>
          <p:nvPr/>
        </p:nvCxnSpPr>
        <p:spPr>
          <a:xfrm>
            <a:off x="27432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4" name="GridV911"/>
          <p:cNvCxnSpPr/>
          <p:nvPr/>
        </p:nvCxnSpPr>
        <p:spPr>
          <a:xfrm>
            <a:off x="30477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5" name="GridV912"/>
          <p:cNvCxnSpPr/>
          <p:nvPr/>
        </p:nvCxnSpPr>
        <p:spPr>
          <a:xfrm>
            <a:off x="33526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6" name="GridV913"/>
          <p:cNvCxnSpPr/>
          <p:nvPr/>
        </p:nvCxnSpPr>
        <p:spPr>
          <a:xfrm>
            <a:off x="36576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7" name="GridV914"/>
          <p:cNvCxnSpPr/>
          <p:nvPr/>
        </p:nvCxnSpPr>
        <p:spPr>
          <a:xfrm>
            <a:off x="39621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8" name="GridV915"/>
          <p:cNvCxnSpPr/>
          <p:nvPr/>
        </p:nvCxnSpPr>
        <p:spPr>
          <a:xfrm>
            <a:off x="42670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9" name="GridV916"/>
          <p:cNvCxnSpPr/>
          <p:nvPr/>
        </p:nvCxnSpPr>
        <p:spPr>
          <a:xfrm>
            <a:off x="45720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0" name="GridV917"/>
          <p:cNvCxnSpPr/>
          <p:nvPr/>
        </p:nvCxnSpPr>
        <p:spPr>
          <a:xfrm>
            <a:off x="48765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1" name="GridV918"/>
          <p:cNvCxnSpPr/>
          <p:nvPr/>
        </p:nvCxnSpPr>
        <p:spPr>
          <a:xfrm>
            <a:off x="51814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2" name="GridV919"/>
          <p:cNvCxnSpPr/>
          <p:nvPr/>
        </p:nvCxnSpPr>
        <p:spPr>
          <a:xfrm>
            <a:off x="54864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3" name="GridV920"/>
          <p:cNvCxnSpPr/>
          <p:nvPr/>
        </p:nvCxnSpPr>
        <p:spPr>
          <a:xfrm>
            <a:off x="57909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4" name="GridV921"/>
          <p:cNvCxnSpPr/>
          <p:nvPr/>
        </p:nvCxnSpPr>
        <p:spPr>
          <a:xfrm>
            <a:off x="60958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5" name="GridV922"/>
          <p:cNvCxnSpPr/>
          <p:nvPr/>
        </p:nvCxnSpPr>
        <p:spPr>
          <a:xfrm>
            <a:off x="64008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6" name="GridV923"/>
          <p:cNvCxnSpPr/>
          <p:nvPr/>
        </p:nvCxnSpPr>
        <p:spPr>
          <a:xfrm>
            <a:off x="67053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7" name="GridV924"/>
          <p:cNvCxnSpPr/>
          <p:nvPr/>
        </p:nvCxnSpPr>
        <p:spPr>
          <a:xfrm>
            <a:off x="70102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8" name="GridV925"/>
          <p:cNvCxnSpPr/>
          <p:nvPr/>
        </p:nvCxnSpPr>
        <p:spPr>
          <a:xfrm>
            <a:off x="73152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9" name="GridV926"/>
          <p:cNvCxnSpPr/>
          <p:nvPr/>
        </p:nvCxnSpPr>
        <p:spPr>
          <a:xfrm>
            <a:off x="76197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0" name="GridV927"/>
          <p:cNvCxnSpPr/>
          <p:nvPr/>
        </p:nvCxnSpPr>
        <p:spPr>
          <a:xfrm>
            <a:off x="79246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1" name="GridV928"/>
          <p:cNvCxnSpPr/>
          <p:nvPr/>
        </p:nvCxnSpPr>
        <p:spPr>
          <a:xfrm>
            <a:off x="82296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2" name="GridV929"/>
          <p:cNvCxnSpPr/>
          <p:nvPr/>
        </p:nvCxnSpPr>
        <p:spPr>
          <a:xfrm>
            <a:off x="85341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3" name="GridV930"/>
          <p:cNvCxnSpPr/>
          <p:nvPr/>
        </p:nvCxnSpPr>
        <p:spPr>
          <a:xfrm>
            <a:off x="88390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4" name="GridV931"/>
          <p:cNvCxnSpPr/>
          <p:nvPr/>
        </p:nvCxnSpPr>
        <p:spPr>
          <a:xfrm>
            <a:off x="91440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5" name="GridV932"/>
          <p:cNvCxnSpPr/>
          <p:nvPr/>
        </p:nvCxnSpPr>
        <p:spPr>
          <a:xfrm>
            <a:off x="94485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6" name="GridV933"/>
          <p:cNvCxnSpPr/>
          <p:nvPr/>
        </p:nvCxnSpPr>
        <p:spPr>
          <a:xfrm>
            <a:off x="97534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7" name="GridV934"/>
          <p:cNvCxnSpPr/>
          <p:nvPr/>
        </p:nvCxnSpPr>
        <p:spPr>
          <a:xfrm>
            <a:off x="100584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8" name="GridV935"/>
          <p:cNvCxnSpPr/>
          <p:nvPr/>
        </p:nvCxnSpPr>
        <p:spPr>
          <a:xfrm>
            <a:off x="103629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9" name="GridV936"/>
          <p:cNvCxnSpPr/>
          <p:nvPr/>
        </p:nvCxnSpPr>
        <p:spPr>
          <a:xfrm>
            <a:off x="106678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10" name="GridV937"/>
          <p:cNvCxnSpPr/>
          <p:nvPr/>
        </p:nvCxnSpPr>
        <p:spPr>
          <a:xfrm>
            <a:off x="109728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11" name="GridV938"/>
          <p:cNvCxnSpPr/>
          <p:nvPr/>
        </p:nvCxnSpPr>
        <p:spPr>
          <a:xfrm>
            <a:off x="112773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12" name="GridV939"/>
          <p:cNvCxnSpPr/>
          <p:nvPr/>
        </p:nvCxnSpPr>
        <p:spPr>
          <a:xfrm>
            <a:off x="115822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13" name="GridV940"/>
          <p:cNvCxnSpPr/>
          <p:nvPr/>
        </p:nvCxnSpPr>
        <p:spPr>
          <a:xfrm>
            <a:off x="118872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14" name="GridV941"/>
          <p:cNvCxnSpPr/>
          <p:nvPr/>
        </p:nvCxnSpPr>
        <p:spPr>
          <a:xfrm>
            <a:off x="121917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15" name="GridH942"/>
          <p:cNvCxnSpPr/>
          <p:nvPr/>
        </p:nvCxnSpPr>
        <p:spPr>
          <a:xfrm>
            <a:off x="0" y="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16" name="GridH943"/>
          <p:cNvCxnSpPr/>
          <p:nvPr/>
        </p:nvCxnSpPr>
        <p:spPr>
          <a:xfrm>
            <a:off x="0" y="3045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17" name="GridH944"/>
          <p:cNvCxnSpPr/>
          <p:nvPr/>
        </p:nvCxnSpPr>
        <p:spPr>
          <a:xfrm>
            <a:off x="0" y="60948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18" name="GridH945"/>
          <p:cNvCxnSpPr/>
          <p:nvPr/>
        </p:nvCxnSpPr>
        <p:spPr>
          <a:xfrm>
            <a:off x="0" y="91440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19" name="GridH946"/>
          <p:cNvCxnSpPr/>
          <p:nvPr/>
        </p:nvCxnSpPr>
        <p:spPr>
          <a:xfrm>
            <a:off x="0" y="12189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0" name="GridH947"/>
          <p:cNvCxnSpPr/>
          <p:nvPr/>
        </p:nvCxnSpPr>
        <p:spPr>
          <a:xfrm>
            <a:off x="0" y="152388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1" name="GridH948"/>
          <p:cNvCxnSpPr/>
          <p:nvPr/>
        </p:nvCxnSpPr>
        <p:spPr>
          <a:xfrm>
            <a:off x="0" y="182880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2" name="GridH949"/>
          <p:cNvCxnSpPr/>
          <p:nvPr/>
        </p:nvCxnSpPr>
        <p:spPr>
          <a:xfrm>
            <a:off x="0" y="21333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3" name="GridH950"/>
          <p:cNvCxnSpPr/>
          <p:nvPr/>
        </p:nvCxnSpPr>
        <p:spPr>
          <a:xfrm>
            <a:off x="0" y="243828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4" name="GridH951"/>
          <p:cNvCxnSpPr/>
          <p:nvPr/>
        </p:nvCxnSpPr>
        <p:spPr>
          <a:xfrm>
            <a:off x="0" y="274320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5" name="GridH952"/>
          <p:cNvCxnSpPr/>
          <p:nvPr/>
        </p:nvCxnSpPr>
        <p:spPr>
          <a:xfrm>
            <a:off x="0" y="30477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6" name="GridH953"/>
          <p:cNvCxnSpPr/>
          <p:nvPr/>
        </p:nvCxnSpPr>
        <p:spPr>
          <a:xfrm>
            <a:off x="0" y="335268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7" name="GridH954"/>
          <p:cNvCxnSpPr/>
          <p:nvPr/>
        </p:nvCxnSpPr>
        <p:spPr>
          <a:xfrm>
            <a:off x="0" y="365760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8" name="GridH955"/>
          <p:cNvCxnSpPr/>
          <p:nvPr/>
        </p:nvCxnSpPr>
        <p:spPr>
          <a:xfrm>
            <a:off x="0" y="39621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9" name="GridH956"/>
          <p:cNvCxnSpPr/>
          <p:nvPr/>
        </p:nvCxnSpPr>
        <p:spPr>
          <a:xfrm>
            <a:off x="0" y="426708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30" name="GridH957"/>
          <p:cNvCxnSpPr/>
          <p:nvPr/>
        </p:nvCxnSpPr>
        <p:spPr>
          <a:xfrm>
            <a:off x="0" y="457200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31" name="GridH958"/>
          <p:cNvCxnSpPr/>
          <p:nvPr/>
        </p:nvCxnSpPr>
        <p:spPr>
          <a:xfrm>
            <a:off x="0" y="48765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32" name="GridH959"/>
          <p:cNvCxnSpPr/>
          <p:nvPr/>
        </p:nvCxnSpPr>
        <p:spPr>
          <a:xfrm>
            <a:off x="0" y="518148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33" name="GridH960"/>
          <p:cNvCxnSpPr/>
          <p:nvPr/>
        </p:nvCxnSpPr>
        <p:spPr>
          <a:xfrm>
            <a:off x="0" y="548640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34" name="GridH961"/>
          <p:cNvCxnSpPr/>
          <p:nvPr/>
        </p:nvCxnSpPr>
        <p:spPr>
          <a:xfrm>
            <a:off x="0" y="57909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35" name="GridH962"/>
          <p:cNvCxnSpPr/>
          <p:nvPr/>
        </p:nvCxnSpPr>
        <p:spPr>
          <a:xfrm>
            <a:off x="0" y="609588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36" name="GridH963"/>
          <p:cNvCxnSpPr/>
          <p:nvPr/>
        </p:nvCxnSpPr>
        <p:spPr>
          <a:xfrm>
            <a:off x="0" y="640080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37" name="GridH964"/>
          <p:cNvCxnSpPr/>
          <p:nvPr/>
        </p:nvCxnSpPr>
        <p:spPr>
          <a:xfrm>
            <a:off x="0" y="67053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sp>
        <p:nvSpPr>
          <p:cNvPr id="13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6000" cy="1139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9" name="PlaceHolder 2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0120" cy="361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0" name="PlaceHolder 3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1880" cy="361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1" name="PlaceHolder 4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0120" cy="361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DE2C5E15-56DB-4CB1-A3B6-2C4320E26FF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10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2" name="GridV901"/>
          <p:cNvCxnSpPr/>
          <p:nvPr/>
        </p:nvCxnSpPr>
        <p:spPr>
          <a:xfrm>
            <a:off x="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3" name="GridV902"/>
          <p:cNvCxnSpPr/>
          <p:nvPr/>
        </p:nvCxnSpPr>
        <p:spPr>
          <a:xfrm>
            <a:off x="3045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4" name="GridV903"/>
          <p:cNvCxnSpPr/>
          <p:nvPr/>
        </p:nvCxnSpPr>
        <p:spPr>
          <a:xfrm>
            <a:off x="6094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5" name="GridV904"/>
          <p:cNvCxnSpPr/>
          <p:nvPr/>
        </p:nvCxnSpPr>
        <p:spPr>
          <a:xfrm>
            <a:off x="9144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6" name="GridV905"/>
          <p:cNvCxnSpPr/>
          <p:nvPr/>
        </p:nvCxnSpPr>
        <p:spPr>
          <a:xfrm>
            <a:off x="12189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7" name="GridV906"/>
          <p:cNvCxnSpPr/>
          <p:nvPr/>
        </p:nvCxnSpPr>
        <p:spPr>
          <a:xfrm>
            <a:off x="15238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8" name="GridV907"/>
          <p:cNvCxnSpPr/>
          <p:nvPr/>
        </p:nvCxnSpPr>
        <p:spPr>
          <a:xfrm>
            <a:off x="18288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9" name="GridV908"/>
          <p:cNvCxnSpPr/>
          <p:nvPr/>
        </p:nvCxnSpPr>
        <p:spPr>
          <a:xfrm>
            <a:off x="21333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0" name="GridV909"/>
          <p:cNvCxnSpPr/>
          <p:nvPr/>
        </p:nvCxnSpPr>
        <p:spPr>
          <a:xfrm>
            <a:off x="24382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1" name="GridV910"/>
          <p:cNvCxnSpPr/>
          <p:nvPr/>
        </p:nvCxnSpPr>
        <p:spPr>
          <a:xfrm>
            <a:off x="27432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2" name="GridV911"/>
          <p:cNvCxnSpPr/>
          <p:nvPr/>
        </p:nvCxnSpPr>
        <p:spPr>
          <a:xfrm>
            <a:off x="30477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3" name="GridV912"/>
          <p:cNvCxnSpPr/>
          <p:nvPr/>
        </p:nvCxnSpPr>
        <p:spPr>
          <a:xfrm>
            <a:off x="33526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4" name="GridV913"/>
          <p:cNvCxnSpPr/>
          <p:nvPr/>
        </p:nvCxnSpPr>
        <p:spPr>
          <a:xfrm>
            <a:off x="36576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5" name="GridV914"/>
          <p:cNvCxnSpPr/>
          <p:nvPr/>
        </p:nvCxnSpPr>
        <p:spPr>
          <a:xfrm>
            <a:off x="39621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6" name="GridV915"/>
          <p:cNvCxnSpPr/>
          <p:nvPr/>
        </p:nvCxnSpPr>
        <p:spPr>
          <a:xfrm>
            <a:off x="42670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7" name="GridV916"/>
          <p:cNvCxnSpPr/>
          <p:nvPr/>
        </p:nvCxnSpPr>
        <p:spPr>
          <a:xfrm>
            <a:off x="45720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8" name="GridV917"/>
          <p:cNvCxnSpPr/>
          <p:nvPr/>
        </p:nvCxnSpPr>
        <p:spPr>
          <a:xfrm>
            <a:off x="48765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9" name="GridV918"/>
          <p:cNvCxnSpPr/>
          <p:nvPr/>
        </p:nvCxnSpPr>
        <p:spPr>
          <a:xfrm>
            <a:off x="51814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0" name="GridV919"/>
          <p:cNvCxnSpPr/>
          <p:nvPr/>
        </p:nvCxnSpPr>
        <p:spPr>
          <a:xfrm>
            <a:off x="54864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1" name="GridV920"/>
          <p:cNvCxnSpPr/>
          <p:nvPr/>
        </p:nvCxnSpPr>
        <p:spPr>
          <a:xfrm>
            <a:off x="57909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2" name="GridV921"/>
          <p:cNvCxnSpPr/>
          <p:nvPr/>
        </p:nvCxnSpPr>
        <p:spPr>
          <a:xfrm>
            <a:off x="60958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3" name="GridV922"/>
          <p:cNvCxnSpPr/>
          <p:nvPr/>
        </p:nvCxnSpPr>
        <p:spPr>
          <a:xfrm>
            <a:off x="64008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4" name="GridV923"/>
          <p:cNvCxnSpPr/>
          <p:nvPr/>
        </p:nvCxnSpPr>
        <p:spPr>
          <a:xfrm>
            <a:off x="67053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5" name="GridV924"/>
          <p:cNvCxnSpPr/>
          <p:nvPr/>
        </p:nvCxnSpPr>
        <p:spPr>
          <a:xfrm>
            <a:off x="70102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6" name="GridV925"/>
          <p:cNvCxnSpPr/>
          <p:nvPr/>
        </p:nvCxnSpPr>
        <p:spPr>
          <a:xfrm>
            <a:off x="73152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7" name="GridV926"/>
          <p:cNvCxnSpPr/>
          <p:nvPr/>
        </p:nvCxnSpPr>
        <p:spPr>
          <a:xfrm>
            <a:off x="76197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8" name="GridV927"/>
          <p:cNvCxnSpPr/>
          <p:nvPr/>
        </p:nvCxnSpPr>
        <p:spPr>
          <a:xfrm>
            <a:off x="79246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9" name="GridV928"/>
          <p:cNvCxnSpPr/>
          <p:nvPr/>
        </p:nvCxnSpPr>
        <p:spPr>
          <a:xfrm>
            <a:off x="82296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0" name="GridV929"/>
          <p:cNvCxnSpPr/>
          <p:nvPr/>
        </p:nvCxnSpPr>
        <p:spPr>
          <a:xfrm>
            <a:off x="85341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1" name="GridV930"/>
          <p:cNvCxnSpPr/>
          <p:nvPr/>
        </p:nvCxnSpPr>
        <p:spPr>
          <a:xfrm>
            <a:off x="88390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2" name="GridV931"/>
          <p:cNvCxnSpPr/>
          <p:nvPr/>
        </p:nvCxnSpPr>
        <p:spPr>
          <a:xfrm>
            <a:off x="91440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3" name="GridV932"/>
          <p:cNvCxnSpPr/>
          <p:nvPr/>
        </p:nvCxnSpPr>
        <p:spPr>
          <a:xfrm>
            <a:off x="94485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4" name="GridV933"/>
          <p:cNvCxnSpPr/>
          <p:nvPr/>
        </p:nvCxnSpPr>
        <p:spPr>
          <a:xfrm>
            <a:off x="97534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5" name="GridV934"/>
          <p:cNvCxnSpPr/>
          <p:nvPr/>
        </p:nvCxnSpPr>
        <p:spPr>
          <a:xfrm>
            <a:off x="100584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6" name="GridV935"/>
          <p:cNvCxnSpPr/>
          <p:nvPr/>
        </p:nvCxnSpPr>
        <p:spPr>
          <a:xfrm>
            <a:off x="103629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7" name="GridV936"/>
          <p:cNvCxnSpPr/>
          <p:nvPr/>
        </p:nvCxnSpPr>
        <p:spPr>
          <a:xfrm>
            <a:off x="106678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8" name="GridV937"/>
          <p:cNvCxnSpPr/>
          <p:nvPr/>
        </p:nvCxnSpPr>
        <p:spPr>
          <a:xfrm>
            <a:off x="109728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9" name="GridV938"/>
          <p:cNvCxnSpPr/>
          <p:nvPr/>
        </p:nvCxnSpPr>
        <p:spPr>
          <a:xfrm>
            <a:off x="112773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0" name="GridV939"/>
          <p:cNvCxnSpPr/>
          <p:nvPr/>
        </p:nvCxnSpPr>
        <p:spPr>
          <a:xfrm>
            <a:off x="115822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1" name="GridV940"/>
          <p:cNvCxnSpPr/>
          <p:nvPr/>
        </p:nvCxnSpPr>
        <p:spPr>
          <a:xfrm>
            <a:off x="118872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2" name="GridV941"/>
          <p:cNvCxnSpPr/>
          <p:nvPr/>
        </p:nvCxnSpPr>
        <p:spPr>
          <a:xfrm>
            <a:off x="121917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3" name="GridH942"/>
          <p:cNvCxnSpPr/>
          <p:nvPr/>
        </p:nvCxnSpPr>
        <p:spPr>
          <a:xfrm>
            <a:off x="0" y="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4" name="GridH943"/>
          <p:cNvCxnSpPr/>
          <p:nvPr/>
        </p:nvCxnSpPr>
        <p:spPr>
          <a:xfrm>
            <a:off x="0" y="3045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5" name="GridH944"/>
          <p:cNvCxnSpPr/>
          <p:nvPr/>
        </p:nvCxnSpPr>
        <p:spPr>
          <a:xfrm>
            <a:off x="0" y="60948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6" name="GridH945"/>
          <p:cNvCxnSpPr/>
          <p:nvPr/>
        </p:nvCxnSpPr>
        <p:spPr>
          <a:xfrm>
            <a:off x="0" y="91440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7" name="GridH946"/>
          <p:cNvCxnSpPr/>
          <p:nvPr/>
        </p:nvCxnSpPr>
        <p:spPr>
          <a:xfrm>
            <a:off x="0" y="12189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8" name="GridH947"/>
          <p:cNvCxnSpPr/>
          <p:nvPr/>
        </p:nvCxnSpPr>
        <p:spPr>
          <a:xfrm>
            <a:off x="0" y="152388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9" name="GridH948"/>
          <p:cNvCxnSpPr/>
          <p:nvPr/>
        </p:nvCxnSpPr>
        <p:spPr>
          <a:xfrm>
            <a:off x="0" y="182880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0" name="GridH949"/>
          <p:cNvCxnSpPr/>
          <p:nvPr/>
        </p:nvCxnSpPr>
        <p:spPr>
          <a:xfrm>
            <a:off x="0" y="21333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1" name="GridH950"/>
          <p:cNvCxnSpPr/>
          <p:nvPr/>
        </p:nvCxnSpPr>
        <p:spPr>
          <a:xfrm>
            <a:off x="0" y="243828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2" name="GridH951"/>
          <p:cNvCxnSpPr/>
          <p:nvPr/>
        </p:nvCxnSpPr>
        <p:spPr>
          <a:xfrm>
            <a:off x="0" y="274320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3" name="GridH952"/>
          <p:cNvCxnSpPr/>
          <p:nvPr/>
        </p:nvCxnSpPr>
        <p:spPr>
          <a:xfrm>
            <a:off x="0" y="30477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4" name="GridH953"/>
          <p:cNvCxnSpPr/>
          <p:nvPr/>
        </p:nvCxnSpPr>
        <p:spPr>
          <a:xfrm>
            <a:off x="0" y="335268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5" name="GridH954"/>
          <p:cNvCxnSpPr/>
          <p:nvPr/>
        </p:nvCxnSpPr>
        <p:spPr>
          <a:xfrm>
            <a:off x="0" y="365760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6" name="GridH955"/>
          <p:cNvCxnSpPr/>
          <p:nvPr/>
        </p:nvCxnSpPr>
        <p:spPr>
          <a:xfrm>
            <a:off x="0" y="39621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7" name="GridH956"/>
          <p:cNvCxnSpPr/>
          <p:nvPr/>
        </p:nvCxnSpPr>
        <p:spPr>
          <a:xfrm>
            <a:off x="0" y="426708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8" name="GridH957"/>
          <p:cNvCxnSpPr/>
          <p:nvPr/>
        </p:nvCxnSpPr>
        <p:spPr>
          <a:xfrm>
            <a:off x="0" y="457200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9" name="GridH958"/>
          <p:cNvCxnSpPr/>
          <p:nvPr/>
        </p:nvCxnSpPr>
        <p:spPr>
          <a:xfrm>
            <a:off x="0" y="48765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00" name="GridH959"/>
          <p:cNvCxnSpPr/>
          <p:nvPr/>
        </p:nvCxnSpPr>
        <p:spPr>
          <a:xfrm>
            <a:off x="0" y="518148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01" name="GridH960"/>
          <p:cNvCxnSpPr/>
          <p:nvPr/>
        </p:nvCxnSpPr>
        <p:spPr>
          <a:xfrm>
            <a:off x="0" y="548640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02" name="GridH961"/>
          <p:cNvCxnSpPr/>
          <p:nvPr/>
        </p:nvCxnSpPr>
        <p:spPr>
          <a:xfrm>
            <a:off x="0" y="57909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03" name="GridH962"/>
          <p:cNvCxnSpPr/>
          <p:nvPr/>
        </p:nvCxnSpPr>
        <p:spPr>
          <a:xfrm>
            <a:off x="0" y="609588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04" name="GridH963"/>
          <p:cNvCxnSpPr/>
          <p:nvPr/>
        </p:nvCxnSpPr>
        <p:spPr>
          <a:xfrm>
            <a:off x="0" y="640080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05" name="GridH964"/>
          <p:cNvCxnSpPr/>
          <p:nvPr/>
        </p:nvCxnSpPr>
        <p:spPr>
          <a:xfrm>
            <a:off x="0" y="67053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sp>
        <p:nvSpPr>
          <p:cNvPr id="206" name="PlaceHolder 1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0120" cy="361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7" name="PlaceHolder 2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1880" cy="361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8" name="PlaceHolder 3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0120" cy="361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FD3DE63D-CEB9-4E1B-8C79-5B020086A0D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10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9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69200" cy="1141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0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69200" cy="3974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1" name="GridV901"/>
          <p:cNvCxnSpPr/>
          <p:nvPr/>
        </p:nvCxnSpPr>
        <p:spPr>
          <a:xfrm>
            <a:off x="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12" name="GridV902"/>
          <p:cNvCxnSpPr/>
          <p:nvPr/>
        </p:nvCxnSpPr>
        <p:spPr>
          <a:xfrm>
            <a:off x="3045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13" name="GridV903"/>
          <p:cNvCxnSpPr/>
          <p:nvPr/>
        </p:nvCxnSpPr>
        <p:spPr>
          <a:xfrm>
            <a:off x="6094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14" name="GridV904"/>
          <p:cNvCxnSpPr/>
          <p:nvPr/>
        </p:nvCxnSpPr>
        <p:spPr>
          <a:xfrm>
            <a:off x="9144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15" name="GridV905"/>
          <p:cNvCxnSpPr/>
          <p:nvPr/>
        </p:nvCxnSpPr>
        <p:spPr>
          <a:xfrm>
            <a:off x="12189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16" name="GridV906"/>
          <p:cNvCxnSpPr/>
          <p:nvPr/>
        </p:nvCxnSpPr>
        <p:spPr>
          <a:xfrm>
            <a:off x="15238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17" name="GridV907"/>
          <p:cNvCxnSpPr/>
          <p:nvPr/>
        </p:nvCxnSpPr>
        <p:spPr>
          <a:xfrm>
            <a:off x="18288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18" name="GridV908"/>
          <p:cNvCxnSpPr/>
          <p:nvPr/>
        </p:nvCxnSpPr>
        <p:spPr>
          <a:xfrm>
            <a:off x="21333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19" name="GridV909"/>
          <p:cNvCxnSpPr/>
          <p:nvPr/>
        </p:nvCxnSpPr>
        <p:spPr>
          <a:xfrm>
            <a:off x="24382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20" name="GridV910"/>
          <p:cNvCxnSpPr/>
          <p:nvPr/>
        </p:nvCxnSpPr>
        <p:spPr>
          <a:xfrm>
            <a:off x="27432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21" name="GridV911"/>
          <p:cNvCxnSpPr/>
          <p:nvPr/>
        </p:nvCxnSpPr>
        <p:spPr>
          <a:xfrm>
            <a:off x="30477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22" name="GridV912"/>
          <p:cNvCxnSpPr/>
          <p:nvPr/>
        </p:nvCxnSpPr>
        <p:spPr>
          <a:xfrm>
            <a:off x="33526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23" name="GridV913"/>
          <p:cNvCxnSpPr/>
          <p:nvPr/>
        </p:nvCxnSpPr>
        <p:spPr>
          <a:xfrm>
            <a:off x="36576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24" name="GridV914"/>
          <p:cNvCxnSpPr/>
          <p:nvPr/>
        </p:nvCxnSpPr>
        <p:spPr>
          <a:xfrm>
            <a:off x="39621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25" name="GridV915"/>
          <p:cNvCxnSpPr/>
          <p:nvPr/>
        </p:nvCxnSpPr>
        <p:spPr>
          <a:xfrm>
            <a:off x="42670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26" name="GridV916"/>
          <p:cNvCxnSpPr/>
          <p:nvPr/>
        </p:nvCxnSpPr>
        <p:spPr>
          <a:xfrm>
            <a:off x="45720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27" name="GridV917"/>
          <p:cNvCxnSpPr/>
          <p:nvPr/>
        </p:nvCxnSpPr>
        <p:spPr>
          <a:xfrm>
            <a:off x="48765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28" name="GridV918"/>
          <p:cNvCxnSpPr/>
          <p:nvPr/>
        </p:nvCxnSpPr>
        <p:spPr>
          <a:xfrm>
            <a:off x="51814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29" name="GridV919"/>
          <p:cNvCxnSpPr/>
          <p:nvPr/>
        </p:nvCxnSpPr>
        <p:spPr>
          <a:xfrm>
            <a:off x="54864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30" name="GridV920"/>
          <p:cNvCxnSpPr/>
          <p:nvPr/>
        </p:nvCxnSpPr>
        <p:spPr>
          <a:xfrm>
            <a:off x="57909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31" name="GridV921"/>
          <p:cNvCxnSpPr/>
          <p:nvPr/>
        </p:nvCxnSpPr>
        <p:spPr>
          <a:xfrm>
            <a:off x="60958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32" name="GridV922"/>
          <p:cNvCxnSpPr/>
          <p:nvPr/>
        </p:nvCxnSpPr>
        <p:spPr>
          <a:xfrm>
            <a:off x="64008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33" name="GridV923"/>
          <p:cNvCxnSpPr/>
          <p:nvPr/>
        </p:nvCxnSpPr>
        <p:spPr>
          <a:xfrm>
            <a:off x="67053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34" name="GridV924"/>
          <p:cNvCxnSpPr/>
          <p:nvPr/>
        </p:nvCxnSpPr>
        <p:spPr>
          <a:xfrm>
            <a:off x="70102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35" name="GridV925"/>
          <p:cNvCxnSpPr/>
          <p:nvPr/>
        </p:nvCxnSpPr>
        <p:spPr>
          <a:xfrm>
            <a:off x="73152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36" name="GridV926"/>
          <p:cNvCxnSpPr/>
          <p:nvPr/>
        </p:nvCxnSpPr>
        <p:spPr>
          <a:xfrm>
            <a:off x="76197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37" name="GridV927"/>
          <p:cNvCxnSpPr/>
          <p:nvPr/>
        </p:nvCxnSpPr>
        <p:spPr>
          <a:xfrm>
            <a:off x="79246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38" name="GridV928"/>
          <p:cNvCxnSpPr/>
          <p:nvPr/>
        </p:nvCxnSpPr>
        <p:spPr>
          <a:xfrm>
            <a:off x="82296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39" name="GridV929"/>
          <p:cNvCxnSpPr/>
          <p:nvPr/>
        </p:nvCxnSpPr>
        <p:spPr>
          <a:xfrm>
            <a:off x="85341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40" name="GridV930"/>
          <p:cNvCxnSpPr/>
          <p:nvPr/>
        </p:nvCxnSpPr>
        <p:spPr>
          <a:xfrm>
            <a:off x="88390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41" name="GridV931"/>
          <p:cNvCxnSpPr/>
          <p:nvPr/>
        </p:nvCxnSpPr>
        <p:spPr>
          <a:xfrm>
            <a:off x="91440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42" name="GridV932"/>
          <p:cNvCxnSpPr/>
          <p:nvPr/>
        </p:nvCxnSpPr>
        <p:spPr>
          <a:xfrm>
            <a:off x="94485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43" name="GridV933"/>
          <p:cNvCxnSpPr/>
          <p:nvPr/>
        </p:nvCxnSpPr>
        <p:spPr>
          <a:xfrm>
            <a:off x="97534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44" name="GridV934"/>
          <p:cNvCxnSpPr/>
          <p:nvPr/>
        </p:nvCxnSpPr>
        <p:spPr>
          <a:xfrm>
            <a:off x="100584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45" name="GridV935"/>
          <p:cNvCxnSpPr/>
          <p:nvPr/>
        </p:nvCxnSpPr>
        <p:spPr>
          <a:xfrm>
            <a:off x="103629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46" name="GridV936"/>
          <p:cNvCxnSpPr/>
          <p:nvPr/>
        </p:nvCxnSpPr>
        <p:spPr>
          <a:xfrm>
            <a:off x="106678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47" name="GridV937"/>
          <p:cNvCxnSpPr/>
          <p:nvPr/>
        </p:nvCxnSpPr>
        <p:spPr>
          <a:xfrm>
            <a:off x="109728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48" name="GridV938"/>
          <p:cNvCxnSpPr/>
          <p:nvPr/>
        </p:nvCxnSpPr>
        <p:spPr>
          <a:xfrm>
            <a:off x="112773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49" name="GridV939"/>
          <p:cNvCxnSpPr/>
          <p:nvPr/>
        </p:nvCxnSpPr>
        <p:spPr>
          <a:xfrm>
            <a:off x="115822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50" name="GridV940"/>
          <p:cNvCxnSpPr/>
          <p:nvPr/>
        </p:nvCxnSpPr>
        <p:spPr>
          <a:xfrm>
            <a:off x="118872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51" name="GridV941"/>
          <p:cNvCxnSpPr/>
          <p:nvPr/>
        </p:nvCxnSpPr>
        <p:spPr>
          <a:xfrm>
            <a:off x="121917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52" name="GridH942"/>
          <p:cNvCxnSpPr/>
          <p:nvPr/>
        </p:nvCxnSpPr>
        <p:spPr>
          <a:xfrm>
            <a:off x="0" y="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53" name="GridH943"/>
          <p:cNvCxnSpPr/>
          <p:nvPr/>
        </p:nvCxnSpPr>
        <p:spPr>
          <a:xfrm>
            <a:off x="0" y="3045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54" name="GridH944"/>
          <p:cNvCxnSpPr/>
          <p:nvPr/>
        </p:nvCxnSpPr>
        <p:spPr>
          <a:xfrm>
            <a:off x="0" y="60948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55" name="GridH945"/>
          <p:cNvCxnSpPr/>
          <p:nvPr/>
        </p:nvCxnSpPr>
        <p:spPr>
          <a:xfrm>
            <a:off x="0" y="91440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56" name="GridH946"/>
          <p:cNvCxnSpPr/>
          <p:nvPr/>
        </p:nvCxnSpPr>
        <p:spPr>
          <a:xfrm>
            <a:off x="0" y="12189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57" name="GridH947"/>
          <p:cNvCxnSpPr/>
          <p:nvPr/>
        </p:nvCxnSpPr>
        <p:spPr>
          <a:xfrm>
            <a:off x="0" y="152388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58" name="GridH948"/>
          <p:cNvCxnSpPr/>
          <p:nvPr/>
        </p:nvCxnSpPr>
        <p:spPr>
          <a:xfrm>
            <a:off x="0" y="182880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59" name="GridH949"/>
          <p:cNvCxnSpPr/>
          <p:nvPr/>
        </p:nvCxnSpPr>
        <p:spPr>
          <a:xfrm>
            <a:off x="0" y="21333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60" name="GridH950"/>
          <p:cNvCxnSpPr/>
          <p:nvPr/>
        </p:nvCxnSpPr>
        <p:spPr>
          <a:xfrm>
            <a:off x="0" y="243828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61" name="GridH951"/>
          <p:cNvCxnSpPr/>
          <p:nvPr/>
        </p:nvCxnSpPr>
        <p:spPr>
          <a:xfrm>
            <a:off x="0" y="274320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62" name="GridH952"/>
          <p:cNvCxnSpPr/>
          <p:nvPr/>
        </p:nvCxnSpPr>
        <p:spPr>
          <a:xfrm>
            <a:off x="0" y="30477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63" name="GridH953"/>
          <p:cNvCxnSpPr/>
          <p:nvPr/>
        </p:nvCxnSpPr>
        <p:spPr>
          <a:xfrm>
            <a:off x="0" y="335268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64" name="GridH954"/>
          <p:cNvCxnSpPr/>
          <p:nvPr/>
        </p:nvCxnSpPr>
        <p:spPr>
          <a:xfrm>
            <a:off x="0" y="365760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65" name="GridH955"/>
          <p:cNvCxnSpPr/>
          <p:nvPr/>
        </p:nvCxnSpPr>
        <p:spPr>
          <a:xfrm>
            <a:off x="0" y="39621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66" name="GridH956"/>
          <p:cNvCxnSpPr/>
          <p:nvPr/>
        </p:nvCxnSpPr>
        <p:spPr>
          <a:xfrm>
            <a:off x="0" y="426708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67" name="GridH957"/>
          <p:cNvCxnSpPr/>
          <p:nvPr/>
        </p:nvCxnSpPr>
        <p:spPr>
          <a:xfrm>
            <a:off x="0" y="457200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68" name="GridH958"/>
          <p:cNvCxnSpPr/>
          <p:nvPr/>
        </p:nvCxnSpPr>
        <p:spPr>
          <a:xfrm>
            <a:off x="0" y="48765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69" name="GridH959"/>
          <p:cNvCxnSpPr/>
          <p:nvPr/>
        </p:nvCxnSpPr>
        <p:spPr>
          <a:xfrm>
            <a:off x="0" y="518148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70" name="GridH960"/>
          <p:cNvCxnSpPr/>
          <p:nvPr/>
        </p:nvCxnSpPr>
        <p:spPr>
          <a:xfrm>
            <a:off x="0" y="548640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71" name="GridH961"/>
          <p:cNvCxnSpPr/>
          <p:nvPr/>
        </p:nvCxnSpPr>
        <p:spPr>
          <a:xfrm>
            <a:off x="0" y="57909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72" name="GridH962"/>
          <p:cNvCxnSpPr/>
          <p:nvPr/>
        </p:nvCxnSpPr>
        <p:spPr>
          <a:xfrm>
            <a:off x="0" y="609588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73" name="GridH963"/>
          <p:cNvCxnSpPr/>
          <p:nvPr/>
        </p:nvCxnSpPr>
        <p:spPr>
          <a:xfrm>
            <a:off x="0" y="640080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74" name="GridH964"/>
          <p:cNvCxnSpPr/>
          <p:nvPr/>
        </p:nvCxnSpPr>
        <p:spPr>
          <a:xfrm>
            <a:off x="0" y="67053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sp>
        <p:nvSpPr>
          <p:cNvPr id="275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4560" cy="1158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6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08040" cy="584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7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4560" cy="468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8" name="PlaceHolder 4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0120" cy="361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9" name="PlaceHolder 5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1880" cy="361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0" name="PlaceHolder 6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0120" cy="361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6A746CCF-4E47-45BE-B886-7EC403E45BD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81" name="GridV901"/>
          <p:cNvCxnSpPr/>
          <p:nvPr/>
        </p:nvCxnSpPr>
        <p:spPr>
          <a:xfrm>
            <a:off x="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82" name="GridV902"/>
          <p:cNvCxnSpPr/>
          <p:nvPr/>
        </p:nvCxnSpPr>
        <p:spPr>
          <a:xfrm>
            <a:off x="3045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83" name="GridV903"/>
          <p:cNvCxnSpPr/>
          <p:nvPr/>
        </p:nvCxnSpPr>
        <p:spPr>
          <a:xfrm>
            <a:off x="6094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84" name="GridV904"/>
          <p:cNvCxnSpPr/>
          <p:nvPr/>
        </p:nvCxnSpPr>
        <p:spPr>
          <a:xfrm>
            <a:off x="9144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85" name="GridV905"/>
          <p:cNvCxnSpPr/>
          <p:nvPr/>
        </p:nvCxnSpPr>
        <p:spPr>
          <a:xfrm>
            <a:off x="12189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86" name="GridV906"/>
          <p:cNvCxnSpPr/>
          <p:nvPr/>
        </p:nvCxnSpPr>
        <p:spPr>
          <a:xfrm>
            <a:off x="15238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87" name="GridV907"/>
          <p:cNvCxnSpPr/>
          <p:nvPr/>
        </p:nvCxnSpPr>
        <p:spPr>
          <a:xfrm>
            <a:off x="18288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88" name="GridV908"/>
          <p:cNvCxnSpPr/>
          <p:nvPr/>
        </p:nvCxnSpPr>
        <p:spPr>
          <a:xfrm>
            <a:off x="21333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89" name="GridV909"/>
          <p:cNvCxnSpPr/>
          <p:nvPr/>
        </p:nvCxnSpPr>
        <p:spPr>
          <a:xfrm>
            <a:off x="24382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90" name="GridV910"/>
          <p:cNvCxnSpPr/>
          <p:nvPr/>
        </p:nvCxnSpPr>
        <p:spPr>
          <a:xfrm>
            <a:off x="27432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91" name="GridV911"/>
          <p:cNvCxnSpPr/>
          <p:nvPr/>
        </p:nvCxnSpPr>
        <p:spPr>
          <a:xfrm>
            <a:off x="30477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92" name="GridV912"/>
          <p:cNvCxnSpPr/>
          <p:nvPr/>
        </p:nvCxnSpPr>
        <p:spPr>
          <a:xfrm>
            <a:off x="33526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93" name="GridV913"/>
          <p:cNvCxnSpPr/>
          <p:nvPr/>
        </p:nvCxnSpPr>
        <p:spPr>
          <a:xfrm>
            <a:off x="36576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94" name="GridV914"/>
          <p:cNvCxnSpPr/>
          <p:nvPr/>
        </p:nvCxnSpPr>
        <p:spPr>
          <a:xfrm>
            <a:off x="39621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95" name="GridV915"/>
          <p:cNvCxnSpPr/>
          <p:nvPr/>
        </p:nvCxnSpPr>
        <p:spPr>
          <a:xfrm>
            <a:off x="42670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96" name="GridV916"/>
          <p:cNvCxnSpPr/>
          <p:nvPr/>
        </p:nvCxnSpPr>
        <p:spPr>
          <a:xfrm>
            <a:off x="45720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97" name="GridV917"/>
          <p:cNvCxnSpPr/>
          <p:nvPr/>
        </p:nvCxnSpPr>
        <p:spPr>
          <a:xfrm>
            <a:off x="48765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98" name="GridV918"/>
          <p:cNvCxnSpPr/>
          <p:nvPr/>
        </p:nvCxnSpPr>
        <p:spPr>
          <a:xfrm>
            <a:off x="51814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99" name="GridV919"/>
          <p:cNvCxnSpPr/>
          <p:nvPr/>
        </p:nvCxnSpPr>
        <p:spPr>
          <a:xfrm>
            <a:off x="54864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00" name="GridV920"/>
          <p:cNvCxnSpPr/>
          <p:nvPr/>
        </p:nvCxnSpPr>
        <p:spPr>
          <a:xfrm>
            <a:off x="57909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01" name="GridV921"/>
          <p:cNvCxnSpPr/>
          <p:nvPr/>
        </p:nvCxnSpPr>
        <p:spPr>
          <a:xfrm>
            <a:off x="60958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02" name="GridV922"/>
          <p:cNvCxnSpPr/>
          <p:nvPr/>
        </p:nvCxnSpPr>
        <p:spPr>
          <a:xfrm>
            <a:off x="64008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03" name="GridV923"/>
          <p:cNvCxnSpPr/>
          <p:nvPr/>
        </p:nvCxnSpPr>
        <p:spPr>
          <a:xfrm>
            <a:off x="67053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04" name="GridV924"/>
          <p:cNvCxnSpPr/>
          <p:nvPr/>
        </p:nvCxnSpPr>
        <p:spPr>
          <a:xfrm>
            <a:off x="70102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05" name="GridV925"/>
          <p:cNvCxnSpPr/>
          <p:nvPr/>
        </p:nvCxnSpPr>
        <p:spPr>
          <a:xfrm>
            <a:off x="73152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06" name="GridV926"/>
          <p:cNvCxnSpPr/>
          <p:nvPr/>
        </p:nvCxnSpPr>
        <p:spPr>
          <a:xfrm>
            <a:off x="76197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07" name="GridV927"/>
          <p:cNvCxnSpPr/>
          <p:nvPr/>
        </p:nvCxnSpPr>
        <p:spPr>
          <a:xfrm>
            <a:off x="79246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08" name="GridV928"/>
          <p:cNvCxnSpPr/>
          <p:nvPr/>
        </p:nvCxnSpPr>
        <p:spPr>
          <a:xfrm>
            <a:off x="82296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09" name="GridV929"/>
          <p:cNvCxnSpPr/>
          <p:nvPr/>
        </p:nvCxnSpPr>
        <p:spPr>
          <a:xfrm>
            <a:off x="85341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10" name="GridV930"/>
          <p:cNvCxnSpPr/>
          <p:nvPr/>
        </p:nvCxnSpPr>
        <p:spPr>
          <a:xfrm>
            <a:off x="88390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11" name="GridV931"/>
          <p:cNvCxnSpPr/>
          <p:nvPr/>
        </p:nvCxnSpPr>
        <p:spPr>
          <a:xfrm>
            <a:off x="91440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12" name="GridV932"/>
          <p:cNvCxnSpPr/>
          <p:nvPr/>
        </p:nvCxnSpPr>
        <p:spPr>
          <a:xfrm>
            <a:off x="94485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13" name="GridV933"/>
          <p:cNvCxnSpPr/>
          <p:nvPr/>
        </p:nvCxnSpPr>
        <p:spPr>
          <a:xfrm>
            <a:off x="97534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14" name="GridV934"/>
          <p:cNvCxnSpPr/>
          <p:nvPr/>
        </p:nvCxnSpPr>
        <p:spPr>
          <a:xfrm>
            <a:off x="100584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15" name="GridV935"/>
          <p:cNvCxnSpPr/>
          <p:nvPr/>
        </p:nvCxnSpPr>
        <p:spPr>
          <a:xfrm>
            <a:off x="103629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16" name="GridV936"/>
          <p:cNvCxnSpPr/>
          <p:nvPr/>
        </p:nvCxnSpPr>
        <p:spPr>
          <a:xfrm>
            <a:off x="106678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17" name="GridV937"/>
          <p:cNvCxnSpPr/>
          <p:nvPr/>
        </p:nvCxnSpPr>
        <p:spPr>
          <a:xfrm>
            <a:off x="109728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18" name="GridV938"/>
          <p:cNvCxnSpPr/>
          <p:nvPr/>
        </p:nvCxnSpPr>
        <p:spPr>
          <a:xfrm>
            <a:off x="112773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19" name="GridV939"/>
          <p:cNvCxnSpPr/>
          <p:nvPr/>
        </p:nvCxnSpPr>
        <p:spPr>
          <a:xfrm>
            <a:off x="115822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20" name="GridV940"/>
          <p:cNvCxnSpPr/>
          <p:nvPr/>
        </p:nvCxnSpPr>
        <p:spPr>
          <a:xfrm>
            <a:off x="118872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21" name="GridV941"/>
          <p:cNvCxnSpPr/>
          <p:nvPr/>
        </p:nvCxnSpPr>
        <p:spPr>
          <a:xfrm>
            <a:off x="121917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22" name="GridH942"/>
          <p:cNvCxnSpPr/>
          <p:nvPr/>
        </p:nvCxnSpPr>
        <p:spPr>
          <a:xfrm>
            <a:off x="0" y="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23" name="GridH943"/>
          <p:cNvCxnSpPr/>
          <p:nvPr/>
        </p:nvCxnSpPr>
        <p:spPr>
          <a:xfrm>
            <a:off x="0" y="3045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24" name="GridH944"/>
          <p:cNvCxnSpPr/>
          <p:nvPr/>
        </p:nvCxnSpPr>
        <p:spPr>
          <a:xfrm>
            <a:off x="0" y="60948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25" name="GridH945"/>
          <p:cNvCxnSpPr/>
          <p:nvPr/>
        </p:nvCxnSpPr>
        <p:spPr>
          <a:xfrm>
            <a:off x="0" y="91440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26" name="GridH946"/>
          <p:cNvCxnSpPr/>
          <p:nvPr/>
        </p:nvCxnSpPr>
        <p:spPr>
          <a:xfrm>
            <a:off x="0" y="12189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27" name="GridH947"/>
          <p:cNvCxnSpPr/>
          <p:nvPr/>
        </p:nvCxnSpPr>
        <p:spPr>
          <a:xfrm>
            <a:off x="0" y="152388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28" name="GridH948"/>
          <p:cNvCxnSpPr/>
          <p:nvPr/>
        </p:nvCxnSpPr>
        <p:spPr>
          <a:xfrm>
            <a:off x="0" y="182880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29" name="GridH949"/>
          <p:cNvCxnSpPr/>
          <p:nvPr/>
        </p:nvCxnSpPr>
        <p:spPr>
          <a:xfrm>
            <a:off x="0" y="21333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30" name="GridH950"/>
          <p:cNvCxnSpPr/>
          <p:nvPr/>
        </p:nvCxnSpPr>
        <p:spPr>
          <a:xfrm>
            <a:off x="0" y="243828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31" name="GridH951"/>
          <p:cNvCxnSpPr/>
          <p:nvPr/>
        </p:nvCxnSpPr>
        <p:spPr>
          <a:xfrm>
            <a:off x="0" y="274320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32" name="GridH952"/>
          <p:cNvCxnSpPr/>
          <p:nvPr/>
        </p:nvCxnSpPr>
        <p:spPr>
          <a:xfrm>
            <a:off x="0" y="30477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33" name="GridH953"/>
          <p:cNvCxnSpPr/>
          <p:nvPr/>
        </p:nvCxnSpPr>
        <p:spPr>
          <a:xfrm>
            <a:off x="0" y="335268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34" name="GridH954"/>
          <p:cNvCxnSpPr/>
          <p:nvPr/>
        </p:nvCxnSpPr>
        <p:spPr>
          <a:xfrm>
            <a:off x="0" y="365760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35" name="GridH955"/>
          <p:cNvCxnSpPr/>
          <p:nvPr/>
        </p:nvCxnSpPr>
        <p:spPr>
          <a:xfrm>
            <a:off x="0" y="39621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36" name="GridH956"/>
          <p:cNvCxnSpPr/>
          <p:nvPr/>
        </p:nvCxnSpPr>
        <p:spPr>
          <a:xfrm>
            <a:off x="0" y="426708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37" name="GridH957"/>
          <p:cNvCxnSpPr/>
          <p:nvPr/>
        </p:nvCxnSpPr>
        <p:spPr>
          <a:xfrm>
            <a:off x="0" y="457200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38" name="GridH958"/>
          <p:cNvCxnSpPr/>
          <p:nvPr/>
        </p:nvCxnSpPr>
        <p:spPr>
          <a:xfrm>
            <a:off x="0" y="48765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39" name="GridH959"/>
          <p:cNvCxnSpPr/>
          <p:nvPr/>
        </p:nvCxnSpPr>
        <p:spPr>
          <a:xfrm>
            <a:off x="0" y="518148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40" name="GridH960"/>
          <p:cNvCxnSpPr/>
          <p:nvPr/>
        </p:nvCxnSpPr>
        <p:spPr>
          <a:xfrm>
            <a:off x="0" y="548640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41" name="GridH961"/>
          <p:cNvCxnSpPr/>
          <p:nvPr/>
        </p:nvCxnSpPr>
        <p:spPr>
          <a:xfrm>
            <a:off x="0" y="57909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42" name="GridH962"/>
          <p:cNvCxnSpPr/>
          <p:nvPr/>
        </p:nvCxnSpPr>
        <p:spPr>
          <a:xfrm>
            <a:off x="0" y="609588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43" name="GridH963"/>
          <p:cNvCxnSpPr/>
          <p:nvPr/>
        </p:nvCxnSpPr>
        <p:spPr>
          <a:xfrm>
            <a:off x="0" y="640080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44" name="GridH964"/>
          <p:cNvCxnSpPr/>
          <p:nvPr/>
        </p:nvCxnSpPr>
        <p:spPr>
          <a:xfrm>
            <a:off x="0" y="67053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sp>
        <p:nvSpPr>
          <p:cNvPr id="345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2800" cy="563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6" name="PlaceHolder 2"/>
          <p:cNvSpPr>
            <a:spLocks noGrp="1"/>
          </p:cNvSpPr>
          <p:nvPr>
            <p:ph type="pic"/>
          </p:nvPr>
        </p:nvSpPr>
        <p:spPr>
          <a:xfrm>
            <a:off x="1792440" y="612720"/>
            <a:ext cx="5482800" cy="41112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p>
            <a:pPr indent="0" algn="l">
              <a:buNone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Double-click to add an Image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7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2800" cy="801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8" name="PlaceHolder 4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0120" cy="361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9" name="PlaceHolder 5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1880" cy="361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0" name="PlaceHolder 6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0120" cy="361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0A6DF6D6-4CF2-4DB3-9942-12B6A07E654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51" name="GridV901"/>
          <p:cNvCxnSpPr/>
          <p:nvPr/>
        </p:nvCxnSpPr>
        <p:spPr>
          <a:xfrm>
            <a:off x="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52" name="GridV902"/>
          <p:cNvCxnSpPr/>
          <p:nvPr/>
        </p:nvCxnSpPr>
        <p:spPr>
          <a:xfrm>
            <a:off x="3045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53" name="GridV903"/>
          <p:cNvCxnSpPr/>
          <p:nvPr/>
        </p:nvCxnSpPr>
        <p:spPr>
          <a:xfrm>
            <a:off x="6094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54" name="GridV904"/>
          <p:cNvCxnSpPr/>
          <p:nvPr/>
        </p:nvCxnSpPr>
        <p:spPr>
          <a:xfrm>
            <a:off x="9144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55" name="GridV905"/>
          <p:cNvCxnSpPr/>
          <p:nvPr/>
        </p:nvCxnSpPr>
        <p:spPr>
          <a:xfrm>
            <a:off x="12189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56" name="GridV906"/>
          <p:cNvCxnSpPr/>
          <p:nvPr/>
        </p:nvCxnSpPr>
        <p:spPr>
          <a:xfrm>
            <a:off x="15238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57" name="GridV907"/>
          <p:cNvCxnSpPr/>
          <p:nvPr/>
        </p:nvCxnSpPr>
        <p:spPr>
          <a:xfrm>
            <a:off x="18288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58" name="GridV908"/>
          <p:cNvCxnSpPr/>
          <p:nvPr/>
        </p:nvCxnSpPr>
        <p:spPr>
          <a:xfrm>
            <a:off x="21333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59" name="GridV909"/>
          <p:cNvCxnSpPr/>
          <p:nvPr/>
        </p:nvCxnSpPr>
        <p:spPr>
          <a:xfrm>
            <a:off x="24382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60" name="GridV910"/>
          <p:cNvCxnSpPr/>
          <p:nvPr/>
        </p:nvCxnSpPr>
        <p:spPr>
          <a:xfrm>
            <a:off x="27432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61" name="GridV911"/>
          <p:cNvCxnSpPr/>
          <p:nvPr/>
        </p:nvCxnSpPr>
        <p:spPr>
          <a:xfrm>
            <a:off x="30477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62" name="GridV912"/>
          <p:cNvCxnSpPr/>
          <p:nvPr/>
        </p:nvCxnSpPr>
        <p:spPr>
          <a:xfrm>
            <a:off x="33526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63" name="GridV913"/>
          <p:cNvCxnSpPr/>
          <p:nvPr/>
        </p:nvCxnSpPr>
        <p:spPr>
          <a:xfrm>
            <a:off x="36576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64" name="GridV914"/>
          <p:cNvCxnSpPr/>
          <p:nvPr/>
        </p:nvCxnSpPr>
        <p:spPr>
          <a:xfrm>
            <a:off x="39621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65" name="GridV915"/>
          <p:cNvCxnSpPr/>
          <p:nvPr/>
        </p:nvCxnSpPr>
        <p:spPr>
          <a:xfrm>
            <a:off x="42670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66" name="GridV916"/>
          <p:cNvCxnSpPr/>
          <p:nvPr/>
        </p:nvCxnSpPr>
        <p:spPr>
          <a:xfrm>
            <a:off x="45720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67" name="GridV917"/>
          <p:cNvCxnSpPr/>
          <p:nvPr/>
        </p:nvCxnSpPr>
        <p:spPr>
          <a:xfrm>
            <a:off x="48765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68" name="GridV918"/>
          <p:cNvCxnSpPr/>
          <p:nvPr/>
        </p:nvCxnSpPr>
        <p:spPr>
          <a:xfrm>
            <a:off x="51814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69" name="GridV919"/>
          <p:cNvCxnSpPr/>
          <p:nvPr/>
        </p:nvCxnSpPr>
        <p:spPr>
          <a:xfrm>
            <a:off x="54864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70" name="GridV920"/>
          <p:cNvCxnSpPr/>
          <p:nvPr/>
        </p:nvCxnSpPr>
        <p:spPr>
          <a:xfrm>
            <a:off x="57909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71" name="GridV921"/>
          <p:cNvCxnSpPr/>
          <p:nvPr/>
        </p:nvCxnSpPr>
        <p:spPr>
          <a:xfrm>
            <a:off x="60958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72" name="GridV922"/>
          <p:cNvCxnSpPr/>
          <p:nvPr/>
        </p:nvCxnSpPr>
        <p:spPr>
          <a:xfrm>
            <a:off x="64008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73" name="GridV923"/>
          <p:cNvCxnSpPr/>
          <p:nvPr/>
        </p:nvCxnSpPr>
        <p:spPr>
          <a:xfrm>
            <a:off x="67053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74" name="GridV924"/>
          <p:cNvCxnSpPr/>
          <p:nvPr/>
        </p:nvCxnSpPr>
        <p:spPr>
          <a:xfrm>
            <a:off x="70102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75" name="GridV925"/>
          <p:cNvCxnSpPr/>
          <p:nvPr/>
        </p:nvCxnSpPr>
        <p:spPr>
          <a:xfrm>
            <a:off x="73152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76" name="GridV926"/>
          <p:cNvCxnSpPr/>
          <p:nvPr/>
        </p:nvCxnSpPr>
        <p:spPr>
          <a:xfrm>
            <a:off x="76197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77" name="GridV927"/>
          <p:cNvCxnSpPr/>
          <p:nvPr/>
        </p:nvCxnSpPr>
        <p:spPr>
          <a:xfrm>
            <a:off x="79246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78" name="GridV928"/>
          <p:cNvCxnSpPr/>
          <p:nvPr/>
        </p:nvCxnSpPr>
        <p:spPr>
          <a:xfrm>
            <a:off x="82296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79" name="GridV929"/>
          <p:cNvCxnSpPr/>
          <p:nvPr/>
        </p:nvCxnSpPr>
        <p:spPr>
          <a:xfrm>
            <a:off x="85341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80" name="GridV930"/>
          <p:cNvCxnSpPr/>
          <p:nvPr/>
        </p:nvCxnSpPr>
        <p:spPr>
          <a:xfrm>
            <a:off x="88390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81" name="GridV931"/>
          <p:cNvCxnSpPr/>
          <p:nvPr/>
        </p:nvCxnSpPr>
        <p:spPr>
          <a:xfrm>
            <a:off x="91440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82" name="GridV932"/>
          <p:cNvCxnSpPr/>
          <p:nvPr/>
        </p:nvCxnSpPr>
        <p:spPr>
          <a:xfrm>
            <a:off x="94485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83" name="GridV933"/>
          <p:cNvCxnSpPr/>
          <p:nvPr/>
        </p:nvCxnSpPr>
        <p:spPr>
          <a:xfrm>
            <a:off x="97534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84" name="GridV934"/>
          <p:cNvCxnSpPr/>
          <p:nvPr/>
        </p:nvCxnSpPr>
        <p:spPr>
          <a:xfrm>
            <a:off x="100584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85" name="GridV935"/>
          <p:cNvCxnSpPr/>
          <p:nvPr/>
        </p:nvCxnSpPr>
        <p:spPr>
          <a:xfrm>
            <a:off x="103629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86" name="GridV936"/>
          <p:cNvCxnSpPr/>
          <p:nvPr/>
        </p:nvCxnSpPr>
        <p:spPr>
          <a:xfrm>
            <a:off x="106678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87" name="GridV937"/>
          <p:cNvCxnSpPr/>
          <p:nvPr/>
        </p:nvCxnSpPr>
        <p:spPr>
          <a:xfrm>
            <a:off x="109728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88" name="GridV938"/>
          <p:cNvCxnSpPr/>
          <p:nvPr/>
        </p:nvCxnSpPr>
        <p:spPr>
          <a:xfrm>
            <a:off x="112773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89" name="GridV939"/>
          <p:cNvCxnSpPr/>
          <p:nvPr/>
        </p:nvCxnSpPr>
        <p:spPr>
          <a:xfrm>
            <a:off x="115822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90" name="GridV940"/>
          <p:cNvCxnSpPr/>
          <p:nvPr/>
        </p:nvCxnSpPr>
        <p:spPr>
          <a:xfrm>
            <a:off x="118872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91" name="GridV941"/>
          <p:cNvCxnSpPr/>
          <p:nvPr/>
        </p:nvCxnSpPr>
        <p:spPr>
          <a:xfrm>
            <a:off x="121917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92" name="GridH942"/>
          <p:cNvCxnSpPr/>
          <p:nvPr/>
        </p:nvCxnSpPr>
        <p:spPr>
          <a:xfrm>
            <a:off x="0" y="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93" name="GridH943"/>
          <p:cNvCxnSpPr/>
          <p:nvPr/>
        </p:nvCxnSpPr>
        <p:spPr>
          <a:xfrm>
            <a:off x="0" y="3045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94" name="GridH944"/>
          <p:cNvCxnSpPr/>
          <p:nvPr/>
        </p:nvCxnSpPr>
        <p:spPr>
          <a:xfrm>
            <a:off x="0" y="60948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95" name="GridH945"/>
          <p:cNvCxnSpPr/>
          <p:nvPr/>
        </p:nvCxnSpPr>
        <p:spPr>
          <a:xfrm>
            <a:off x="0" y="91440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96" name="GridH946"/>
          <p:cNvCxnSpPr/>
          <p:nvPr/>
        </p:nvCxnSpPr>
        <p:spPr>
          <a:xfrm>
            <a:off x="0" y="12189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97" name="GridH947"/>
          <p:cNvCxnSpPr/>
          <p:nvPr/>
        </p:nvCxnSpPr>
        <p:spPr>
          <a:xfrm>
            <a:off x="0" y="152388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98" name="GridH948"/>
          <p:cNvCxnSpPr/>
          <p:nvPr/>
        </p:nvCxnSpPr>
        <p:spPr>
          <a:xfrm>
            <a:off x="0" y="182880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99" name="GridH949"/>
          <p:cNvCxnSpPr/>
          <p:nvPr/>
        </p:nvCxnSpPr>
        <p:spPr>
          <a:xfrm>
            <a:off x="0" y="21333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00" name="GridH950"/>
          <p:cNvCxnSpPr/>
          <p:nvPr/>
        </p:nvCxnSpPr>
        <p:spPr>
          <a:xfrm>
            <a:off x="0" y="243828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01" name="GridH951"/>
          <p:cNvCxnSpPr/>
          <p:nvPr/>
        </p:nvCxnSpPr>
        <p:spPr>
          <a:xfrm>
            <a:off x="0" y="274320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02" name="GridH952"/>
          <p:cNvCxnSpPr/>
          <p:nvPr/>
        </p:nvCxnSpPr>
        <p:spPr>
          <a:xfrm>
            <a:off x="0" y="30477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03" name="GridH953"/>
          <p:cNvCxnSpPr/>
          <p:nvPr/>
        </p:nvCxnSpPr>
        <p:spPr>
          <a:xfrm>
            <a:off x="0" y="335268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04" name="GridH954"/>
          <p:cNvCxnSpPr/>
          <p:nvPr/>
        </p:nvCxnSpPr>
        <p:spPr>
          <a:xfrm>
            <a:off x="0" y="365760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05" name="GridH955"/>
          <p:cNvCxnSpPr/>
          <p:nvPr/>
        </p:nvCxnSpPr>
        <p:spPr>
          <a:xfrm>
            <a:off x="0" y="39621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06" name="GridH956"/>
          <p:cNvCxnSpPr/>
          <p:nvPr/>
        </p:nvCxnSpPr>
        <p:spPr>
          <a:xfrm>
            <a:off x="0" y="426708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07" name="GridH957"/>
          <p:cNvCxnSpPr/>
          <p:nvPr/>
        </p:nvCxnSpPr>
        <p:spPr>
          <a:xfrm>
            <a:off x="0" y="457200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08" name="GridH958"/>
          <p:cNvCxnSpPr/>
          <p:nvPr/>
        </p:nvCxnSpPr>
        <p:spPr>
          <a:xfrm>
            <a:off x="0" y="48765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09" name="GridH959"/>
          <p:cNvCxnSpPr/>
          <p:nvPr/>
        </p:nvCxnSpPr>
        <p:spPr>
          <a:xfrm>
            <a:off x="0" y="518148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10" name="GridH960"/>
          <p:cNvCxnSpPr/>
          <p:nvPr/>
        </p:nvCxnSpPr>
        <p:spPr>
          <a:xfrm>
            <a:off x="0" y="548640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11" name="GridH961"/>
          <p:cNvCxnSpPr/>
          <p:nvPr/>
        </p:nvCxnSpPr>
        <p:spPr>
          <a:xfrm>
            <a:off x="0" y="57909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12" name="GridH962"/>
          <p:cNvCxnSpPr/>
          <p:nvPr/>
        </p:nvCxnSpPr>
        <p:spPr>
          <a:xfrm>
            <a:off x="0" y="609588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13" name="GridH963"/>
          <p:cNvCxnSpPr/>
          <p:nvPr/>
        </p:nvCxnSpPr>
        <p:spPr>
          <a:xfrm>
            <a:off x="0" y="640080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14" name="GridH964"/>
          <p:cNvCxnSpPr/>
          <p:nvPr/>
        </p:nvCxnSpPr>
        <p:spPr>
          <a:xfrm>
            <a:off x="0" y="67053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sp>
        <p:nvSpPr>
          <p:cNvPr id="415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68800" cy="1466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Master title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6" name="PlaceHolder 2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0120" cy="361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7" name="PlaceHolder 3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1880" cy="361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8" name="PlaceHolder 4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0120" cy="361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C3A167DB-41B0-41BA-BFAE-135577F3080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19" name="GridV901"/>
          <p:cNvCxnSpPr/>
          <p:nvPr/>
        </p:nvCxnSpPr>
        <p:spPr>
          <a:xfrm>
            <a:off x="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20" name="GridV902"/>
          <p:cNvCxnSpPr/>
          <p:nvPr/>
        </p:nvCxnSpPr>
        <p:spPr>
          <a:xfrm>
            <a:off x="3045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21" name="GridV903"/>
          <p:cNvCxnSpPr/>
          <p:nvPr/>
        </p:nvCxnSpPr>
        <p:spPr>
          <a:xfrm>
            <a:off x="6094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22" name="GridV904"/>
          <p:cNvCxnSpPr/>
          <p:nvPr/>
        </p:nvCxnSpPr>
        <p:spPr>
          <a:xfrm>
            <a:off x="9144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23" name="GridV905"/>
          <p:cNvCxnSpPr/>
          <p:nvPr/>
        </p:nvCxnSpPr>
        <p:spPr>
          <a:xfrm>
            <a:off x="12189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24" name="GridV906"/>
          <p:cNvCxnSpPr/>
          <p:nvPr/>
        </p:nvCxnSpPr>
        <p:spPr>
          <a:xfrm>
            <a:off x="15238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25" name="GridV907"/>
          <p:cNvCxnSpPr/>
          <p:nvPr/>
        </p:nvCxnSpPr>
        <p:spPr>
          <a:xfrm>
            <a:off x="18288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26" name="GridV908"/>
          <p:cNvCxnSpPr/>
          <p:nvPr/>
        </p:nvCxnSpPr>
        <p:spPr>
          <a:xfrm>
            <a:off x="21333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27" name="GridV909"/>
          <p:cNvCxnSpPr/>
          <p:nvPr/>
        </p:nvCxnSpPr>
        <p:spPr>
          <a:xfrm>
            <a:off x="24382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28" name="GridV910"/>
          <p:cNvCxnSpPr/>
          <p:nvPr/>
        </p:nvCxnSpPr>
        <p:spPr>
          <a:xfrm>
            <a:off x="27432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29" name="GridV911"/>
          <p:cNvCxnSpPr/>
          <p:nvPr/>
        </p:nvCxnSpPr>
        <p:spPr>
          <a:xfrm>
            <a:off x="30477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30" name="GridV912"/>
          <p:cNvCxnSpPr/>
          <p:nvPr/>
        </p:nvCxnSpPr>
        <p:spPr>
          <a:xfrm>
            <a:off x="33526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31" name="GridV913"/>
          <p:cNvCxnSpPr/>
          <p:nvPr/>
        </p:nvCxnSpPr>
        <p:spPr>
          <a:xfrm>
            <a:off x="36576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32" name="GridV914"/>
          <p:cNvCxnSpPr/>
          <p:nvPr/>
        </p:nvCxnSpPr>
        <p:spPr>
          <a:xfrm>
            <a:off x="39621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33" name="GridV915"/>
          <p:cNvCxnSpPr/>
          <p:nvPr/>
        </p:nvCxnSpPr>
        <p:spPr>
          <a:xfrm>
            <a:off x="42670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34" name="GridV916"/>
          <p:cNvCxnSpPr/>
          <p:nvPr/>
        </p:nvCxnSpPr>
        <p:spPr>
          <a:xfrm>
            <a:off x="45720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35" name="GridV917"/>
          <p:cNvCxnSpPr/>
          <p:nvPr/>
        </p:nvCxnSpPr>
        <p:spPr>
          <a:xfrm>
            <a:off x="48765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36" name="GridV918"/>
          <p:cNvCxnSpPr/>
          <p:nvPr/>
        </p:nvCxnSpPr>
        <p:spPr>
          <a:xfrm>
            <a:off x="51814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37" name="GridV919"/>
          <p:cNvCxnSpPr/>
          <p:nvPr/>
        </p:nvCxnSpPr>
        <p:spPr>
          <a:xfrm>
            <a:off x="54864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38" name="GridV920"/>
          <p:cNvCxnSpPr/>
          <p:nvPr/>
        </p:nvCxnSpPr>
        <p:spPr>
          <a:xfrm>
            <a:off x="57909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39" name="GridV921"/>
          <p:cNvCxnSpPr/>
          <p:nvPr/>
        </p:nvCxnSpPr>
        <p:spPr>
          <a:xfrm>
            <a:off x="60958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40" name="GridV922"/>
          <p:cNvCxnSpPr/>
          <p:nvPr/>
        </p:nvCxnSpPr>
        <p:spPr>
          <a:xfrm>
            <a:off x="64008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41" name="GridV923"/>
          <p:cNvCxnSpPr/>
          <p:nvPr/>
        </p:nvCxnSpPr>
        <p:spPr>
          <a:xfrm>
            <a:off x="67053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42" name="GridV924"/>
          <p:cNvCxnSpPr/>
          <p:nvPr/>
        </p:nvCxnSpPr>
        <p:spPr>
          <a:xfrm>
            <a:off x="70102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43" name="GridV925"/>
          <p:cNvCxnSpPr/>
          <p:nvPr/>
        </p:nvCxnSpPr>
        <p:spPr>
          <a:xfrm>
            <a:off x="73152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44" name="GridV926"/>
          <p:cNvCxnSpPr/>
          <p:nvPr/>
        </p:nvCxnSpPr>
        <p:spPr>
          <a:xfrm>
            <a:off x="76197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45" name="GridV927"/>
          <p:cNvCxnSpPr/>
          <p:nvPr/>
        </p:nvCxnSpPr>
        <p:spPr>
          <a:xfrm>
            <a:off x="79246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46" name="GridV928"/>
          <p:cNvCxnSpPr/>
          <p:nvPr/>
        </p:nvCxnSpPr>
        <p:spPr>
          <a:xfrm>
            <a:off x="82296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47" name="GridV929"/>
          <p:cNvCxnSpPr/>
          <p:nvPr/>
        </p:nvCxnSpPr>
        <p:spPr>
          <a:xfrm>
            <a:off x="85341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48" name="GridV930"/>
          <p:cNvCxnSpPr/>
          <p:nvPr/>
        </p:nvCxnSpPr>
        <p:spPr>
          <a:xfrm>
            <a:off x="88390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49" name="GridV931"/>
          <p:cNvCxnSpPr/>
          <p:nvPr/>
        </p:nvCxnSpPr>
        <p:spPr>
          <a:xfrm>
            <a:off x="91440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50" name="GridV932"/>
          <p:cNvCxnSpPr/>
          <p:nvPr/>
        </p:nvCxnSpPr>
        <p:spPr>
          <a:xfrm>
            <a:off x="94485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51" name="GridV933"/>
          <p:cNvCxnSpPr/>
          <p:nvPr/>
        </p:nvCxnSpPr>
        <p:spPr>
          <a:xfrm>
            <a:off x="97534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52" name="GridV934"/>
          <p:cNvCxnSpPr/>
          <p:nvPr/>
        </p:nvCxnSpPr>
        <p:spPr>
          <a:xfrm>
            <a:off x="100584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53" name="GridV935"/>
          <p:cNvCxnSpPr/>
          <p:nvPr/>
        </p:nvCxnSpPr>
        <p:spPr>
          <a:xfrm>
            <a:off x="103629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54" name="GridV936"/>
          <p:cNvCxnSpPr/>
          <p:nvPr/>
        </p:nvCxnSpPr>
        <p:spPr>
          <a:xfrm>
            <a:off x="106678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55" name="GridV937"/>
          <p:cNvCxnSpPr/>
          <p:nvPr/>
        </p:nvCxnSpPr>
        <p:spPr>
          <a:xfrm>
            <a:off x="109728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56" name="GridV938"/>
          <p:cNvCxnSpPr/>
          <p:nvPr/>
        </p:nvCxnSpPr>
        <p:spPr>
          <a:xfrm>
            <a:off x="112773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57" name="GridV939"/>
          <p:cNvCxnSpPr/>
          <p:nvPr/>
        </p:nvCxnSpPr>
        <p:spPr>
          <a:xfrm>
            <a:off x="115822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58" name="GridV940"/>
          <p:cNvCxnSpPr/>
          <p:nvPr/>
        </p:nvCxnSpPr>
        <p:spPr>
          <a:xfrm>
            <a:off x="118872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59" name="GridV941"/>
          <p:cNvCxnSpPr/>
          <p:nvPr/>
        </p:nvCxnSpPr>
        <p:spPr>
          <a:xfrm>
            <a:off x="121917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60" name="GridH942"/>
          <p:cNvCxnSpPr/>
          <p:nvPr/>
        </p:nvCxnSpPr>
        <p:spPr>
          <a:xfrm>
            <a:off x="0" y="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61" name="GridH943"/>
          <p:cNvCxnSpPr/>
          <p:nvPr/>
        </p:nvCxnSpPr>
        <p:spPr>
          <a:xfrm>
            <a:off x="0" y="3045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62" name="GridH944"/>
          <p:cNvCxnSpPr/>
          <p:nvPr/>
        </p:nvCxnSpPr>
        <p:spPr>
          <a:xfrm>
            <a:off x="0" y="60948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63" name="GridH945"/>
          <p:cNvCxnSpPr/>
          <p:nvPr/>
        </p:nvCxnSpPr>
        <p:spPr>
          <a:xfrm>
            <a:off x="0" y="91440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64" name="GridH946"/>
          <p:cNvCxnSpPr/>
          <p:nvPr/>
        </p:nvCxnSpPr>
        <p:spPr>
          <a:xfrm>
            <a:off x="0" y="12189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65" name="GridH947"/>
          <p:cNvCxnSpPr/>
          <p:nvPr/>
        </p:nvCxnSpPr>
        <p:spPr>
          <a:xfrm>
            <a:off x="0" y="152388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66" name="GridH948"/>
          <p:cNvCxnSpPr/>
          <p:nvPr/>
        </p:nvCxnSpPr>
        <p:spPr>
          <a:xfrm>
            <a:off x="0" y="182880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67" name="GridH949"/>
          <p:cNvCxnSpPr/>
          <p:nvPr/>
        </p:nvCxnSpPr>
        <p:spPr>
          <a:xfrm>
            <a:off x="0" y="21333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68" name="GridH950"/>
          <p:cNvCxnSpPr/>
          <p:nvPr/>
        </p:nvCxnSpPr>
        <p:spPr>
          <a:xfrm>
            <a:off x="0" y="243828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69" name="GridH951"/>
          <p:cNvCxnSpPr/>
          <p:nvPr/>
        </p:nvCxnSpPr>
        <p:spPr>
          <a:xfrm>
            <a:off x="0" y="274320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70" name="GridH952"/>
          <p:cNvCxnSpPr/>
          <p:nvPr/>
        </p:nvCxnSpPr>
        <p:spPr>
          <a:xfrm>
            <a:off x="0" y="30477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71" name="GridH953"/>
          <p:cNvCxnSpPr/>
          <p:nvPr/>
        </p:nvCxnSpPr>
        <p:spPr>
          <a:xfrm>
            <a:off x="0" y="335268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72" name="GridH954"/>
          <p:cNvCxnSpPr/>
          <p:nvPr/>
        </p:nvCxnSpPr>
        <p:spPr>
          <a:xfrm>
            <a:off x="0" y="365760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73" name="GridH955"/>
          <p:cNvCxnSpPr/>
          <p:nvPr/>
        </p:nvCxnSpPr>
        <p:spPr>
          <a:xfrm>
            <a:off x="0" y="39621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74" name="GridH956"/>
          <p:cNvCxnSpPr/>
          <p:nvPr/>
        </p:nvCxnSpPr>
        <p:spPr>
          <a:xfrm>
            <a:off x="0" y="426708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75" name="GridH957"/>
          <p:cNvCxnSpPr/>
          <p:nvPr/>
        </p:nvCxnSpPr>
        <p:spPr>
          <a:xfrm>
            <a:off x="0" y="457200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76" name="GridH958"/>
          <p:cNvCxnSpPr/>
          <p:nvPr/>
        </p:nvCxnSpPr>
        <p:spPr>
          <a:xfrm>
            <a:off x="0" y="48765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77" name="GridH959"/>
          <p:cNvCxnSpPr/>
          <p:nvPr/>
        </p:nvCxnSpPr>
        <p:spPr>
          <a:xfrm>
            <a:off x="0" y="518148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78" name="GridH960"/>
          <p:cNvCxnSpPr/>
          <p:nvPr/>
        </p:nvCxnSpPr>
        <p:spPr>
          <a:xfrm>
            <a:off x="0" y="548640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79" name="GridH961"/>
          <p:cNvCxnSpPr/>
          <p:nvPr/>
        </p:nvCxnSpPr>
        <p:spPr>
          <a:xfrm>
            <a:off x="0" y="57909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80" name="GridH962"/>
          <p:cNvCxnSpPr/>
          <p:nvPr/>
        </p:nvCxnSpPr>
        <p:spPr>
          <a:xfrm>
            <a:off x="0" y="609588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81" name="GridH963"/>
          <p:cNvCxnSpPr/>
          <p:nvPr/>
        </p:nvCxnSpPr>
        <p:spPr>
          <a:xfrm>
            <a:off x="0" y="640080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82" name="GridH964"/>
          <p:cNvCxnSpPr/>
          <p:nvPr/>
        </p:nvCxnSpPr>
        <p:spPr>
          <a:xfrm>
            <a:off x="0" y="67053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sp>
        <p:nvSpPr>
          <p:cNvPr id="48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6000" cy="1139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Master title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4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6000" cy="4522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5" name="PlaceHolder 3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0120" cy="361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6" name="PlaceHolder 4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1880" cy="361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7" name="PlaceHolder 5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0120" cy="361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7C48BEF0-0B2A-4E47-911F-3ECB247137A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88" name="GridV901"/>
          <p:cNvCxnSpPr/>
          <p:nvPr/>
        </p:nvCxnSpPr>
        <p:spPr>
          <a:xfrm>
            <a:off x="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89" name="GridV902"/>
          <p:cNvCxnSpPr/>
          <p:nvPr/>
        </p:nvCxnSpPr>
        <p:spPr>
          <a:xfrm>
            <a:off x="3045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90" name="GridV903"/>
          <p:cNvCxnSpPr/>
          <p:nvPr/>
        </p:nvCxnSpPr>
        <p:spPr>
          <a:xfrm>
            <a:off x="6094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91" name="GridV904"/>
          <p:cNvCxnSpPr/>
          <p:nvPr/>
        </p:nvCxnSpPr>
        <p:spPr>
          <a:xfrm>
            <a:off x="9144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92" name="GridV905"/>
          <p:cNvCxnSpPr/>
          <p:nvPr/>
        </p:nvCxnSpPr>
        <p:spPr>
          <a:xfrm>
            <a:off x="12189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93" name="GridV906"/>
          <p:cNvCxnSpPr/>
          <p:nvPr/>
        </p:nvCxnSpPr>
        <p:spPr>
          <a:xfrm>
            <a:off x="15238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94" name="GridV907"/>
          <p:cNvCxnSpPr/>
          <p:nvPr/>
        </p:nvCxnSpPr>
        <p:spPr>
          <a:xfrm>
            <a:off x="18288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95" name="GridV908"/>
          <p:cNvCxnSpPr/>
          <p:nvPr/>
        </p:nvCxnSpPr>
        <p:spPr>
          <a:xfrm>
            <a:off x="21333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96" name="GridV909"/>
          <p:cNvCxnSpPr/>
          <p:nvPr/>
        </p:nvCxnSpPr>
        <p:spPr>
          <a:xfrm>
            <a:off x="24382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97" name="GridV910"/>
          <p:cNvCxnSpPr/>
          <p:nvPr/>
        </p:nvCxnSpPr>
        <p:spPr>
          <a:xfrm>
            <a:off x="27432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98" name="GridV911"/>
          <p:cNvCxnSpPr/>
          <p:nvPr/>
        </p:nvCxnSpPr>
        <p:spPr>
          <a:xfrm>
            <a:off x="30477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99" name="GridV912"/>
          <p:cNvCxnSpPr/>
          <p:nvPr/>
        </p:nvCxnSpPr>
        <p:spPr>
          <a:xfrm>
            <a:off x="33526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00" name="GridV913"/>
          <p:cNvCxnSpPr/>
          <p:nvPr/>
        </p:nvCxnSpPr>
        <p:spPr>
          <a:xfrm>
            <a:off x="36576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01" name="GridV914"/>
          <p:cNvCxnSpPr/>
          <p:nvPr/>
        </p:nvCxnSpPr>
        <p:spPr>
          <a:xfrm>
            <a:off x="39621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02" name="GridV915"/>
          <p:cNvCxnSpPr/>
          <p:nvPr/>
        </p:nvCxnSpPr>
        <p:spPr>
          <a:xfrm>
            <a:off x="42670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03" name="GridV916"/>
          <p:cNvCxnSpPr/>
          <p:nvPr/>
        </p:nvCxnSpPr>
        <p:spPr>
          <a:xfrm>
            <a:off x="45720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04" name="GridV917"/>
          <p:cNvCxnSpPr/>
          <p:nvPr/>
        </p:nvCxnSpPr>
        <p:spPr>
          <a:xfrm>
            <a:off x="48765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05" name="GridV918"/>
          <p:cNvCxnSpPr/>
          <p:nvPr/>
        </p:nvCxnSpPr>
        <p:spPr>
          <a:xfrm>
            <a:off x="51814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06" name="GridV919"/>
          <p:cNvCxnSpPr/>
          <p:nvPr/>
        </p:nvCxnSpPr>
        <p:spPr>
          <a:xfrm>
            <a:off x="54864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07" name="GridV920"/>
          <p:cNvCxnSpPr/>
          <p:nvPr/>
        </p:nvCxnSpPr>
        <p:spPr>
          <a:xfrm>
            <a:off x="57909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08" name="GridV921"/>
          <p:cNvCxnSpPr/>
          <p:nvPr/>
        </p:nvCxnSpPr>
        <p:spPr>
          <a:xfrm>
            <a:off x="60958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09" name="GridV922"/>
          <p:cNvCxnSpPr/>
          <p:nvPr/>
        </p:nvCxnSpPr>
        <p:spPr>
          <a:xfrm>
            <a:off x="64008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10" name="GridV923"/>
          <p:cNvCxnSpPr/>
          <p:nvPr/>
        </p:nvCxnSpPr>
        <p:spPr>
          <a:xfrm>
            <a:off x="67053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11" name="GridV924"/>
          <p:cNvCxnSpPr/>
          <p:nvPr/>
        </p:nvCxnSpPr>
        <p:spPr>
          <a:xfrm>
            <a:off x="70102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12" name="GridV925"/>
          <p:cNvCxnSpPr/>
          <p:nvPr/>
        </p:nvCxnSpPr>
        <p:spPr>
          <a:xfrm>
            <a:off x="73152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13" name="GridV926"/>
          <p:cNvCxnSpPr/>
          <p:nvPr/>
        </p:nvCxnSpPr>
        <p:spPr>
          <a:xfrm>
            <a:off x="76197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14" name="GridV927"/>
          <p:cNvCxnSpPr/>
          <p:nvPr/>
        </p:nvCxnSpPr>
        <p:spPr>
          <a:xfrm>
            <a:off x="79246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15" name="GridV928"/>
          <p:cNvCxnSpPr/>
          <p:nvPr/>
        </p:nvCxnSpPr>
        <p:spPr>
          <a:xfrm>
            <a:off x="82296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16" name="GridV929"/>
          <p:cNvCxnSpPr/>
          <p:nvPr/>
        </p:nvCxnSpPr>
        <p:spPr>
          <a:xfrm>
            <a:off x="85341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17" name="GridV930"/>
          <p:cNvCxnSpPr/>
          <p:nvPr/>
        </p:nvCxnSpPr>
        <p:spPr>
          <a:xfrm>
            <a:off x="88390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18" name="GridV931"/>
          <p:cNvCxnSpPr/>
          <p:nvPr/>
        </p:nvCxnSpPr>
        <p:spPr>
          <a:xfrm>
            <a:off x="91440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19" name="GridV932"/>
          <p:cNvCxnSpPr/>
          <p:nvPr/>
        </p:nvCxnSpPr>
        <p:spPr>
          <a:xfrm>
            <a:off x="94485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20" name="GridV933"/>
          <p:cNvCxnSpPr/>
          <p:nvPr/>
        </p:nvCxnSpPr>
        <p:spPr>
          <a:xfrm>
            <a:off x="97534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21" name="GridV934"/>
          <p:cNvCxnSpPr/>
          <p:nvPr/>
        </p:nvCxnSpPr>
        <p:spPr>
          <a:xfrm>
            <a:off x="100584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22" name="GridV935"/>
          <p:cNvCxnSpPr/>
          <p:nvPr/>
        </p:nvCxnSpPr>
        <p:spPr>
          <a:xfrm>
            <a:off x="103629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23" name="GridV936"/>
          <p:cNvCxnSpPr/>
          <p:nvPr/>
        </p:nvCxnSpPr>
        <p:spPr>
          <a:xfrm>
            <a:off x="106678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24" name="GridV937"/>
          <p:cNvCxnSpPr/>
          <p:nvPr/>
        </p:nvCxnSpPr>
        <p:spPr>
          <a:xfrm>
            <a:off x="109728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25" name="GridV938"/>
          <p:cNvCxnSpPr/>
          <p:nvPr/>
        </p:nvCxnSpPr>
        <p:spPr>
          <a:xfrm>
            <a:off x="112773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26" name="GridV939"/>
          <p:cNvCxnSpPr/>
          <p:nvPr/>
        </p:nvCxnSpPr>
        <p:spPr>
          <a:xfrm>
            <a:off x="115822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27" name="GridV940"/>
          <p:cNvCxnSpPr/>
          <p:nvPr/>
        </p:nvCxnSpPr>
        <p:spPr>
          <a:xfrm>
            <a:off x="118872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28" name="GridV941"/>
          <p:cNvCxnSpPr/>
          <p:nvPr/>
        </p:nvCxnSpPr>
        <p:spPr>
          <a:xfrm>
            <a:off x="121917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29" name="GridH942"/>
          <p:cNvCxnSpPr/>
          <p:nvPr/>
        </p:nvCxnSpPr>
        <p:spPr>
          <a:xfrm>
            <a:off x="0" y="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30" name="GridH943"/>
          <p:cNvCxnSpPr/>
          <p:nvPr/>
        </p:nvCxnSpPr>
        <p:spPr>
          <a:xfrm>
            <a:off x="0" y="3045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31" name="GridH944"/>
          <p:cNvCxnSpPr/>
          <p:nvPr/>
        </p:nvCxnSpPr>
        <p:spPr>
          <a:xfrm>
            <a:off x="0" y="60948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32" name="GridH945"/>
          <p:cNvCxnSpPr/>
          <p:nvPr/>
        </p:nvCxnSpPr>
        <p:spPr>
          <a:xfrm>
            <a:off x="0" y="91440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33" name="GridH946"/>
          <p:cNvCxnSpPr/>
          <p:nvPr/>
        </p:nvCxnSpPr>
        <p:spPr>
          <a:xfrm>
            <a:off x="0" y="12189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34" name="GridH947"/>
          <p:cNvCxnSpPr/>
          <p:nvPr/>
        </p:nvCxnSpPr>
        <p:spPr>
          <a:xfrm>
            <a:off x="0" y="152388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35" name="GridH948"/>
          <p:cNvCxnSpPr/>
          <p:nvPr/>
        </p:nvCxnSpPr>
        <p:spPr>
          <a:xfrm>
            <a:off x="0" y="182880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36" name="GridH949"/>
          <p:cNvCxnSpPr/>
          <p:nvPr/>
        </p:nvCxnSpPr>
        <p:spPr>
          <a:xfrm>
            <a:off x="0" y="21333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37" name="GridH950"/>
          <p:cNvCxnSpPr/>
          <p:nvPr/>
        </p:nvCxnSpPr>
        <p:spPr>
          <a:xfrm>
            <a:off x="0" y="243828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38" name="GridH951"/>
          <p:cNvCxnSpPr/>
          <p:nvPr/>
        </p:nvCxnSpPr>
        <p:spPr>
          <a:xfrm>
            <a:off x="0" y="274320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39" name="GridH952"/>
          <p:cNvCxnSpPr/>
          <p:nvPr/>
        </p:nvCxnSpPr>
        <p:spPr>
          <a:xfrm>
            <a:off x="0" y="30477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40" name="GridH953"/>
          <p:cNvCxnSpPr/>
          <p:nvPr/>
        </p:nvCxnSpPr>
        <p:spPr>
          <a:xfrm>
            <a:off x="0" y="335268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41" name="GridH954"/>
          <p:cNvCxnSpPr/>
          <p:nvPr/>
        </p:nvCxnSpPr>
        <p:spPr>
          <a:xfrm>
            <a:off x="0" y="365760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42" name="GridH955"/>
          <p:cNvCxnSpPr/>
          <p:nvPr/>
        </p:nvCxnSpPr>
        <p:spPr>
          <a:xfrm>
            <a:off x="0" y="39621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43" name="GridH956"/>
          <p:cNvCxnSpPr/>
          <p:nvPr/>
        </p:nvCxnSpPr>
        <p:spPr>
          <a:xfrm>
            <a:off x="0" y="426708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44" name="GridH957"/>
          <p:cNvCxnSpPr/>
          <p:nvPr/>
        </p:nvCxnSpPr>
        <p:spPr>
          <a:xfrm>
            <a:off x="0" y="457200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45" name="GridH958"/>
          <p:cNvCxnSpPr/>
          <p:nvPr/>
        </p:nvCxnSpPr>
        <p:spPr>
          <a:xfrm>
            <a:off x="0" y="48765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46" name="GridH959"/>
          <p:cNvCxnSpPr/>
          <p:nvPr/>
        </p:nvCxnSpPr>
        <p:spPr>
          <a:xfrm>
            <a:off x="0" y="518148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47" name="GridH960"/>
          <p:cNvCxnSpPr/>
          <p:nvPr/>
        </p:nvCxnSpPr>
        <p:spPr>
          <a:xfrm>
            <a:off x="0" y="548640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48" name="GridH961"/>
          <p:cNvCxnSpPr/>
          <p:nvPr/>
        </p:nvCxnSpPr>
        <p:spPr>
          <a:xfrm>
            <a:off x="0" y="57909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49" name="GridH962"/>
          <p:cNvCxnSpPr/>
          <p:nvPr/>
        </p:nvCxnSpPr>
        <p:spPr>
          <a:xfrm>
            <a:off x="0" y="609588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50" name="GridH963"/>
          <p:cNvCxnSpPr/>
          <p:nvPr/>
        </p:nvCxnSpPr>
        <p:spPr>
          <a:xfrm>
            <a:off x="0" y="640080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51" name="GridH964"/>
          <p:cNvCxnSpPr/>
          <p:nvPr/>
        </p:nvCxnSpPr>
        <p:spPr>
          <a:xfrm>
            <a:off x="0" y="67053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sp>
        <p:nvSpPr>
          <p:cNvPr id="552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3800" cy="584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vert="eaVert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li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k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o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a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r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ti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y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53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6320" cy="584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54" name="PlaceHolder 3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0120" cy="361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5" name="PlaceHolder 4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1880" cy="361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6" name="PlaceHolder 5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0120" cy="361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CB763D25-3DED-4BBA-8F1B-A2CF2F11350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57" name="GridV901"/>
          <p:cNvCxnSpPr/>
          <p:nvPr/>
        </p:nvCxnSpPr>
        <p:spPr>
          <a:xfrm>
            <a:off x="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58" name="GridV902"/>
          <p:cNvCxnSpPr/>
          <p:nvPr/>
        </p:nvCxnSpPr>
        <p:spPr>
          <a:xfrm>
            <a:off x="3045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59" name="GridV903"/>
          <p:cNvCxnSpPr/>
          <p:nvPr/>
        </p:nvCxnSpPr>
        <p:spPr>
          <a:xfrm>
            <a:off x="6094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60" name="GridV904"/>
          <p:cNvCxnSpPr/>
          <p:nvPr/>
        </p:nvCxnSpPr>
        <p:spPr>
          <a:xfrm>
            <a:off x="9144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61" name="GridV905"/>
          <p:cNvCxnSpPr/>
          <p:nvPr/>
        </p:nvCxnSpPr>
        <p:spPr>
          <a:xfrm>
            <a:off x="12189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62" name="GridV906"/>
          <p:cNvCxnSpPr/>
          <p:nvPr/>
        </p:nvCxnSpPr>
        <p:spPr>
          <a:xfrm>
            <a:off x="15238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63" name="GridV907"/>
          <p:cNvCxnSpPr/>
          <p:nvPr/>
        </p:nvCxnSpPr>
        <p:spPr>
          <a:xfrm>
            <a:off x="18288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64" name="GridV908"/>
          <p:cNvCxnSpPr/>
          <p:nvPr/>
        </p:nvCxnSpPr>
        <p:spPr>
          <a:xfrm>
            <a:off x="21333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65" name="GridV909"/>
          <p:cNvCxnSpPr/>
          <p:nvPr/>
        </p:nvCxnSpPr>
        <p:spPr>
          <a:xfrm>
            <a:off x="24382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66" name="GridV910"/>
          <p:cNvCxnSpPr/>
          <p:nvPr/>
        </p:nvCxnSpPr>
        <p:spPr>
          <a:xfrm>
            <a:off x="27432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67" name="GridV911"/>
          <p:cNvCxnSpPr/>
          <p:nvPr/>
        </p:nvCxnSpPr>
        <p:spPr>
          <a:xfrm>
            <a:off x="30477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68" name="GridV912"/>
          <p:cNvCxnSpPr/>
          <p:nvPr/>
        </p:nvCxnSpPr>
        <p:spPr>
          <a:xfrm>
            <a:off x="33526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69" name="GridV913"/>
          <p:cNvCxnSpPr/>
          <p:nvPr/>
        </p:nvCxnSpPr>
        <p:spPr>
          <a:xfrm>
            <a:off x="36576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70" name="GridV914"/>
          <p:cNvCxnSpPr/>
          <p:nvPr/>
        </p:nvCxnSpPr>
        <p:spPr>
          <a:xfrm>
            <a:off x="39621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71" name="GridV915"/>
          <p:cNvCxnSpPr/>
          <p:nvPr/>
        </p:nvCxnSpPr>
        <p:spPr>
          <a:xfrm>
            <a:off x="42670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72" name="GridV916"/>
          <p:cNvCxnSpPr/>
          <p:nvPr/>
        </p:nvCxnSpPr>
        <p:spPr>
          <a:xfrm>
            <a:off x="45720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73" name="GridV917"/>
          <p:cNvCxnSpPr/>
          <p:nvPr/>
        </p:nvCxnSpPr>
        <p:spPr>
          <a:xfrm>
            <a:off x="48765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74" name="GridV918"/>
          <p:cNvCxnSpPr/>
          <p:nvPr/>
        </p:nvCxnSpPr>
        <p:spPr>
          <a:xfrm>
            <a:off x="51814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75" name="GridV919"/>
          <p:cNvCxnSpPr/>
          <p:nvPr/>
        </p:nvCxnSpPr>
        <p:spPr>
          <a:xfrm>
            <a:off x="54864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76" name="GridV920"/>
          <p:cNvCxnSpPr/>
          <p:nvPr/>
        </p:nvCxnSpPr>
        <p:spPr>
          <a:xfrm>
            <a:off x="57909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77" name="GridV921"/>
          <p:cNvCxnSpPr/>
          <p:nvPr/>
        </p:nvCxnSpPr>
        <p:spPr>
          <a:xfrm>
            <a:off x="60958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78" name="GridV922"/>
          <p:cNvCxnSpPr/>
          <p:nvPr/>
        </p:nvCxnSpPr>
        <p:spPr>
          <a:xfrm>
            <a:off x="64008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79" name="GridV923"/>
          <p:cNvCxnSpPr/>
          <p:nvPr/>
        </p:nvCxnSpPr>
        <p:spPr>
          <a:xfrm>
            <a:off x="67053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80" name="GridV924"/>
          <p:cNvCxnSpPr/>
          <p:nvPr/>
        </p:nvCxnSpPr>
        <p:spPr>
          <a:xfrm>
            <a:off x="70102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81" name="GridV925"/>
          <p:cNvCxnSpPr/>
          <p:nvPr/>
        </p:nvCxnSpPr>
        <p:spPr>
          <a:xfrm>
            <a:off x="73152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82" name="GridV926"/>
          <p:cNvCxnSpPr/>
          <p:nvPr/>
        </p:nvCxnSpPr>
        <p:spPr>
          <a:xfrm>
            <a:off x="76197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83" name="GridV927"/>
          <p:cNvCxnSpPr/>
          <p:nvPr/>
        </p:nvCxnSpPr>
        <p:spPr>
          <a:xfrm>
            <a:off x="79246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84" name="GridV928"/>
          <p:cNvCxnSpPr/>
          <p:nvPr/>
        </p:nvCxnSpPr>
        <p:spPr>
          <a:xfrm>
            <a:off x="82296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85" name="GridV929"/>
          <p:cNvCxnSpPr/>
          <p:nvPr/>
        </p:nvCxnSpPr>
        <p:spPr>
          <a:xfrm>
            <a:off x="85341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86" name="GridV930"/>
          <p:cNvCxnSpPr/>
          <p:nvPr/>
        </p:nvCxnSpPr>
        <p:spPr>
          <a:xfrm>
            <a:off x="88390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87" name="GridV931"/>
          <p:cNvCxnSpPr/>
          <p:nvPr/>
        </p:nvCxnSpPr>
        <p:spPr>
          <a:xfrm>
            <a:off x="91440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88" name="GridV932"/>
          <p:cNvCxnSpPr/>
          <p:nvPr/>
        </p:nvCxnSpPr>
        <p:spPr>
          <a:xfrm>
            <a:off x="94485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89" name="GridV933"/>
          <p:cNvCxnSpPr/>
          <p:nvPr/>
        </p:nvCxnSpPr>
        <p:spPr>
          <a:xfrm>
            <a:off x="97534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90" name="GridV934"/>
          <p:cNvCxnSpPr/>
          <p:nvPr/>
        </p:nvCxnSpPr>
        <p:spPr>
          <a:xfrm>
            <a:off x="100584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91" name="GridV935"/>
          <p:cNvCxnSpPr/>
          <p:nvPr/>
        </p:nvCxnSpPr>
        <p:spPr>
          <a:xfrm>
            <a:off x="103629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92" name="GridV936"/>
          <p:cNvCxnSpPr/>
          <p:nvPr/>
        </p:nvCxnSpPr>
        <p:spPr>
          <a:xfrm>
            <a:off x="106678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93" name="GridV937"/>
          <p:cNvCxnSpPr/>
          <p:nvPr/>
        </p:nvCxnSpPr>
        <p:spPr>
          <a:xfrm>
            <a:off x="109728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94" name="GridV938"/>
          <p:cNvCxnSpPr/>
          <p:nvPr/>
        </p:nvCxnSpPr>
        <p:spPr>
          <a:xfrm>
            <a:off x="112773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95" name="GridV939"/>
          <p:cNvCxnSpPr/>
          <p:nvPr/>
        </p:nvCxnSpPr>
        <p:spPr>
          <a:xfrm>
            <a:off x="115822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96" name="GridV940"/>
          <p:cNvCxnSpPr/>
          <p:nvPr/>
        </p:nvCxnSpPr>
        <p:spPr>
          <a:xfrm>
            <a:off x="118872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97" name="GridV941"/>
          <p:cNvCxnSpPr/>
          <p:nvPr/>
        </p:nvCxnSpPr>
        <p:spPr>
          <a:xfrm>
            <a:off x="121917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98" name="GridH942"/>
          <p:cNvCxnSpPr/>
          <p:nvPr/>
        </p:nvCxnSpPr>
        <p:spPr>
          <a:xfrm>
            <a:off x="0" y="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99" name="GridH943"/>
          <p:cNvCxnSpPr/>
          <p:nvPr/>
        </p:nvCxnSpPr>
        <p:spPr>
          <a:xfrm>
            <a:off x="0" y="3045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00" name="GridH944"/>
          <p:cNvCxnSpPr/>
          <p:nvPr/>
        </p:nvCxnSpPr>
        <p:spPr>
          <a:xfrm>
            <a:off x="0" y="60948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01" name="GridH945"/>
          <p:cNvCxnSpPr/>
          <p:nvPr/>
        </p:nvCxnSpPr>
        <p:spPr>
          <a:xfrm>
            <a:off x="0" y="91440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02" name="GridH946"/>
          <p:cNvCxnSpPr/>
          <p:nvPr/>
        </p:nvCxnSpPr>
        <p:spPr>
          <a:xfrm>
            <a:off x="0" y="12189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03" name="GridH947"/>
          <p:cNvCxnSpPr/>
          <p:nvPr/>
        </p:nvCxnSpPr>
        <p:spPr>
          <a:xfrm>
            <a:off x="0" y="152388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04" name="GridH948"/>
          <p:cNvCxnSpPr/>
          <p:nvPr/>
        </p:nvCxnSpPr>
        <p:spPr>
          <a:xfrm>
            <a:off x="0" y="182880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05" name="GridH949"/>
          <p:cNvCxnSpPr/>
          <p:nvPr/>
        </p:nvCxnSpPr>
        <p:spPr>
          <a:xfrm>
            <a:off x="0" y="21333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06" name="GridH950"/>
          <p:cNvCxnSpPr/>
          <p:nvPr/>
        </p:nvCxnSpPr>
        <p:spPr>
          <a:xfrm>
            <a:off x="0" y="243828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07" name="GridH951"/>
          <p:cNvCxnSpPr/>
          <p:nvPr/>
        </p:nvCxnSpPr>
        <p:spPr>
          <a:xfrm>
            <a:off x="0" y="274320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08" name="GridH952"/>
          <p:cNvCxnSpPr/>
          <p:nvPr/>
        </p:nvCxnSpPr>
        <p:spPr>
          <a:xfrm>
            <a:off x="0" y="30477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09" name="GridH953"/>
          <p:cNvCxnSpPr/>
          <p:nvPr/>
        </p:nvCxnSpPr>
        <p:spPr>
          <a:xfrm>
            <a:off x="0" y="335268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10" name="GridH954"/>
          <p:cNvCxnSpPr/>
          <p:nvPr/>
        </p:nvCxnSpPr>
        <p:spPr>
          <a:xfrm>
            <a:off x="0" y="365760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11" name="GridH955"/>
          <p:cNvCxnSpPr/>
          <p:nvPr/>
        </p:nvCxnSpPr>
        <p:spPr>
          <a:xfrm>
            <a:off x="0" y="39621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12" name="GridH956"/>
          <p:cNvCxnSpPr/>
          <p:nvPr/>
        </p:nvCxnSpPr>
        <p:spPr>
          <a:xfrm>
            <a:off x="0" y="426708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13" name="GridH957"/>
          <p:cNvCxnSpPr/>
          <p:nvPr/>
        </p:nvCxnSpPr>
        <p:spPr>
          <a:xfrm>
            <a:off x="0" y="457200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14" name="GridH958"/>
          <p:cNvCxnSpPr/>
          <p:nvPr/>
        </p:nvCxnSpPr>
        <p:spPr>
          <a:xfrm>
            <a:off x="0" y="48765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15" name="GridH959"/>
          <p:cNvCxnSpPr/>
          <p:nvPr/>
        </p:nvCxnSpPr>
        <p:spPr>
          <a:xfrm>
            <a:off x="0" y="518148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16" name="GridH960"/>
          <p:cNvCxnSpPr/>
          <p:nvPr/>
        </p:nvCxnSpPr>
        <p:spPr>
          <a:xfrm>
            <a:off x="0" y="548640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17" name="GridH961"/>
          <p:cNvCxnSpPr/>
          <p:nvPr/>
        </p:nvCxnSpPr>
        <p:spPr>
          <a:xfrm>
            <a:off x="0" y="57909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18" name="GridH962"/>
          <p:cNvCxnSpPr/>
          <p:nvPr/>
        </p:nvCxnSpPr>
        <p:spPr>
          <a:xfrm>
            <a:off x="0" y="609588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19" name="GridH963"/>
          <p:cNvCxnSpPr/>
          <p:nvPr/>
        </p:nvCxnSpPr>
        <p:spPr>
          <a:xfrm>
            <a:off x="0" y="640080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20" name="GridH964"/>
          <p:cNvCxnSpPr/>
          <p:nvPr/>
        </p:nvCxnSpPr>
        <p:spPr>
          <a:xfrm>
            <a:off x="0" y="67053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sp>
        <p:nvSpPr>
          <p:cNvPr id="62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6000" cy="1139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Master title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22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6000" cy="4522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23" name="PlaceHolder 3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0120" cy="361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4" name="PlaceHolder 4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1880" cy="361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5" name="PlaceHolder 5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0120" cy="361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B4AEE944-D7CD-4A86-8346-6286EE55DDF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26" name="GridV901"/>
          <p:cNvCxnSpPr/>
          <p:nvPr/>
        </p:nvCxnSpPr>
        <p:spPr>
          <a:xfrm>
            <a:off x="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27" name="GridV902"/>
          <p:cNvCxnSpPr/>
          <p:nvPr/>
        </p:nvCxnSpPr>
        <p:spPr>
          <a:xfrm>
            <a:off x="3045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28" name="GridV903"/>
          <p:cNvCxnSpPr/>
          <p:nvPr/>
        </p:nvCxnSpPr>
        <p:spPr>
          <a:xfrm>
            <a:off x="6094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29" name="GridV904"/>
          <p:cNvCxnSpPr/>
          <p:nvPr/>
        </p:nvCxnSpPr>
        <p:spPr>
          <a:xfrm>
            <a:off x="9144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30" name="GridV905"/>
          <p:cNvCxnSpPr/>
          <p:nvPr/>
        </p:nvCxnSpPr>
        <p:spPr>
          <a:xfrm>
            <a:off x="12189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31" name="GridV906"/>
          <p:cNvCxnSpPr/>
          <p:nvPr/>
        </p:nvCxnSpPr>
        <p:spPr>
          <a:xfrm>
            <a:off x="15238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32" name="GridV907"/>
          <p:cNvCxnSpPr/>
          <p:nvPr/>
        </p:nvCxnSpPr>
        <p:spPr>
          <a:xfrm>
            <a:off x="18288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33" name="GridV908"/>
          <p:cNvCxnSpPr/>
          <p:nvPr/>
        </p:nvCxnSpPr>
        <p:spPr>
          <a:xfrm>
            <a:off x="21333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34" name="GridV909"/>
          <p:cNvCxnSpPr/>
          <p:nvPr/>
        </p:nvCxnSpPr>
        <p:spPr>
          <a:xfrm>
            <a:off x="24382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35" name="GridV910"/>
          <p:cNvCxnSpPr/>
          <p:nvPr/>
        </p:nvCxnSpPr>
        <p:spPr>
          <a:xfrm>
            <a:off x="27432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36" name="GridV911"/>
          <p:cNvCxnSpPr/>
          <p:nvPr/>
        </p:nvCxnSpPr>
        <p:spPr>
          <a:xfrm>
            <a:off x="30477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37" name="GridV912"/>
          <p:cNvCxnSpPr/>
          <p:nvPr/>
        </p:nvCxnSpPr>
        <p:spPr>
          <a:xfrm>
            <a:off x="33526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38" name="GridV913"/>
          <p:cNvCxnSpPr/>
          <p:nvPr/>
        </p:nvCxnSpPr>
        <p:spPr>
          <a:xfrm>
            <a:off x="36576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39" name="GridV914"/>
          <p:cNvCxnSpPr/>
          <p:nvPr/>
        </p:nvCxnSpPr>
        <p:spPr>
          <a:xfrm>
            <a:off x="39621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40" name="GridV915"/>
          <p:cNvCxnSpPr/>
          <p:nvPr/>
        </p:nvCxnSpPr>
        <p:spPr>
          <a:xfrm>
            <a:off x="42670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41" name="GridV916"/>
          <p:cNvCxnSpPr/>
          <p:nvPr/>
        </p:nvCxnSpPr>
        <p:spPr>
          <a:xfrm>
            <a:off x="45720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42" name="GridV917"/>
          <p:cNvCxnSpPr/>
          <p:nvPr/>
        </p:nvCxnSpPr>
        <p:spPr>
          <a:xfrm>
            <a:off x="48765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43" name="GridV918"/>
          <p:cNvCxnSpPr/>
          <p:nvPr/>
        </p:nvCxnSpPr>
        <p:spPr>
          <a:xfrm>
            <a:off x="51814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44" name="GridV919"/>
          <p:cNvCxnSpPr/>
          <p:nvPr/>
        </p:nvCxnSpPr>
        <p:spPr>
          <a:xfrm>
            <a:off x="54864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45" name="GridV920"/>
          <p:cNvCxnSpPr/>
          <p:nvPr/>
        </p:nvCxnSpPr>
        <p:spPr>
          <a:xfrm>
            <a:off x="57909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46" name="GridV921"/>
          <p:cNvCxnSpPr/>
          <p:nvPr/>
        </p:nvCxnSpPr>
        <p:spPr>
          <a:xfrm>
            <a:off x="60958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47" name="GridV922"/>
          <p:cNvCxnSpPr/>
          <p:nvPr/>
        </p:nvCxnSpPr>
        <p:spPr>
          <a:xfrm>
            <a:off x="64008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48" name="GridV923"/>
          <p:cNvCxnSpPr/>
          <p:nvPr/>
        </p:nvCxnSpPr>
        <p:spPr>
          <a:xfrm>
            <a:off x="67053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49" name="GridV924"/>
          <p:cNvCxnSpPr/>
          <p:nvPr/>
        </p:nvCxnSpPr>
        <p:spPr>
          <a:xfrm>
            <a:off x="70102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50" name="GridV925"/>
          <p:cNvCxnSpPr/>
          <p:nvPr/>
        </p:nvCxnSpPr>
        <p:spPr>
          <a:xfrm>
            <a:off x="73152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51" name="GridV926"/>
          <p:cNvCxnSpPr/>
          <p:nvPr/>
        </p:nvCxnSpPr>
        <p:spPr>
          <a:xfrm>
            <a:off x="76197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52" name="GridV927"/>
          <p:cNvCxnSpPr/>
          <p:nvPr/>
        </p:nvCxnSpPr>
        <p:spPr>
          <a:xfrm>
            <a:off x="79246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53" name="GridV928"/>
          <p:cNvCxnSpPr/>
          <p:nvPr/>
        </p:nvCxnSpPr>
        <p:spPr>
          <a:xfrm>
            <a:off x="82296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54" name="GridV929"/>
          <p:cNvCxnSpPr/>
          <p:nvPr/>
        </p:nvCxnSpPr>
        <p:spPr>
          <a:xfrm>
            <a:off x="85341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55" name="GridV930"/>
          <p:cNvCxnSpPr/>
          <p:nvPr/>
        </p:nvCxnSpPr>
        <p:spPr>
          <a:xfrm>
            <a:off x="88390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56" name="GridV931"/>
          <p:cNvCxnSpPr/>
          <p:nvPr/>
        </p:nvCxnSpPr>
        <p:spPr>
          <a:xfrm>
            <a:off x="91440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57" name="GridV932"/>
          <p:cNvCxnSpPr/>
          <p:nvPr/>
        </p:nvCxnSpPr>
        <p:spPr>
          <a:xfrm>
            <a:off x="94485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58" name="GridV933"/>
          <p:cNvCxnSpPr/>
          <p:nvPr/>
        </p:nvCxnSpPr>
        <p:spPr>
          <a:xfrm>
            <a:off x="97534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59" name="GridV934"/>
          <p:cNvCxnSpPr/>
          <p:nvPr/>
        </p:nvCxnSpPr>
        <p:spPr>
          <a:xfrm>
            <a:off x="100584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60" name="GridV935"/>
          <p:cNvCxnSpPr/>
          <p:nvPr/>
        </p:nvCxnSpPr>
        <p:spPr>
          <a:xfrm>
            <a:off x="103629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61" name="GridV936"/>
          <p:cNvCxnSpPr/>
          <p:nvPr/>
        </p:nvCxnSpPr>
        <p:spPr>
          <a:xfrm>
            <a:off x="106678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62" name="GridV937"/>
          <p:cNvCxnSpPr/>
          <p:nvPr/>
        </p:nvCxnSpPr>
        <p:spPr>
          <a:xfrm>
            <a:off x="109728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63" name="GridV938"/>
          <p:cNvCxnSpPr/>
          <p:nvPr/>
        </p:nvCxnSpPr>
        <p:spPr>
          <a:xfrm>
            <a:off x="112773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64" name="GridV939"/>
          <p:cNvCxnSpPr/>
          <p:nvPr/>
        </p:nvCxnSpPr>
        <p:spPr>
          <a:xfrm>
            <a:off x="115822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65" name="GridV940"/>
          <p:cNvCxnSpPr/>
          <p:nvPr/>
        </p:nvCxnSpPr>
        <p:spPr>
          <a:xfrm>
            <a:off x="118872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66" name="GridV941"/>
          <p:cNvCxnSpPr/>
          <p:nvPr/>
        </p:nvCxnSpPr>
        <p:spPr>
          <a:xfrm>
            <a:off x="121917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67" name="GridH942"/>
          <p:cNvCxnSpPr/>
          <p:nvPr/>
        </p:nvCxnSpPr>
        <p:spPr>
          <a:xfrm>
            <a:off x="0" y="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68" name="GridH943"/>
          <p:cNvCxnSpPr/>
          <p:nvPr/>
        </p:nvCxnSpPr>
        <p:spPr>
          <a:xfrm>
            <a:off x="0" y="3045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69" name="GridH944"/>
          <p:cNvCxnSpPr/>
          <p:nvPr/>
        </p:nvCxnSpPr>
        <p:spPr>
          <a:xfrm>
            <a:off x="0" y="60948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70" name="GridH945"/>
          <p:cNvCxnSpPr/>
          <p:nvPr/>
        </p:nvCxnSpPr>
        <p:spPr>
          <a:xfrm>
            <a:off x="0" y="91440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71" name="GridH946"/>
          <p:cNvCxnSpPr/>
          <p:nvPr/>
        </p:nvCxnSpPr>
        <p:spPr>
          <a:xfrm>
            <a:off x="0" y="12189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72" name="GridH947"/>
          <p:cNvCxnSpPr/>
          <p:nvPr/>
        </p:nvCxnSpPr>
        <p:spPr>
          <a:xfrm>
            <a:off x="0" y="152388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73" name="GridH948"/>
          <p:cNvCxnSpPr/>
          <p:nvPr/>
        </p:nvCxnSpPr>
        <p:spPr>
          <a:xfrm>
            <a:off x="0" y="182880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74" name="GridH949"/>
          <p:cNvCxnSpPr/>
          <p:nvPr/>
        </p:nvCxnSpPr>
        <p:spPr>
          <a:xfrm>
            <a:off x="0" y="21333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75" name="GridH950"/>
          <p:cNvCxnSpPr/>
          <p:nvPr/>
        </p:nvCxnSpPr>
        <p:spPr>
          <a:xfrm>
            <a:off x="0" y="243828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76" name="GridH951"/>
          <p:cNvCxnSpPr/>
          <p:nvPr/>
        </p:nvCxnSpPr>
        <p:spPr>
          <a:xfrm>
            <a:off x="0" y="274320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77" name="GridH952"/>
          <p:cNvCxnSpPr/>
          <p:nvPr/>
        </p:nvCxnSpPr>
        <p:spPr>
          <a:xfrm>
            <a:off x="0" y="30477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78" name="GridH953"/>
          <p:cNvCxnSpPr/>
          <p:nvPr/>
        </p:nvCxnSpPr>
        <p:spPr>
          <a:xfrm>
            <a:off x="0" y="335268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79" name="GridH954"/>
          <p:cNvCxnSpPr/>
          <p:nvPr/>
        </p:nvCxnSpPr>
        <p:spPr>
          <a:xfrm>
            <a:off x="0" y="365760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80" name="GridH955"/>
          <p:cNvCxnSpPr/>
          <p:nvPr/>
        </p:nvCxnSpPr>
        <p:spPr>
          <a:xfrm>
            <a:off x="0" y="39621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81" name="GridH956"/>
          <p:cNvCxnSpPr/>
          <p:nvPr/>
        </p:nvCxnSpPr>
        <p:spPr>
          <a:xfrm>
            <a:off x="0" y="426708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82" name="GridH957"/>
          <p:cNvCxnSpPr/>
          <p:nvPr/>
        </p:nvCxnSpPr>
        <p:spPr>
          <a:xfrm>
            <a:off x="0" y="457200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83" name="GridH958"/>
          <p:cNvCxnSpPr/>
          <p:nvPr/>
        </p:nvCxnSpPr>
        <p:spPr>
          <a:xfrm>
            <a:off x="0" y="48765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84" name="GridH959"/>
          <p:cNvCxnSpPr/>
          <p:nvPr/>
        </p:nvCxnSpPr>
        <p:spPr>
          <a:xfrm>
            <a:off x="0" y="518148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85" name="GridH960"/>
          <p:cNvCxnSpPr/>
          <p:nvPr/>
        </p:nvCxnSpPr>
        <p:spPr>
          <a:xfrm>
            <a:off x="0" y="548640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86" name="GridH961"/>
          <p:cNvCxnSpPr/>
          <p:nvPr/>
        </p:nvCxnSpPr>
        <p:spPr>
          <a:xfrm>
            <a:off x="0" y="57909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87" name="GridH962"/>
          <p:cNvCxnSpPr/>
          <p:nvPr/>
        </p:nvCxnSpPr>
        <p:spPr>
          <a:xfrm>
            <a:off x="0" y="609588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88" name="GridH963"/>
          <p:cNvCxnSpPr/>
          <p:nvPr/>
        </p:nvCxnSpPr>
        <p:spPr>
          <a:xfrm>
            <a:off x="0" y="640080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89" name="GridH964"/>
          <p:cNvCxnSpPr/>
          <p:nvPr/>
        </p:nvCxnSpPr>
        <p:spPr>
          <a:xfrm>
            <a:off x="0" y="67053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sp>
        <p:nvSpPr>
          <p:cNvPr id="690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68800" cy="1358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</a:t>
            </a: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edit </a:t>
            </a: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Master </a:t>
            </a: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title style</a:t>
            </a:r>
            <a:endParaRPr lang="en-US" sz="4000" b="1" u="none" strike="noStrike" cap="all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91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68800" cy="1496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  <a:def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000" b="0" u="none" strike="noStrike">
              <a:solidFill>
                <a:schemeClr val="dk1">
                  <a:tint val="75000"/>
                </a:schemeClr>
              </a:solidFill>
              <a:effectLst/>
              <a:uFillTx/>
              <a:latin typeface="Calibri"/>
            </a:endParaRPr>
          </a:p>
        </p:txBody>
      </p:sp>
      <p:sp>
        <p:nvSpPr>
          <p:cNvPr id="692" name="PlaceHolder 3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0120" cy="361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3" name="PlaceHolder 4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1880" cy="361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4" name="PlaceHolder 5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0120" cy="361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2B070B3B-5257-4733-BA7F-7A8AB7E74DB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95" name="GridV901"/>
          <p:cNvCxnSpPr/>
          <p:nvPr/>
        </p:nvCxnSpPr>
        <p:spPr>
          <a:xfrm>
            <a:off x="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96" name="GridV902"/>
          <p:cNvCxnSpPr/>
          <p:nvPr/>
        </p:nvCxnSpPr>
        <p:spPr>
          <a:xfrm>
            <a:off x="3045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97" name="GridV903"/>
          <p:cNvCxnSpPr/>
          <p:nvPr/>
        </p:nvCxnSpPr>
        <p:spPr>
          <a:xfrm>
            <a:off x="6094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98" name="GridV904"/>
          <p:cNvCxnSpPr/>
          <p:nvPr/>
        </p:nvCxnSpPr>
        <p:spPr>
          <a:xfrm>
            <a:off x="9144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99" name="GridV905"/>
          <p:cNvCxnSpPr/>
          <p:nvPr/>
        </p:nvCxnSpPr>
        <p:spPr>
          <a:xfrm>
            <a:off x="12189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00" name="GridV906"/>
          <p:cNvCxnSpPr/>
          <p:nvPr/>
        </p:nvCxnSpPr>
        <p:spPr>
          <a:xfrm>
            <a:off x="15238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01" name="GridV907"/>
          <p:cNvCxnSpPr/>
          <p:nvPr/>
        </p:nvCxnSpPr>
        <p:spPr>
          <a:xfrm>
            <a:off x="18288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02" name="GridV908"/>
          <p:cNvCxnSpPr/>
          <p:nvPr/>
        </p:nvCxnSpPr>
        <p:spPr>
          <a:xfrm>
            <a:off x="21333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03" name="GridV909"/>
          <p:cNvCxnSpPr/>
          <p:nvPr/>
        </p:nvCxnSpPr>
        <p:spPr>
          <a:xfrm>
            <a:off x="24382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04" name="GridV910"/>
          <p:cNvCxnSpPr/>
          <p:nvPr/>
        </p:nvCxnSpPr>
        <p:spPr>
          <a:xfrm>
            <a:off x="27432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05" name="GridV911"/>
          <p:cNvCxnSpPr/>
          <p:nvPr/>
        </p:nvCxnSpPr>
        <p:spPr>
          <a:xfrm>
            <a:off x="30477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06" name="GridV912"/>
          <p:cNvCxnSpPr/>
          <p:nvPr/>
        </p:nvCxnSpPr>
        <p:spPr>
          <a:xfrm>
            <a:off x="33526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07" name="GridV913"/>
          <p:cNvCxnSpPr/>
          <p:nvPr/>
        </p:nvCxnSpPr>
        <p:spPr>
          <a:xfrm>
            <a:off x="36576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08" name="GridV914"/>
          <p:cNvCxnSpPr/>
          <p:nvPr/>
        </p:nvCxnSpPr>
        <p:spPr>
          <a:xfrm>
            <a:off x="39621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09" name="GridV915"/>
          <p:cNvCxnSpPr/>
          <p:nvPr/>
        </p:nvCxnSpPr>
        <p:spPr>
          <a:xfrm>
            <a:off x="42670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10" name="GridV916"/>
          <p:cNvCxnSpPr/>
          <p:nvPr/>
        </p:nvCxnSpPr>
        <p:spPr>
          <a:xfrm>
            <a:off x="45720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11" name="GridV917"/>
          <p:cNvCxnSpPr/>
          <p:nvPr/>
        </p:nvCxnSpPr>
        <p:spPr>
          <a:xfrm>
            <a:off x="48765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12" name="GridV918"/>
          <p:cNvCxnSpPr/>
          <p:nvPr/>
        </p:nvCxnSpPr>
        <p:spPr>
          <a:xfrm>
            <a:off x="51814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13" name="GridV919"/>
          <p:cNvCxnSpPr/>
          <p:nvPr/>
        </p:nvCxnSpPr>
        <p:spPr>
          <a:xfrm>
            <a:off x="54864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14" name="GridV920"/>
          <p:cNvCxnSpPr/>
          <p:nvPr/>
        </p:nvCxnSpPr>
        <p:spPr>
          <a:xfrm>
            <a:off x="57909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15" name="GridV921"/>
          <p:cNvCxnSpPr/>
          <p:nvPr/>
        </p:nvCxnSpPr>
        <p:spPr>
          <a:xfrm>
            <a:off x="60958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16" name="GridV922"/>
          <p:cNvCxnSpPr/>
          <p:nvPr/>
        </p:nvCxnSpPr>
        <p:spPr>
          <a:xfrm>
            <a:off x="64008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17" name="GridV923"/>
          <p:cNvCxnSpPr/>
          <p:nvPr/>
        </p:nvCxnSpPr>
        <p:spPr>
          <a:xfrm>
            <a:off x="67053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18" name="GridV924"/>
          <p:cNvCxnSpPr/>
          <p:nvPr/>
        </p:nvCxnSpPr>
        <p:spPr>
          <a:xfrm>
            <a:off x="70102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19" name="GridV925"/>
          <p:cNvCxnSpPr/>
          <p:nvPr/>
        </p:nvCxnSpPr>
        <p:spPr>
          <a:xfrm>
            <a:off x="73152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20" name="GridV926"/>
          <p:cNvCxnSpPr/>
          <p:nvPr/>
        </p:nvCxnSpPr>
        <p:spPr>
          <a:xfrm>
            <a:off x="76197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21" name="GridV927"/>
          <p:cNvCxnSpPr/>
          <p:nvPr/>
        </p:nvCxnSpPr>
        <p:spPr>
          <a:xfrm>
            <a:off x="79246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22" name="GridV928"/>
          <p:cNvCxnSpPr/>
          <p:nvPr/>
        </p:nvCxnSpPr>
        <p:spPr>
          <a:xfrm>
            <a:off x="82296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23" name="GridV929"/>
          <p:cNvCxnSpPr/>
          <p:nvPr/>
        </p:nvCxnSpPr>
        <p:spPr>
          <a:xfrm>
            <a:off x="85341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24" name="GridV930"/>
          <p:cNvCxnSpPr/>
          <p:nvPr/>
        </p:nvCxnSpPr>
        <p:spPr>
          <a:xfrm>
            <a:off x="88390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25" name="GridV931"/>
          <p:cNvCxnSpPr/>
          <p:nvPr/>
        </p:nvCxnSpPr>
        <p:spPr>
          <a:xfrm>
            <a:off x="91440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26" name="GridV932"/>
          <p:cNvCxnSpPr/>
          <p:nvPr/>
        </p:nvCxnSpPr>
        <p:spPr>
          <a:xfrm>
            <a:off x="94485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27" name="GridV933"/>
          <p:cNvCxnSpPr/>
          <p:nvPr/>
        </p:nvCxnSpPr>
        <p:spPr>
          <a:xfrm>
            <a:off x="97534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28" name="GridV934"/>
          <p:cNvCxnSpPr/>
          <p:nvPr/>
        </p:nvCxnSpPr>
        <p:spPr>
          <a:xfrm>
            <a:off x="100584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29" name="GridV935"/>
          <p:cNvCxnSpPr/>
          <p:nvPr/>
        </p:nvCxnSpPr>
        <p:spPr>
          <a:xfrm>
            <a:off x="103629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30" name="GridV936"/>
          <p:cNvCxnSpPr/>
          <p:nvPr/>
        </p:nvCxnSpPr>
        <p:spPr>
          <a:xfrm>
            <a:off x="106678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31" name="GridV937"/>
          <p:cNvCxnSpPr/>
          <p:nvPr/>
        </p:nvCxnSpPr>
        <p:spPr>
          <a:xfrm>
            <a:off x="109728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32" name="GridV938"/>
          <p:cNvCxnSpPr/>
          <p:nvPr/>
        </p:nvCxnSpPr>
        <p:spPr>
          <a:xfrm>
            <a:off x="112773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33" name="GridV939"/>
          <p:cNvCxnSpPr/>
          <p:nvPr/>
        </p:nvCxnSpPr>
        <p:spPr>
          <a:xfrm>
            <a:off x="115822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34" name="GridV940"/>
          <p:cNvCxnSpPr/>
          <p:nvPr/>
        </p:nvCxnSpPr>
        <p:spPr>
          <a:xfrm>
            <a:off x="118872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35" name="GridV941"/>
          <p:cNvCxnSpPr/>
          <p:nvPr/>
        </p:nvCxnSpPr>
        <p:spPr>
          <a:xfrm>
            <a:off x="121917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36" name="GridH942"/>
          <p:cNvCxnSpPr/>
          <p:nvPr/>
        </p:nvCxnSpPr>
        <p:spPr>
          <a:xfrm>
            <a:off x="0" y="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37" name="GridH943"/>
          <p:cNvCxnSpPr/>
          <p:nvPr/>
        </p:nvCxnSpPr>
        <p:spPr>
          <a:xfrm>
            <a:off x="0" y="3045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38" name="GridH944"/>
          <p:cNvCxnSpPr/>
          <p:nvPr/>
        </p:nvCxnSpPr>
        <p:spPr>
          <a:xfrm>
            <a:off x="0" y="60948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39" name="GridH945"/>
          <p:cNvCxnSpPr/>
          <p:nvPr/>
        </p:nvCxnSpPr>
        <p:spPr>
          <a:xfrm>
            <a:off x="0" y="91440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40" name="GridH946"/>
          <p:cNvCxnSpPr/>
          <p:nvPr/>
        </p:nvCxnSpPr>
        <p:spPr>
          <a:xfrm>
            <a:off x="0" y="12189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41" name="GridH947"/>
          <p:cNvCxnSpPr/>
          <p:nvPr/>
        </p:nvCxnSpPr>
        <p:spPr>
          <a:xfrm>
            <a:off x="0" y="152388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42" name="GridH948"/>
          <p:cNvCxnSpPr/>
          <p:nvPr/>
        </p:nvCxnSpPr>
        <p:spPr>
          <a:xfrm>
            <a:off x="0" y="182880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43" name="GridH949"/>
          <p:cNvCxnSpPr/>
          <p:nvPr/>
        </p:nvCxnSpPr>
        <p:spPr>
          <a:xfrm>
            <a:off x="0" y="21333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44" name="GridH950"/>
          <p:cNvCxnSpPr/>
          <p:nvPr/>
        </p:nvCxnSpPr>
        <p:spPr>
          <a:xfrm>
            <a:off x="0" y="243828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45" name="GridH951"/>
          <p:cNvCxnSpPr/>
          <p:nvPr/>
        </p:nvCxnSpPr>
        <p:spPr>
          <a:xfrm>
            <a:off x="0" y="274320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46" name="GridH952"/>
          <p:cNvCxnSpPr/>
          <p:nvPr/>
        </p:nvCxnSpPr>
        <p:spPr>
          <a:xfrm>
            <a:off x="0" y="30477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47" name="GridH953"/>
          <p:cNvCxnSpPr/>
          <p:nvPr/>
        </p:nvCxnSpPr>
        <p:spPr>
          <a:xfrm>
            <a:off x="0" y="335268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48" name="GridH954"/>
          <p:cNvCxnSpPr/>
          <p:nvPr/>
        </p:nvCxnSpPr>
        <p:spPr>
          <a:xfrm>
            <a:off x="0" y="365760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49" name="GridH955"/>
          <p:cNvCxnSpPr/>
          <p:nvPr/>
        </p:nvCxnSpPr>
        <p:spPr>
          <a:xfrm>
            <a:off x="0" y="39621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50" name="GridH956"/>
          <p:cNvCxnSpPr/>
          <p:nvPr/>
        </p:nvCxnSpPr>
        <p:spPr>
          <a:xfrm>
            <a:off x="0" y="426708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51" name="GridH957"/>
          <p:cNvCxnSpPr/>
          <p:nvPr/>
        </p:nvCxnSpPr>
        <p:spPr>
          <a:xfrm>
            <a:off x="0" y="457200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52" name="GridH958"/>
          <p:cNvCxnSpPr/>
          <p:nvPr/>
        </p:nvCxnSpPr>
        <p:spPr>
          <a:xfrm>
            <a:off x="0" y="48765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53" name="GridH959"/>
          <p:cNvCxnSpPr/>
          <p:nvPr/>
        </p:nvCxnSpPr>
        <p:spPr>
          <a:xfrm>
            <a:off x="0" y="518148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54" name="GridH960"/>
          <p:cNvCxnSpPr/>
          <p:nvPr/>
        </p:nvCxnSpPr>
        <p:spPr>
          <a:xfrm>
            <a:off x="0" y="548640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55" name="GridH961"/>
          <p:cNvCxnSpPr/>
          <p:nvPr/>
        </p:nvCxnSpPr>
        <p:spPr>
          <a:xfrm>
            <a:off x="0" y="57909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56" name="GridH962"/>
          <p:cNvCxnSpPr/>
          <p:nvPr/>
        </p:nvCxnSpPr>
        <p:spPr>
          <a:xfrm>
            <a:off x="0" y="609588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57" name="GridH963"/>
          <p:cNvCxnSpPr/>
          <p:nvPr/>
        </p:nvCxnSpPr>
        <p:spPr>
          <a:xfrm>
            <a:off x="0" y="640080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58" name="GridH964"/>
          <p:cNvCxnSpPr/>
          <p:nvPr/>
        </p:nvCxnSpPr>
        <p:spPr>
          <a:xfrm>
            <a:off x="0" y="67053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sp>
        <p:nvSpPr>
          <p:cNvPr id="759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6000" cy="1139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Master title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60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4880" cy="4522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61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4880" cy="4522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62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0120" cy="361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3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1880" cy="361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4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0120" cy="361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8D4EECBF-1AFA-480F-89A3-440A77DB803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Relationship Id="rId11" Type="http://schemas.openxmlformats.org/officeDocument/2006/relationships/image" Target="../media/image11.png"/><Relationship Id="rId12" Type="http://schemas.openxmlformats.org/officeDocument/2006/relationships/image" Target="../media/image12.png"/><Relationship Id="rId13" Type="http://schemas.openxmlformats.org/officeDocument/2006/relationships/slideLayout" Target="../slideLayouts/slideLayout3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image" Target="../media/image14.png"/><Relationship Id="rId3" Type="http://schemas.openxmlformats.org/officeDocument/2006/relationships/slideLayout" Target="../slideLayouts/slideLayout3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slideLayout" Target="../slideLayouts/slideLayout3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slideLayout" Target="../slideLayouts/slideLayout3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5" name="Rectangle 1"/>
          <p:cNvSpPr/>
          <p:nvPr/>
        </p:nvSpPr>
        <p:spPr>
          <a:xfrm>
            <a:off x="0" y="0"/>
            <a:ext cx="12188520" cy="6854400"/>
          </a:xfrm>
          <a:prstGeom prst="rect">
            <a:avLst/>
          </a:prstGeom>
          <a:solidFill>
            <a:srgbClr val="0A0E1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cxnSp>
        <p:nvCxnSpPr>
          <p:cNvPr id="766" name="GridV901"/>
          <p:cNvCxnSpPr/>
          <p:nvPr/>
        </p:nvCxnSpPr>
        <p:spPr>
          <a:xfrm>
            <a:off x="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67" name="GridV902"/>
          <p:cNvCxnSpPr/>
          <p:nvPr/>
        </p:nvCxnSpPr>
        <p:spPr>
          <a:xfrm>
            <a:off x="3045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68" name="GridV903"/>
          <p:cNvCxnSpPr/>
          <p:nvPr/>
        </p:nvCxnSpPr>
        <p:spPr>
          <a:xfrm>
            <a:off x="6094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69" name="GridV904"/>
          <p:cNvCxnSpPr/>
          <p:nvPr/>
        </p:nvCxnSpPr>
        <p:spPr>
          <a:xfrm>
            <a:off x="9144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70" name="GridV905"/>
          <p:cNvCxnSpPr/>
          <p:nvPr/>
        </p:nvCxnSpPr>
        <p:spPr>
          <a:xfrm>
            <a:off x="12189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71" name="GridV906"/>
          <p:cNvCxnSpPr/>
          <p:nvPr/>
        </p:nvCxnSpPr>
        <p:spPr>
          <a:xfrm>
            <a:off x="15238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72" name="GridV907"/>
          <p:cNvCxnSpPr/>
          <p:nvPr/>
        </p:nvCxnSpPr>
        <p:spPr>
          <a:xfrm>
            <a:off x="18288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73" name="GridV908"/>
          <p:cNvCxnSpPr/>
          <p:nvPr/>
        </p:nvCxnSpPr>
        <p:spPr>
          <a:xfrm>
            <a:off x="21333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74" name="GridV909"/>
          <p:cNvCxnSpPr/>
          <p:nvPr/>
        </p:nvCxnSpPr>
        <p:spPr>
          <a:xfrm>
            <a:off x="24382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75" name="GridV910"/>
          <p:cNvCxnSpPr/>
          <p:nvPr/>
        </p:nvCxnSpPr>
        <p:spPr>
          <a:xfrm>
            <a:off x="27432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76" name="GridV911"/>
          <p:cNvCxnSpPr/>
          <p:nvPr/>
        </p:nvCxnSpPr>
        <p:spPr>
          <a:xfrm>
            <a:off x="30477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77" name="GridV912"/>
          <p:cNvCxnSpPr/>
          <p:nvPr/>
        </p:nvCxnSpPr>
        <p:spPr>
          <a:xfrm>
            <a:off x="33526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78" name="GridV913"/>
          <p:cNvCxnSpPr/>
          <p:nvPr/>
        </p:nvCxnSpPr>
        <p:spPr>
          <a:xfrm>
            <a:off x="36576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79" name="GridV914"/>
          <p:cNvCxnSpPr/>
          <p:nvPr/>
        </p:nvCxnSpPr>
        <p:spPr>
          <a:xfrm>
            <a:off x="39621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80" name="GridV915"/>
          <p:cNvCxnSpPr/>
          <p:nvPr/>
        </p:nvCxnSpPr>
        <p:spPr>
          <a:xfrm>
            <a:off x="42670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81" name="GridV916"/>
          <p:cNvCxnSpPr/>
          <p:nvPr/>
        </p:nvCxnSpPr>
        <p:spPr>
          <a:xfrm>
            <a:off x="45720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82" name="GridV917"/>
          <p:cNvCxnSpPr/>
          <p:nvPr/>
        </p:nvCxnSpPr>
        <p:spPr>
          <a:xfrm>
            <a:off x="48765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83" name="GridV918"/>
          <p:cNvCxnSpPr/>
          <p:nvPr/>
        </p:nvCxnSpPr>
        <p:spPr>
          <a:xfrm>
            <a:off x="51814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84" name="GridV919"/>
          <p:cNvCxnSpPr/>
          <p:nvPr/>
        </p:nvCxnSpPr>
        <p:spPr>
          <a:xfrm>
            <a:off x="54864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85" name="GridV920"/>
          <p:cNvCxnSpPr/>
          <p:nvPr/>
        </p:nvCxnSpPr>
        <p:spPr>
          <a:xfrm>
            <a:off x="57909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86" name="GridV921"/>
          <p:cNvCxnSpPr/>
          <p:nvPr/>
        </p:nvCxnSpPr>
        <p:spPr>
          <a:xfrm>
            <a:off x="60958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87" name="GridV922"/>
          <p:cNvCxnSpPr/>
          <p:nvPr/>
        </p:nvCxnSpPr>
        <p:spPr>
          <a:xfrm>
            <a:off x="64008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88" name="GridV923"/>
          <p:cNvCxnSpPr/>
          <p:nvPr/>
        </p:nvCxnSpPr>
        <p:spPr>
          <a:xfrm>
            <a:off x="67053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89" name="GridV924"/>
          <p:cNvCxnSpPr/>
          <p:nvPr/>
        </p:nvCxnSpPr>
        <p:spPr>
          <a:xfrm>
            <a:off x="70102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90" name="GridV925"/>
          <p:cNvCxnSpPr/>
          <p:nvPr/>
        </p:nvCxnSpPr>
        <p:spPr>
          <a:xfrm>
            <a:off x="73152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91" name="GridV926"/>
          <p:cNvCxnSpPr/>
          <p:nvPr/>
        </p:nvCxnSpPr>
        <p:spPr>
          <a:xfrm>
            <a:off x="76197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92" name="GridV927"/>
          <p:cNvCxnSpPr/>
          <p:nvPr/>
        </p:nvCxnSpPr>
        <p:spPr>
          <a:xfrm>
            <a:off x="79246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93" name="GridV928"/>
          <p:cNvCxnSpPr/>
          <p:nvPr/>
        </p:nvCxnSpPr>
        <p:spPr>
          <a:xfrm>
            <a:off x="82296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94" name="GridV929"/>
          <p:cNvCxnSpPr/>
          <p:nvPr/>
        </p:nvCxnSpPr>
        <p:spPr>
          <a:xfrm>
            <a:off x="85341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95" name="GridV930"/>
          <p:cNvCxnSpPr/>
          <p:nvPr/>
        </p:nvCxnSpPr>
        <p:spPr>
          <a:xfrm>
            <a:off x="88390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96" name="GridV931"/>
          <p:cNvCxnSpPr/>
          <p:nvPr/>
        </p:nvCxnSpPr>
        <p:spPr>
          <a:xfrm>
            <a:off x="91440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97" name="GridV932"/>
          <p:cNvCxnSpPr/>
          <p:nvPr/>
        </p:nvCxnSpPr>
        <p:spPr>
          <a:xfrm>
            <a:off x="94485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98" name="GridV933"/>
          <p:cNvCxnSpPr/>
          <p:nvPr/>
        </p:nvCxnSpPr>
        <p:spPr>
          <a:xfrm>
            <a:off x="97534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99" name="GridV934"/>
          <p:cNvCxnSpPr/>
          <p:nvPr/>
        </p:nvCxnSpPr>
        <p:spPr>
          <a:xfrm>
            <a:off x="100584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00" name="GridV935"/>
          <p:cNvCxnSpPr/>
          <p:nvPr/>
        </p:nvCxnSpPr>
        <p:spPr>
          <a:xfrm>
            <a:off x="103629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01" name="GridV936"/>
          <p:cNvCxnSpPr/>
          <p:nvPr/>
        </p:nvCxnSpPr>
        <p:spPr>
          <a:xfrm>
            <a:off x="106678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02" name="GridV937"/>
          <p:cNvCxnSpPr/>
          <p:nvPr/>
        </p:nvCxnSpPr>
        <p:spPr>
          <a:xfrm>
            <a:off x="109728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03" name="GridV938"/>
          <p:cNvCxnSpPr/>
          <p:nvPr/>
        </p:nvCxnSpPr>
        <p:spPr>
          <a:xfrm>
            <a:off x="112773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04" name="GridV939"/>
          <p:cNvCxnSpPr/>
          <p:nvPr/>
        </p:nvCxnSpPr>
        <p:spPr>
          <a:xfrm>
            <a:off x="115822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05" name="GridV940"/>
          <p:cNvCxnSpPr/>
          <p:nvPr/>
        </p:nvCxnSpPr>
        <p:spPr>
          <a:xfrm>
            <a:off x="118872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06" name="GridV941"/>
          <p:cNvCxnSpPr/>
          <p:nvPr/>
        </p:nvCxnSpPr>
        <p:spPr>
          <a:xfrm>
            <a:off x="121917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07" name="GridH942"/>
          <p:cNvCxnSpPr/>
          <p:nvPr/>
        </p:nvCxnSpPr>
        <p:spPr>
          <a:xfrm>
            <a:off x="0" y="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08" name="GridH943"/>
          <p:cNvCxnSpPr/>
          <p:nvPr/>
        </p:nvCxnSpPr>
        <p:spPr>
          <a:xfrm>
            <a:off x="0" y="3045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09" name="GridH944"/>
          <p:cNvCxnSpPr/>
          <p:nvPr/>
        </p:nvCxnSpPr>
        <p:spPr>
          <a:xfrm>
            <a:off x="0" y="60948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10" name="GridH945"/>
          <p:cNvCxnSpPr/>
          <p:nvPr/>
        </p:nvCxnSpPr>
        <p:spPr>
          <a:xfrm>
            <a:off x="0" y="91440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11" name="GridH946"/>
          <p:cNvCxnSpPr/>
          <p:nvPr/>
        </p:nvCxnSpPr>
        <p:spPr>
          <a:xfrm>
            <a:off x="0" y="12189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12" name="GridH947"/>
          <p:cNvCxnSpPr/>
          <p:nvPr/>
        </p:nvCxnSpPr>
        <p:spPr>
          <a:xfrm>
            <a:off x="0" y="152388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13" name="GridH948"/>
          <p:cNvCxnSpPr/>
          <p:nvPr/>
        </p:nvCxnSpPr>
        <p:spPr>
          <a:xfrm>
            <a:off x="0" y="182880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14" name="GridH949"/>
          <p:cNvCxnSpPr/>
          <p:nvPr/>
        </p:nvCxnSpPr>
        <p:spPr>
          <a:xfrm>
            <a:off x="0" y="21333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15" name="GridH950"/>
          <p:cNvCxnSpPr/>
          <p:nvPr/>
        </p:nvCxnSpPr>
        <p:spPr>
          <a:xfrm>
            <a:off x="0" y="243828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16" name="GridH951"/>
          <p:cNvCxnSpPr/>
          <p:nvPr/>
        </p:nvCxnSpPr>
        <p:spPr>
          <a:xfrm>
            <a:off x="0" y="274320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17" name="GridH952"/>
          <p:cNvCxnSpPr/>
          <p:nvPr/>
        </p:nvCxnSpPr>
        <p:spPr>
          <a:xfrm>
            <a:off x="0" y="30477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18" name="GridH953"/>
          <p:cNvCxnSpPr/>
          <p:nvPr/>
        </p:nvCxnSpPr>
        <p:spPr>
          <a:xfrm>
            <a:off x="0" y="335268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19" name="GridH954"/>
          <p:cNvCxnSpPr/>
          <p:nvPr/>
        </p:nvCxnSpPr>
        <p:spPr>
          <a:xfrm>
            <a:off x="0" y="365760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20" name="GridH955"/>
          <p:cNvCxnSpPr/>
          <p:nvPr/>
        </p:nvCxnSpPr>
        <p:spPr>
          <a:xfrm>
            <a:off x="0" y="39621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21" name="GridH956"/>
          <p:cNvCxnSpPr/>
          <p:nvPr/>
        </p:nvCxnSpPr>
        <p:spPr>
          <a:xfrm>
            <a:off x="0" y="426708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22" name="GridH957"/>
          <p:cNvCxnSpPr/>
          <p:nvPr/>
        </p:nvCxnSpPr>
        <p:spPr>
          <a:xfrm>
            <a:off x="0" y="457200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23" name="GridH958"/>
          <p:cNvCxnSpPr/>
          <p:nvPr/>
        </p:nvCxnSpPr>
        <p:spPr>
          <a:xfrm>
            <a:off x="0" y="48765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24" name="GridH959"/>
          <p:cNvCxnSpPr/>
          <p:nvPr/>
        </p:nvCxnSpPr>
        <p:spPr>
          <a:xfrm>
            <a:off x="0" y="518148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25" name="GridH960"/>
          <p:cNvCxnSpPr/>
          <p:nvPr/>
        </p:nvCxnSpPr>
        <p:spPr>
          <a:xfrm>
            <a:off x="0" y="548640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26" name="GridH961"/>
          <p:cNvCxnSpPr/>
          <p:nvPr/>
        </p:nvCxnSpPr>
        <p:spPr>
          <a:xfrm>
            <a:off x="0" y="57909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27" name="GridH962"/>
          <p:cNvCxnSpPr/>
          <p:nvPr/>
        </p:nvCxnSpPr>
        <p:spPr>
          <a:xfrm>
            <a:off x="0" y="609588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28" name="GridH963"/>
          <p:cNvCxnSpPr/>
          <p:nvPr/>
        </p:nvCxnSpPr>
        <p:spPr>
          <a:xfrm>
            <a:off x="0" y="640080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29" name="GridH964"/>
          <p:cNvCxnSpPr/>
          <p:nvPr/>
        </p:nvCxnSpPr>
        <p:spPr>
          <a:xfrm>
            <a:off x="0" y="67053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sp>
        <p:nvSpPr>
          <p:cNvPr id="830" name="TextBox 2"/>
          <p:cNvSpPr/>
          <p:nvPr/>
        </p:nvSpPr>
        <p:spPr>
          <a:xfrm>
            <a:off x="502920" y="1737360"/>
            <a:ext cx="7996320" cy="26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pc="201" strike="noStrike">
                <a:solidFill>
                  <a:srgbClr val="818CF8"/>
                </a:solidFill>
                <a:effectLst/>
                <a:uFillTx/>
                <a:latin typeface="Roboto"/>
              </a:rPr>
              <a:t>DAT</a:t>
            </a:r>
            <a:r>
              <a:rPr lang="en-US" sz="1100" b="1" u="none" spc="201" strike="noStrike">
                <a:solidFill>
                  <a:srgbClr val="818CF8"/>
                </a:solidFill>
                <a:effectLst/>
                <a:uFillTx/>
                <a:latin typeface="Roboto"/>
              </a:rPr>
              <a:t>A </a:t>
            </a:r>
            <a:r>
              <a:rPr lang="en-US" sz="1100" b="1" u="none" spc="201" strike="noStrike">
                <a:solidFill>
                  <a:srgbClr val="818CF8"/>
                </a:solidFill>
                <a:effectLst/>
                <a:uFillTx/>
                <a:latin typeface="Roboto"/>
              </a:rPr>
              <a:t>ANA</a:t>
            </a:r>
            <a:r>
              <a:rPr lang="en-US" sz="1100" b="1" u="none" spc="201" strike="noStrike">
                <a:solidFill>
                  <a:srgbClr val="818CF8"/>
                </a:solidFill>
                <a:effectLst/>
                <a:uFillTx/>
                <a:latin typeface="Roboto"/>
              </a:rPr>
              <a:t>LYS</a:t>
            </a:r>
            <a:r>
              <a:rPr lang="en-US" sz="1100" b="1" u="none" spc="201" strike="noStrike">
                <a:solidFill>
                  <a:srgbClr val="818CF8"/>
                </a:solidFill>
                <a:effectLst/>
                <a:uFillTx/>
                <a:latin typeface="Roboto"/>
              </a:rPr>
              <a:t>T </a:t>
            </a:r>
            <a:r>
              <a:rPr lang="en-US" sz="1100" b="1" u="none" spc="201" strike="noStrike">
                <a:solidFill>
                  <a:srgbClr val="818CF8"/>
                </a:solidFill>
                <a:effectLst/>
                <a:uFillTx/>
                <a:latin typeface="Roboto"/>
              </a:rPr>
              <a:t>CAP</a:t>
            </a:r>
            <a:r>
              <a:rPr lang="en-US" sz="1100" b="1" u="none" spc="201" strike="noStrike">
                <a:solidFill>
                  <a:srgbClr val="818CF8"/>
                </a:solidFill>
                <a:effectLst/>
                <a:uFillTx/>
                <a:latin typeface="Roboto"/>
              </a:rPr>
              <a:t>STO</a:t>
            </a:r>
            <a:r>
              <a:rPr lang="en-US" sz="1100" b="1" u="none" spc="201" strike="noStrike">
                <a:solidFill>
                  <a:srgbClr val="818CF8"/>
                </a:solidFill>
                <a:effectLst/>
                <a:uFillTx/>
                <a:latin typeface="Roboto"/>
              </a:rPr>
              <a:t>NE </a:t>
            </a:r>
            <a:r>
              <a:rPr lang="en-US" sz="1100" b="1" u="none" spc="201" strike="noStrike">
                <a:solidFill>
                  <a:srgbClr val="818CF8"/>
                </a:solidFill>
                <a:effectLst/>
                <a:uFillTx/>
                <a:latin typeface="Roboto"/>
              </a:rPr>
              <a:t>PRO</a:t>
            </a:r>
            <a:r>
              <a:rPr lang="en-US" sz="1100" b="1" u="none" spc="201" strike="noStrike">
                <a:solidFill>
                  <a:srgbClr val="818CF8"/>
                </a:solidFill>
                <a:effectLst/>
                <a:uFillTx/>
                <a:latin typeface="Roboto"/>
              </a:rPr>
              <a:t>JEC</a:t>
            </a:r>
            <a:r>
              <a:rPr lang="en-US" sz="1100" b="1" u="none" spc="201" strike="noStrike">
                <a:solidFill>
                  <a:srgbClr val="818CF8"/>
                </a:solidFill>
                <a:effectLst/>
                <a:uFillTx/>
                <a:latin typeface="Roboto"/>
              </a:rPr>
              <a:t>T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1" name="TextBox 3"/>
          <p:cNvSpPr/>
          <p:nvPr/>
        </p:nvSpPr>
        <p:spPr>
          <a:xfrm>
            <a:off x="502920" y="2085480"/>
            <a:ext cx="11182680" cy="12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5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N</a:t>
            </a: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e</a:t>
            </a: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xt</a:t>
            </a: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-</a:t>
            </a: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D</a:t>
            </a: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a</a:t>
            </a: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y </a:t>
            </a: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S</a:t>
            </a: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ol</a:t>
            </a: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a</a:t>
            </a: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r </a:t>
            </a: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R</a:t>
            </a: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a</a:t>
            </a: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di</a:t>
            </a: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at</a:t>
            </a: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io</a:t>
            </a: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n </a:t>
            </a: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F</a:t>
            </a: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o</a:t>
            </a: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r</a:t>
            </a: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e</a:t>
            </a: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c</a:t>
            </a: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a</a:t>
            </a: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st</a:t>
            </a: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in</a:t>
            </a: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g </a:t>
            </a: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a</a:t>
            </a: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s </a:t>
            </a: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a </a:t>
            </a: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P</a:t>
            </a: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r</a:t>
            </a: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o</a:t>
            </a: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x</a:t>
            </a: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y </a:t>
            </a: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f</a:t>
            </a: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o</a:t>
            </a: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r </a:t>
            </a: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S</a:t>
            </a: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ol</a:t>
            </a: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a</a:t>
            </a: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r </a:t>
            </a: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P</a:t>
            </a: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r</a:t>
            </a: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o</a:t>
            </a: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d</a:t>
            </a: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u</a:t>
            </a: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ct</a:t>
            </a: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io</a:t>
            </a: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n </a:t>
            </a: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w</a:t>
            </a: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it</a:t>
            </a: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h </a:t>
            </a: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M</a:t>
            </a: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a</a:t>
            </a: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c</a:t>
            </a: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hi</a:t>
            </a: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n</a:t>
            </a: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e </a:t>
            </a: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L</a:t>
            </a: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e</a:t>
            </a: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a</a:t>
            </a: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r</a:t>
            </a: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ni</a:t>
            </a: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n</a:t>
            </a: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g</a:t>
            </a:r>
            <a:endParaRPr lang="fr-FR" sz="3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2" name="TextBox 4"/>
          <p:cNvSpPr/>
          <p:nvPr/>
        </p:nvSpPr>
        <p:spPr>
          <a:xfrm>
            <a:off x="502920" y="3449880"/>
            <a:ext cx="9496440" cy="49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20000"/>
              </a:lnSpc>
            </a:pPr>
            <a:r>
              <a:rPr lang="en-US" sz="14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From weather signal to next-day forecast: modeling, temporal validation, and deployment on a Streamlit dashboard.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3" name="Rounded Rectangle 5"/>
          <p:cNvSpPr/>
          <p:nvPr/>
        </p:nvSpPr>
        <p:spPr>
          <a:xfrm>
            <a:off x="502920" y="4267080"/>
            <a:ext cx="3603240" cy="1146240"/>
          </a:xfrm>
          <a:prstGeom prst="roundRect">
            <a:avLst>
              <a:gd name="adj" fmla="val 6000"/>
            </a:avLst>
          </a:prstGeom>
          <a:solidFill>
            <a:srgbClr val="2636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34" name="TextBox 6"/>
          <p:cNvSpPr/>
          <p:nvPr/>
        </p:nvSpPr>
        <p:spPr>
          <a:xfrm>
            <a:off x="731520" y="4405320"/>
            <a:ext cx="31460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818CF8"/>
                </a:solidFill>
                <a:effectLst/>
                <a:uFillTx/>
                <a:latin typeface="Roboto"/>
              </a:rPr>
              <a:t>2</a:t>
            </a:r>
            <a:r>
              <a:rPr lang="en-US" sz="3000" b="1" u="none" strike="noStrike">
                <a:solidFill>
                  <a:srgbClr val="818CF8"/>
                </a:solidFill>
                <a:effectLst/>
                <a:uFillTx/>
                <a:latin typeface="Roboto"/>
              </a:rPr>
              <a:t>6,</a:t>
            </a:r>
            <a:r>
              <a:rPr lang="en-US" sz="3000" b="1" u="none" strike="noStrike">
                <a:solidFill>
                  <a:srgbClr val="818CF8"/>
                </a:solidFill>
                <a:effectLst/>
                <a:uFillTx/>
                <a:latin typeface="Roboto"/>
              </a:rPr>
              <a:t>6</a:t>
            </a:r>
            <a:r>
              <a:rPr lang="en-US" sz="3000" b="1" u="none" strike="noStrike">
                <a:solidFill>
                  <a:srgbClr val="818CF8"/>
                </a:solidFill>
                <a:effectLst/>
                <a:uFillTx/>
                <a:latin typeface="Roboto"/>
              </a:rPr>
              <a:t>7</a:t>
            </a:r>
            <a:r>
              <a:rPr lang="en-US" sz="3000" b="1" u="none" strike="noStrike">
                <a:solidFill>
                  <a:srgbClr val="818CF8"/>
                </a:solidFill>
                <a:effectLst/>
                <a:uFillTx/>
                <a:latin typeface="Roboto"/>
              </a:rPr>
              <a:t>6</a:t>
            </a:r>
            <a:endParaRPr lang="fr-F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5" name="TextBox 7"/>
          <p:cNvSpPr/>
          <p:nvPr/>
        </p:nvSpPr>
        <p:spPr>
          <a:xfrm>
            <a:off x="731520" y="4888080"/>
            <a:ext cx="314604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daily observations, 2020 to 2026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6" name="Rounded Rectangle 8"/>
          <p:cNvSpPr/>
          <p:nvPr/>
        </p:nvSpPr>
        <p:spPr>
          <a:xfrm>
            <a:off x="4292640" y="4267080"/>
            <a:ext cx="3603240" cy="1146240"/>
          </a:xfrm>
          <a:prstGeom prst="roundRect">
            <a:avLst>
              <a:gd name="adj" fmla="val 6000"/>
            </a:avLst>
          </a:prstGeom>
          <a:solidFill>
            <a:srgbClr val="2636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37" name="TextBox 9"/>
          <p:cNvSpPr/>
          <p:nvPr/>
        </p:nvSpPr>
        <p:spPr>
          <a:xfrm>
            <a:off x="4521240" y="4405320"/>
            <a:ext cx="31460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818CF8"/>
                </a:solidFill>
                <a:effectLst/>
                <a:uFillTx/>
                <a:latin typeface="Roboto"/>
              </a:rPr>
              <a:t>12</a:t>
            </a:r>
            <a:endParaRPr lang="fr-F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8" name="TextBox 10"/>
          <p:cNvSpPr/>
          <p:nvPr/>
        </p:nvSpPr>
        <p:spPr>
          <a:xfrm>
            <a:off x="4521240" y="4888080"/>
            <a:ext cx="314604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Frenc</a:t>
            </a:r>
            <a:r>
              <a:rPr lang="en-US" sz="11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h </a:t>
            </a:r>
            <a:r>
              <a:rPr lang="en-US" sz="11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region</a:t>
            </a:r>
            <a:r>
              <a:rPr lang="en-US" sz="11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s </a:t>
            </a:r>
            <a:r>
              <a:rPr lang="en-US" sz="11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cover</a:t>
            </a:r>
            <a:r>
              <a:rPr lang="en-US" sz="11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ed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9" name="Rounded Rectangle 11"/>
          <p:cNvSpPr/>
          <p:nvPr/>
        </p:nvSpPr>
        <p:spPr>
          <a:xfrm>
            <a:off x="8082360" y="4267080"/>
            <a:ext cx="3603240" cy="1146240"/>
          </a:xfrm>
          <a:prstGeom prst="roundRect">
            <a:avLst>
              <a:gd name="adj" fmla="val 6000"/>
            </a:avLst>
          </a:prstGeom>
          <a:solidFill>
            <a:srgbClr val="2636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40" name="TextBox 12"/>
          <p:cNvSpPr/>
          <p:nvPr/>
        </p:nvSpPr>
        <p:spPr>
          <a:xfrm>
            <a:off x="8310960" y="4405320"/>
            <a:ext cx="31460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818CF8"/>
                </a:solidFill>
                <a:effectLst/>
                <a:uFillTx/>
                <a:latin typeface="Roboto"/>
              </a:rPr>
              <a:t>36</a:t>
            </a:r>
            <a:endParaRPr lang="fr-F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1" name="TextBox 13"/>
          <p:cNvSpPr/>
          <p:nvPr/>
        </p:nvSpPr>
        <p:spPr>
          <a:xfrm>
            <a:off x="8310960" y="4888080"/>
            <a:ext cx="3146040" cy="16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Input </a:t>
            </a:r>
            <a:r>
              <a:rPr lang="en-US" sz="11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featur</a:t>
            </a:r>
            <a:r>
              <a:rPr lang="en-US" sz="11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es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842" name="Connector 14"/>
          <p:cNvCxnSpPr/>
          <p:nvPr/>
        </p:nvCxnSpPr>
        <p:spPr>
          <a:xfrm>
            <a:off x="548640" y="5943600"/>
            <a:ext cx="10976400" cy="3600"/>
          </a:xfrm>
          <a:prstGeom prst="straightConnector1">
            <a:avLst/>
          </a:prstGeom>
          <a:ln w="9525">
            <a:solidFill>
              <a:srgbClr val="3D4B72"/>
            </a:solidFill>
            <a:round/>
          </a:ln>
        </p:spPr>
      </p:cxnSp>
      <p:sp>
        <p:nvSpPr>
          <p:cNvPr id="843" name="TextBox 15"/>
          <p:cNvSpPr/>
          <p:nvPr/>
        </p:nvSpPr>
        <p:spPr>
          <a:xfrm>
            <a:off x="457200" y="6172200"/>
            <a:ext cx="8224920" cy="26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Solar Production Forecasting · Machine Learning · Streamlit Dashboard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4" name="TextBox 16"/>
          <p:cNvSpPr/>
          <p:nvPr/>
        </p:nvSpPr>
        <p:spPr>
          <a:xfrm>
            <a:off x="11274480" y="6172200"/>
            <a:ext cx="452520" cy="26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01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5" name="Rectangle 1"/>
          <p:cNvSpPr/>
          <p:nvPr/>
        </p:nvSpPr>
        <p:spPr>
          <a:xfrm>
            <a:off x="0" y="0"/>
            <a:ext cx="12188520" cy="6854400"/>
          </a:xfrm>
          <a:prstGeom prst="rect">
            <a:avLst/>
          </a:prstGeom>
          <a:solidFill>
            <a:srgbClr val="0A0E1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cxnSp>
        <p:nvCxnSpPr>
          <p:cNvPr id="846" name="GridV901"/>
          <p:cNvCxnSpPr/>
          <p:nvPr/>
        </p:nvCxnSpPr>
        <p:spPr>
          <a:xfrm>
            <a:off x="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47" name="GridV902"/>
          <p:cNvCxnSpPr/>
          <p:nvPr/>
        </p:nvCxnSpPr>
        <p:spPr>
          <a:xfrm>
            <a:off x="3045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48" name="GridV903"/>
          <p:cNvCxnSpPr/>
          <p:nvPr/>
        </p:nvCxnSpPr>
        <p:spPr>
          <a:xfrm>
            <a:off x="6094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49" name="GridV904"/>
          <p:cNvCxnSpPr/>
          <p:nvPr/>
        </p:nvCxnSpPr>
        <p:spPr>
          <a:xfrm>
            <a:off x="9144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50" name="GridV905"/>
          <p:cNvCxnSpPr/>
          <p:nvPr/>
        </p:nvCxnSpPr>
        <p:spPr>
          <a:xfrm>
            <a:off x="12189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51" name="GridV906"/>
          <p:cNvCxnSpPr/>
          <p:nvPr/>
        </p:nvCxnSpPr>
        <p:spPr>
          <a:xfrm>
            <a:off x="15238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52" name="GridV907"/>
          <p:cNvCxnSpPr/>
          <p:nvPr/>
        </p:nvCxnSpPr>
        <p:spPr>
          <a:xfrm>
            <a:off x="18288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53" name="GridV908"/>
          <p:cNvCxnSpPr/>
          <p:nvPr/>
        </p:nvCxnSpPr>
        <p:spPr>
          <a:xfrm>
            <a:off x="21333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54" name="GridV909"/>
          <p:cNvCxnSpPr/>
          <p:nvPr/>
        </p:nvCxnSpPr>
        <p:spPr>
          <a:xfrm>
            <a:off x="24382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55" name="GridV910"/>
          <p:cNvCxnSpPr/>
          <p:nvPr/>
        </p:nvCxnSpPr>
        <p:spPr>
          <a:xfrm>
            <a:off x="27432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56" name="GridV911"/>
          <p:cNvCxnSpPr/>
          <p:nvPr/>
        </p:nvCxnSpPr>
        <p:spPr>
          <a:xfrm>
            <a:off x="30477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57" name="GridV912"/>
          <p:cNvCxnSpPr/>
          <p:nvPr/>
        </p:nvCxnSpPr>
        <p:spPr>
          <a:xfrm>
            <a:off x="33526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58" name="GridV913"/>
          <p:cNvCxnSpPr/>
          <p:nvPr/>
        </p:nvCxnSpPr>
        <p:spPr>
          <a:xfrm>
            <a:off x="36576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59" name="GridV914"/>
          <p:cNvCxnSpPr/>
          <p:nvPr/>
        </p:nvCxnSpPr>
        <p:spPr>
          <a:xfrm>
            <a:off x="39621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60" name="GridV915"/>
          <p:cNvCxnSpPr/>
          <p:nvPr/>
        </p:nvCxnSpPr>
        <p:spPr>
          <a:xfrm>
            <a:off x="42670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61" name="GridV916"/>
          <p:cNvCxnSpPr/>
          <p:nvPr/>
        </p:nvCxnSpPr>
        <p:spPr>
          <a:xfrm>
            <a:off x="45720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62" name="GridV917"/>
          <p:cNvCxnSpPr/>
          <p:nvPr/>
        </p:nvCxnSpPr>
        <p:spPr>
          <a:xfrm>
            <a:off x="48765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63" name="GridV918"/>
          <p:cNvCxnSpPr/>
          <p:nvPr/>
        </p:nvCxnSpPr>
        <p:spPr>
          <a:xfrm>
            <a:off x="51814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64" name="GridV919"/>
          <p:cNvCxnSpPr/>
          <p:nvPr/>
        </p:nvCxnSpPr>
        <p:spPr>
          <a:xfrm>
            <a:off x="54864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65" name="GridV920"/>
          <p:cNvCxnSpPr/>
          <p:nvPr/>
        </p:nvCxnSpPr>
        <p:spPr>
          <a:xfrm>
            <a:off x="57909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66" name="GridV921"/>
          <p:cNvCxnSpPr/>
          <p:nvPr/>
        </p:nvCxnSpPr>
        <p:spPr>
          <a:xfrm>
            <a:off x="60958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67" name="GridV922"/>
          <p:cNvCxnSpPr/>
          <p:nvPr/>
        </p:nvCxnSpPr>
        <p:spPr>
          <a:xfrm>
            <a:off x="64008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68" name="GridV923"/>
          <p:cNvCxnSpPr/>
          <p:nvPr/>
        </p:nvCxnSpPr>
        <p:spPr>
          <a:xfrm>
            <a:off x="67053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69" name="GridV924"/>
          <p:cNvCxnSpPr/>
          <p:nvPr/>
        </p:nvCxnSpPr>
        <p:spPr>
          <a:xfrm>
            <a:off x="70102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70" name="GridV925"/>
          <p:cNvCxnSpPr/>
          <p:nvPr/>
        </p:nvCxnSpPr>
        <p:spPr>
          <a:xfrm>
            <a:off x="73152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71" name="GridV926"/>
          <p:cNvCxnSpPr/>
          <p:nvPr/>
        </p:nvCxnSpPr>
        <p:spPr>
          <a:xfrm>
            <a:off x="76197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72" name="GridV927"/>
          <p:cNvCxnSpPr/>
          <p:nvPr/>
        </p:nvCxnSpPr>
        <p:spPr>
          <a:xfrm>
            <a:off x="79246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73" name="GridV928"/>
          <p:cNvCxnSpPr/>
          <p:nvPr/>
        </p:nvCxnSpPr>
        <p:spPr>
          <a:xfrm>
            <a:off x="82296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74" name="GridV929"/>
          <p:cNvCxnSpPr/>
          <p:nvPr/>
        </p:nvCxnSpPr>
        <p:spPr>
          <a:xfrm>
            <a:off x="85341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75" name="GridV930"/>
          <p:cNvCxnSpPr/>
          <p:nvPr/>
        </p:nvCxnSpPr>
        <p:spPr>
          <a:xfrm>
            <a:off x="88390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76" name="GridV931"/>
          <p:cNvCxnSpPr/>
          <p:nvPr/>
        </p:nvCxnSpPr>
        <p:spPr>
          <a:xfrm>
            <a:off x="91440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77" name="GridV932"/>
          <p:cNvCxnSpPr/>
          <p:nvPr/>
        </p:nvCxnSpPr>
        <p:spPr>
          <a:xfrm>
            <a:off x="94485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78" name="GridV933"/>
          <p:cNvCxnSpPr/>
          <p:nvPr/>
        </p:nvCxnSpPr>
        <p:spPr>
          <a:xfrm>
            <a:off x="97534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79" name="GridV934"/>
          <p:cNvCxnSpPr/>
          <p:nvPr/>
        </p:nvCxnSpPr>
        <p:spPr>
          <a:xfrm>
            <a:off x="100584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80" name="GridV935"/>
          <p:cNvCxnSpPr/>
          <p:nvPr/>
        </p:nvCxnSpPr>
        <p:spPr>
          <a:xfrm>
            <a:off x="103629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81" name="GridV936"/>
          <p:cNvCxnSpPr/>
          <p:nvPr/>
        </p:nvCxnSpPr>
        <p:spPr>
          <a:xfrm>
            <a:off x="106678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82" name="GridV937"/>
          <p:cNvCxnSpPr/>
          <p:nvPr/>
        </p:nvCxnSpPr>
        <p:spPr>
          <a:xfrm>
            <a:off x="109728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83" name="GridV938"/>
          <p:cNvCxnSpPr/>
          <p:nvPr/>
        </p:nvCxnSpPr>
        <p:spPr>
          <a:xfrm>
            <a:off x="112773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84" name="GridV939"/>
          <p:cNvCxnSpPr/>
          <p:nvPr/>
        </p:nvCxnSpPr>
        <p:spPr>
          <a:xfrm>
            <a:off x="115822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85" name="GridV940"/>
          <p:cNvCxnSpPr/>
          <p:nvPr/>
        </p:nvCxnSpPr>
        <p:spPr>
          <a:xfrm>
            <a:off x="118872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86" name="GridV941"/>
          <p:cNvCxnSpPr/>
          <p:nvPr/>
        </p:nvCxnSpPr>
        <p:spPr>
          <a:xfrm>
            <a:off x="121917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87" name="GridH942"/>
          <p:cNvCxnSpPr/>
          <p:nvPr/>
        </p:nvCxnSpPr>
        <p:spPr>
          <a:xfrm>
            <a:off x="0" y="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88" name="GridH943"/>
          <p:cNvCxnSpPr/>
          <p:nvPr/>
        </p:nvCxnSpPr>
        <p:spPr>
          <a:xfrm>
            <a:off x="0" y="3045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89" name="GridH944"/>
          <p:cNvCxnSpPr/>
          <p:nvPr/>
        </p:nvCxnSpPr>
        <p:spPr>
          <a:xfrm>
            <a:off x="0" y="60948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90" name="GridH945"/>
          <p:cNvCxnSpPr/>
          <p:nvPr/>
        </p:nvCxnSpPr>
        <p:spPr>
          <a:xfrm>
            <a:off x="0" y="91440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91" name="GridH946"/>
          <p:cNvCxnSpPr/>
          <p:nvPr/>
        </p:nvCxnSpPr>
        <p:spPr>
          <a:xfrm>
            <a:off x="0" y="12189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92" name="GridH947"/>
          <p:cNvCxnSpPr/>
          <p:nvPr/>
        </p:nvCxnSpPr>
        <p:spPr>
          <a:xfrm>
            <a:off x="0" y="152388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93" name="GridH948"/>
          <p:cNvCxnSpPr/>
          <p:nvPr/>
        </p:nvCxnSpPr>
        <p:spPr>
          <a:xfrm>
            <a:off x="0" y="182880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94" name="GridH949"/>
          <p:cNvCxnSpPr/>
          <p:nvPr/>
        </p:nvCxnSpPr>
        <p:spPr>
          <a:xfrm>
            <a:off x="0" y="21333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95" name="GridH950"/>
          <p:cNvCxnSpPr/>
          <p:nvPr/>
        </p:nvCxnSpPr>
        <p:spPr>
          <a:xfrm>
            <a:off x="0" y="243828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96" name="GridH951"/>
          <p:cNvCxnSpPr/>
          <p:nvPr/>
        </p:nvCxnSpPr>
        <p:spPr>
          <a:xfrm>
            <a:off x="0" y="274320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97" name="GridH952"/>
          <p:cNvCxnSpPr/>
          <p:nvPr/>
        </p:nvCxnSpPr>
        <p:spPr>
          <a:xfrm>
            <a:off x="0" y="30477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98" name="GridH953"/>
          <p:cNvCxnSpPr/>
          <p:nvPr/>
        </p:nvCxnSpPr>
        <p:spPr>
          <a:xfrm>
            <a:off x="0" y="335268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99" name="GridH954"/>
          <p:cNvCxnSpPr/>
          <p:nvPr/>
        </p:nvCxnSpPr>
        <p:spPr>
          <a:xfrm>
            <a:off x="0" y="365760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00" name="GridH955"/>
          <p:cNvCxnSpPr/>
          <p:nvPr/>
        </p:nvCxnSpPr>
        <p:spPr>
          <a:xfrm>
            <a:off x="0" y="39621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01" name="GridH956"/>
          <p:cNvCxnSpPr/>
          <p:nvPr/>
        </p:nvCxnSpPr>
        <p:spPr>
          <a:xfrm>
            <a:off x="0" y="426708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02" name="GridH957"/>
          <p:cNvCxnSpPr/>
          <p:nvPr/>
        </p:nvCxnSpPr>
        <p:spPr>
          <a:xfrm>
            <a:off x="0" y="457200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03" name="GridH958"/>
          <p:cNvCxnSpPr/>
          <p:nvPr/>
        </p:nvCxnSpPr>
        <p:spPr>
          <a:xfrm>
            <a:off x="0" y="48765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04" name="GridH959"/>
          <p:cNvCxnSpPr/>
          <p:nvPr/>
        </p:nvCxnSpPr>
        <p:spPr>
          <a:xfrm>
            <a:off x="0" y="518148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05" name="GridH960"/>
          <p:cNvCxnSpPr/>
          <p:nvPr/>
        </p:nvCxnSpPr>
        <p:spPr>
          <a:xfrm>
            <a:off x="0" y="548640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06" name="GridH961"/>
          <p:cNvCxnSpPr/>
          <p:nvPr/>
        </p:nvCxnSpPr>
        <p:spPr>
          <a:xfrm>
            <a:off x="0" y="57909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07" name="GridH962"/>
          <p:cNvCxnSpPr/>
          <p:nvPr/>
        </p:nvCxnSpPr>
        <p:spPr>
          <a:xfrm>
            <a:off x="0" y="609588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08" name="GridH963"/>
          <p:cNvCxnSpPr/>
          <p:nvPr/>
        </p:nvCxnSpPr>
        <p:spPr>
          <a:xfrm>
            <a:off x="0" y="640080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09" name="GridH964"/>
          <p:cNvCxnSpPr/>
          <p:nvPr/>
        </p:nvCxnSpPr>
        <p:spPr>
          <a:xfrm>
            <a:off x="0" y="67053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sp>
        <p:nvSpPr>
          <p:cNvPr id="910" name="TextBox 2"/>
          <p:cNvSpPr/>
          <p:nvPr/>
        </p:nvSpPr>
        <p:spPr>
          <a:xfrm>
            <a:off x="502920" y="411480"/>
            <a:ext cx="7996320" cy="26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pc="201" strike="noStrike">
                <a:solidFill>
                  <a:srgbClr val="818CF8"/>
                </a:solidFill>
                <a:effectLst/>
                <a:uFillTx/>
                <a:latin typeface="Roboto"/>
              </a:rPr>
              <a:t>01 · CONTEXT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1" name="TextBox 3"/>
          <p:cNvSpPr/>
          <p:nvPr/>
        </p:nvSpPr>
        <p:spPr>
          <a:xfrm>
            <a:off x="502920" y="658440"/>
            <a:ext cx="10995480" cy="68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Why forecast solar production?</a:t>
            </a:r>
            <a:endParaRPr lang="fr-F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2" name="TextBox 4"/>
          <p:cNvSpPr/>
          <p:nvPr/>
        </p:nvSpPr>
        <p:spPr>
          <a:xfrm>
            <a:off x="502920" y="1404000"/>
            <a:ext cx="1099656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Solar output is entirely weather dependent: without a forecast, every gap between expected and actual production has a direct cost.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3" name="Rounded Rectangle 5"/>
          <p:cNvSpPr/>
          <p:nvPr/>
        </p:nvSpPr>
        <p:spPr>
          <a:xfrm>
            <a:off x="502920" y="1737360"/>
            <a:ext cx="5482800" cy="4011840"/>
          </a:xfrm>
          <a:prstGeom prst="roundRect">
            <a:avLst>
              <a:gd name="adj" fmla="val 1846"/>
            </a:avLst>
          </a:prstGeom>
          <a:solidFill>
            <a:srgbClr val="2636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14" name="Oval 6"/>
          <p:cNvSpPr/>
          <p:nvPr/>
        </p:nvSpPr>
        <p:spPr>
          <a:xfrm>
            <a:off x="868680" y="2057400"/>
            <a:ext cx="453600" cy="453600"/>
          </a:xfrm>
          <a:prstGeom prst="ellipse">
            <a:avLst/>
          </a:prstGeom>
          <a:solidFill>
            <a:srgbClr val="4338C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15" name="TextBox 7"/>
          <p:cNvSpPr/>
          <p:nvPr/>
        </p:nvSpPr>
        <p:spPr>
          <a:xfrm>
            <a:off x="868680" y="2057400"/>
            <a:ext cx="45360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!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6" name="TextBox 8"/>
          <p:cNvSpPr/>
          <p:nvPr/>
        </p:nvSpPr>
        <p:spPr>
          <a:xfrm>
            <a:off x="1508760" y="2057400"/>
            <a:ext cx="4294080" cy="49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55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Total intermittency</a:t>
            </a:r>
            <a:endParaRPr lang="fr-FR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7" name="TextBox 9"/>
          <p:cNvSpPr/>
          <p:nvPr/>
        </p:nvSpPr>
        <p:spPr>
          <a:xfrm>
            <a:off x="868680" y="2743200"/>
            <a:ext cx="4753440" cy="94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25000"/>
              </a:lnSpc>
            </a:pPr>
            <a:r>
              <a:rPr lang="en-US" sz="1250" b="0" u="none" strike="noStrike">
                <a:solidFill>
                  <a:srgbClr val="F4F6FB"/>
                </a:solidFill>
                <a:effectLst/>
                <a:uFillTx/>
                <a:latin typeface="Roboto"/>
              </a:rPr>
              <a:t>Unlike nuclear or gas, solar production cannot be </a:t>
            </a:r>
            <a:r>
              <a:rPr lang="en-US" sz="1250" b="0" u="none" strike="noStrike">
                <a:solidFill>
                  <a:srgbClr val="F4F6FB"/>
                </a:solidFill>
                <a:effectLst/>
                <a:uFillTx/>
                <a:latin typeface="Roboto"/>
              </a:rPr>
              <a:t>dispatched on demand: it depends entirely on </a:t>
            </a:r>
            <a:r>
              <a:rPr lang="en-US" sz="1250" b="0" u="none" strike="noStrike">
                <a:solidFill>
                  <a:srgbClr val="F4F6FB"/>
                </a:solidFill>
                <a:effectLst/>
                <a:uFillTx/>
                <a:latin typeface="Roboto"/>
              </a:rPr>
              <a:t>tomorrow's radiation.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8" name="TextBox 10"/>
          <p:cNvSpPr/>
          <p:nvPr/>
        </p:nvSpPr>
        <p:spPr>
          <a:xfrm>
            <a:off x="868680" y="3840480"/>
            <a:ext cx="4753440" cy="169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25000"/>
              </a:lnSpc>
            </a:pPr>
            <a:r>
              <a:rPr lang="en-US" sz="1250" b="0" u="none" strike="noStrike">
                <a:solidFill>
                  <a:srgbClr val="F4F6FB"/>
                </a:solidFill>
                <a:effectLst/>
                <a:uFillTx/>
                <a:latin typeface="Roboto"/>
              </a:rPr>
              <a:t>A reliable next-</a:t>
            </a:r>
            <a:r>
              <a:rPr lang="en-US" sz="1250" b="0" u="none" strike="noStrike">
                <a:solidFill>
                  <a:srgbClr val="F4F6FB"/>
                </a:solidFill>
                <a:effectLst/>
                <a:uFillTx/>
                <a:latin typeface="Roboto"/>
              </a:rPr>
              <a:t>day forecast </a:t>
            </a:r>
            <a:r>
              <a:rPr lang="en-US" sz="1250" b="0" u="none" strike="noStrike">
                <a:solidFill>
                  <a:srgbClr val="F4F6FB"/>
                </a:solidFill>
                <a:effectLst/>
                <a:uFillTx/>
                <a:latin typeface="Roboto"/>
              </a:rPr>
              <a:t>means </a:t>
            </a:r>
            <a:r>
              <a:rPr lang="en-US" sz="1250" b="0" u="none" strike="noStrike">
                <a:solidFill>
                  <a:srgbClr val="F4F6FB"/>
                </a:solidFill>
                <a:effectLst/>
                <a:uFillTx/>
                <a:latin typeface="Roboto"/>
              </a:rPr>
              <a:t>anticipating </a:t>
            </a:r>
            <a:r>
              <a:rPr lang="en-US" sz="1250" b="0" u="none" strike="noStrike">
                <a:solidFill>
                  <a:srgbClr val="F4F6FB"/>
                </a:solidFill>
                <a:effectLst/>
                <a:uFillTx/>
                <a:latin typeface="Roboto"/>
              </a:rPr>
              <a:t>production before </a:t>
            </a:r>
            <a:r>
              <a:rPr lang="en-US" sz="1250" b="0" u="none" strike="noStrike">
                <a:solidFill>
                  <a:srgbClr val="F4F6FB"/>
                </a:solidFill>
                <a:effectLst/>
                <a:uFillTx/>
                <a:latin typeface="Roboto"/>
              </a:rPr>
              <a:t>it happens, </a:t>
            </a:r>
            <a:r>
              <a:rPr lang="en-US" sz="1250" b="0" u="none" strike="noStrike">
                <a:solidFill>
                  <a:srgbClr val="F4F6FB"/>
                </a:solidFill>
                <a:effectLst/>
                <a:uFillTx/>
                <a:latin typeface="Roboto"/>
              </a:rPr>
              <a:t>instead of just </a:t>
            </a:r>
            <a:r>
              <a:rPr lang="en-US" sz="1250" b="0" u="none" strike="noStrike">
                <a:solidFill>
                  <a:srgbClr val="F4F6FB"/>
                </a:solidFill>
                <a:effectLst/>
                <a:uFillTx/>
                <a:latin typeface="Roboto"/>
              </a:rPr>
              <a:t>reacting to it.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9" name="Rounded Rectangle 11"/>
          <p:cNvSpPr/>
          <p:nvPr/>
        </p:nvSpPr>
        <p:spPr>
          <a:xfrm>
            <a:off x="6316920" y="1737360"/>
            <a:ext cx="2666520" cy="1931400"/>
          </a:xfrm>
          <a:prstGeom prst="roundRect">
            <a:avLst>
              <a:gd name="adj" fmla="val 3780"/>
            </a:avLst>
          </a:prstGeom>
          <a:solidFill>
            <a:srgbClr val="2636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20" name="TextBox 12"/>
          <p:cNvSpPr/>
          <p:nvPr/>
        </p:nvSpPr>
        <p:spPr>
          <a:xfrm>
            <a:off x="6499800" y="1920240"/>
            <a:ext cx="2300760" cy="39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Selling electricity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1" name="TextBox 13"/>
          <p:cNvSpPr/>
          <p:nvPr/>
        </p:nvSpPr>
        <p:spPr>
          <a:xfrm>
            <a:off x="6499800" y="2377440"/>
            <a:ext cx="2300760" cy="109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20000"/>
              </a:lnSpc>
            </a:pP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Avoid unfavorable buybacks or underpriced sales on wholesale markets.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2" name="Rounded Rectangle 14"/>
          <p:cNvSpPr/>
          <p:nvPr/>
        </p:nvSpPr>
        <p:spPr>
          <a:xfrm>
            <a:off x="9132480" y="1737360"/>
            <a:ext cx="2666520" cy="1931400"/>
          </a:xfrm>
          <a:prstGeom prst="roundRect">
            <a:avLst>
              <a:gd name="adj" fmla="val 3780"/>
            </a:avLst>
          </a:prstGeom>
          <a:solidFill>
            <a:srgbClr val="2636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23" name="TextBox 15"/>
          <p:cNvSpPr/>
          <p:nvPr/>
        </p:nvSpPr>
        <p:spPr>
          <a:xfrm>
            <a:off x="9315360" y="1920240"/>
            <a:ext cx="2300760" cy="39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Battery management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4" name="TextBox 16"/>
          <p:cNvSpPr/>
          <p:nvPr/>
        </p:nvSpPr>
        <p:spPr>
          <a:xfrm>
            <a:off x="9315360" y="2377440"/>
            <a:ext cx="2300760" cy="109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20000"/>
              </a:lnSpc>
            </a:pP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Optimi</a:t>
            </a: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ze </a:t>
            </a: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charge</a:t>
            </a: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/disch</a:t>
            </a: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arge </a:t>
            </a: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cycles </a:t>
            </a: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and </a:t>
            </a: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extend </a:t>
            </a: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storag</a:t>
            </a: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e </a:t>
            </a: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syste</a:t>
            </a: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m </a:t>
            </a: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lifespa</a:t>
            </a: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n.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5" name="Rounded Rectangle 17"/>
          <p:cNvSpPr/>
          <p:nvPr/>
        </p:nvSpPr>
        <p:spPr>
          <a:xfrm>
            <a:off x="6316920" y="3817800"/>
            <a:ext cx="2666520" cy="1931400"/>
          </a:xfrm>
          <a:prstGeom prst="roundRect">
            <a:avLst>
              <a:gd name="adj" fmla="val 3780"/>
            </a:avLst>
          </a:prstGeom>
          <a:solidFill>
            <a:srgbClr val="2636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26" name="TextBox 18"/>
          <p:cNvSpPr/>
          <p:nvPr/>
        </p:nvSpPr>
        <p:spPr>
          <a:xfrm>
            <a:off x="6499800" y="4000680"/>
            <a:ext cx="2300760" cy="39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Preventive maintenance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7" name="TextBox 19"/>
          <p:cNvSpPr/>
          <p:nvPr/>
        </p:nvSpPr>
        <p:spPr>
          <a:xfrm>
            <a:off x="6499800" y="4457880"/>
            <a:ext cx="2300760" cy="109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20000"/>
              </a:lnSpc>
            </a:pP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Detect yield anomalies (dirty or faulty panels) and plan interventions.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8" name="Rounded Rectangle 20"/>
          <p:cNvSpPr/>
          <p:nvPr/>
        </p:nvSpPr>
        <p:spPr>
          <a:xfrm>
            <a:off x="9132480" y="3817800"/>
            <a:ext cx="2666520" cy="1931400"/>
          </a:xfrm>
          <a:prstGeom prst="roundRect">
            <a:avLst>
              <a:gd name="adj" fmla="val 3780"/>
            </a:avLst>
          </a:prstGeom>
          <a:solidFill>
            <a:srgbClr val="2636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29" name="TextBox 21"/>
          <p:cNvSpPr/>
          <p:nvPr/>
        </p:nvSpPr>
        <p:spPr>
          <a:xfrm>
            <a:off x="9315360" y="4000680"/>
            <a:ext cx="2300760" cy="39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Grid management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0" name="TextBox 22"/>
          <p:cNvSpPr/>
          <p:nvPr/>
        </p:nvSpPr>
        <p:spPr>
          <a:xfrm>
            <a:off x="9315360" y="4457880"/>
            <a:ext cx="2300760" cy="109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20000"/>
              </a:lnSpc>
            </a:pP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Anticipate high production days to reduce reliance on gas.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931" name="Connector 23"/>
          <p:cNvCxnSpPr/>
          <p:nvPr/>
        </p:nvCxnSpPr>
        <p:spPr>
          <a:xfrm>
            <a:off x="548640" y="5943600"/>
            <a:ext cx="10976400" cy="3600"/>
          </a:xfrm>
          <a:prstGeom prst="straightConnector1">
            <a:avLst/>
          </a:prstGeom>
          <a:ln w="9525">
            <a:solidFill>
              <a:srgbClr val="3D4B72"/>
            </a:solidFill>
            <a:round/>
          </a:ln>
        </p:spPr>
      </p:cxnSp>
      <p:sp>
        <p:nvSpPr>
          <p:cNvPr id="932" name="TextBox 24"/>
          <p:cNvSpPr/>
          <p:nvPr/>
        </p:nvSpPr>
        <p:spPr>
          <a:xfrm>
            <a:off x="457200" y="6172200"/>
            <a:ext cx="8224920" cy="26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Solar </a:t>
            </a: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Produc</a:t>
            </a: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tion </a:t>
            </a: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Foreca</a:t>
            </a: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sting · </a:t>
            </a: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Machin</a:t>
            </a: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e </a:t>
            </a: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Learnin</a:t>
            </a: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g · </a:t>
            </a: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Stream</a:t>
            </a: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lit </a:t>
            </a: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Dashb</a:t>
            </a: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oard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3" name="TextBox 25"/>
          <p:cNvSpPr/>
          <p:nvPr/>
        </p:nvSpPr>
        <p:spPr>
          <a:xfrm>
            <a:off x="11274480" y="6172200"/>
            <a:ext cx="452520" cy="26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02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4" name="Rectangle 1"/>
          <p:cNvSpPr/>
          <p:nvPr/>
        </p:nvSpPr>
        <p:spPr>
          <a:xfrm>
            <a:off x="0" y="0"/>
            <a:ext cx="12188520" cy="6854400"/>
          </a:xfrm>
          <a:prstGeom prst="rect">
            <a:avLst/>
          </a:prstGeom>
          <a:solidFill>
            <a:srgbClr val="0A0E1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cxnSp>
        <p:nvCxnSpPr>
          <p:cNvPr id="935" name="GridV901"/>
          <p:cNvCxnSpPr/>
          <p:nvPr/>
        </p:nvCxnSpPr>
        <p:spPr>
          <a:xfrm>
            <a:off x="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36" name="GridV902"/>
          <p:cNvCxnSpPr/>
          <p:nvPr/>
        </p:nvCxnSpPr>
        <p:spPr>
          <a:xfrm>
            <a:off x="3045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37" name="GridV903"/>
          <p:cNvCxnSpPr/>
          <p:nvPr/>
        </p:nvCxnSpPr>
        <p:spPr>
          <a:xfrm>
            <a:off x="6094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38" name="GridV904"/>
          <p:cNvCxnSpPr/>
          <p:nvPr/>
        </p:nvCxnSpPr>
        <p:spPr>
          <a:xfrm>
            <a:off x="9144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39" name="GridV905"/>
          <p:cNvCxnSpPr/>
          <p:nvPr/>
        </p:nvCxnSpPr>
        <p:spPr>
          <a:xfrm>
            <a:off x="12189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40" name="GridV906"/>
          <p:cNvCxnSpPr/>
          <p:nvPr/>
        </p:nvCxnSpPr>
        <p:spPr>
          <a:xfrm>
            <a:off x="15238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41" name="GridV907"/>
          <p:cNvCxnSpPr/>
          <p:nvPr/>
        </p:nvCxnSpPr>
        <p:spPr>
          <a:xfrm>
            <a:off x="18288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42" name="GridV908"/>
          <p:cNvCxnSpPr/>
          <p:nvPr/>
        </p:nvCxnSpPr>
        <p:spPr>
          <a:xfrm>
            <a:off x="21333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43" name="GridV909"/>
          <p:cNvCxnSpPr/>
          <p:nvPr/>
        </p:nvCxnSpPr>
        <p:spPr>
          <a:xfrm>
            <a:off x="24382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44" name="GridV910"/>
          <p:cNvCxnSpPr/>
          <p:nvPr/>
        </p:nvCxnSpPr>
        <p:spPr>
          <a:xfrm>
            <a:off x="27432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45" name="GridV911"/>
          <p:cNvCxnSpPr/>
          <p:nvPr/>
        </p:nvCxnSpPr>
        <p:spPr>
          <a:xfrm>
            <a:off x="30477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46" name="GridV912"/>
          <p:cNvCxnSpPr/>
          <p:nvPr/>
        </p:nvCxnSpPr>
        <p:spPr>
          <a:xfrm>
            <a:off x="33526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47" name="GridV913"/>
          <p:cNvCxnSpPr/>
          <p:nvPr/>
        </p:nvCxnSpPr>
        <p:spPr>
          <a:xfrm>
            <a:off x="36576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48" name="GridV914"/>
          <p:cNvCxnSpPr/>
          <p:nvPr/>
        </p:nvCxnSpPr>
        <p:spPr>
          <a:xfrm>
            <a:off x="39621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49" name="GridV915"/>
          <p:cNvCxnSpPr/>
          <p:nvPr/>
        </p:nvCxnSpPr>
        <p:spPr>
          <a:xfrm>
            <a:off x="42670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50" name="GridV916"/>
          <p:cNvCxnSpPr/>
          <p:nvPr/>
        </p:nvCxnSpPr>
        <p:spPr>
          <a:xfrm>
            <a:off x="45720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51" name="GridV917"/>
          <p:cNvCxnSpPr/>
          <p:nvPr/>
        </p:nvCxnSpPr>
        <p:spPr>
          <a:xfrm>
            <a:off x="48765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52" name="GridV918"/>
          <p:cNvCxnSpPr/>
          <p:nvPr/>
        </p:nvCxnSpPr>
        <p:spPr>
          <a:xfrm>
            <a:off x="51814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53" name="GridV919"/>
          <p:cNvCxnSpPr/>
          <p:nvPr/>
        </p:nvCxnSpPr>
        <p:spPr>
          <a:xfrm>
            <a:off x="54864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54" name="GridV920"/>
          <p:cNvCxnSpPr/>
          <p:nvPr/>
        </p:nvCxnSpPr>
        <p:spPr>
          <a:xfrm>
            <a:off x="57909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55" name="GridV921"/>
          <p:cNvCxnSpPr/>
          <p:nvPr/>
        </p:nvCxnSpPr>
        <p:spPr>
          <a:xfrm>
            <a:off x="60958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56" name="GridV922"/>
          <p:cNvCxnSpPr/>
          <p:nvPr/>
        </p:nvCxnSpPr>
        <p:spPr>
          <a:xfrm>
            <a:off x="64008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57" name="GridV923"/>
          <p:cNvCxnSpPr/>
          <p:nvPr/>
        </p:nvCxnSpPr>
        <p:spPr>
          <a:xfrm>
            <a:off x="67053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58" name="GridV924"/>
          <p:cNvCxnSpPr/>
          <p:nvPr/>
        </p:nvCxnSpPr>
        <p:spPr>
          <a:xfrm>
            <a:off x="70102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59" name="GridV925"/>
          <p:cNvCxnSpPr/>
          <p:nvPr/>
        </p:nvCxnSpPr>
        <p:spPr>
          <a:xfrm>
            <a:off x="73152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60" name="GridV926"/>
          <p:cNvCxnSpPr/>
          <p:nvPr/>
        </p:nvCxnSpPr>
        <p:spPr>
          <a:xfrm>
            <a:off x="76197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61" name="GridV927"/>
          <p:cNvCxnSpPr/>
          <p:nvPr/>
        </p:nvCxnSpPr>
        <p:spPr>
          <a:xfrm>
            <a:off x="79246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62" name="GridV928"/>
          <p:cNvCxnSpPr/>
          <p:nvPr/>
        </p:nvCxnSpPr>
        <p:spPr>
          <a:xfrm>
            <a:off x="82296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63" name="GridV929"/>
          <p:cNvCxnSpPr/>
          <p:nvPr/>
        </p:nvCxnSpPr>
        <p:spPr>
          <a:xfrm>
            <a:off x="85341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64" name="GridV930"/>
          <p:cNvCxnSpPr/>
          <p:nvPr/>
        </p:nvCxnSpPr>
        <p:spPr>
          <a:xfrm>
            <a:off x="88390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65" name="GridV931"/>
          <p:cNvCxnSpPr/>
          <p:nvPr/>
        </p:nvCxnSpPr>
        <p:spPr>
          <a:xfrm>
            <a:off x="91440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66" name="GridV932"/>
          <p:cNvCxnSpPr/>
          <p:nvPr/>
        </p:nvCxnSpPr>
        <p:spPr>
          <a:xfrm>
            <a:off x="94485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67" name="GridV933"/>
          <p:cNvCxnSpPr/>
          <p:nvPr/>
        </p:nvCxnSpPr>
        <p:spPr>
          <a:xfrm>
            <a:off x="97534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68" name="GridV934"/>
          <p:cNvCxnSpPr/>
          <p:nvPr/>
        </p:nvCxnSpPr>
        <p:spPr>
          <a:xfrm>
            <a:off x="100584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69" name="GridV935"/>
          <p:cNvCxnSpPr/>
          <p:nvPr/>
        </p:nvCxnSpPr>
        <p:spPr>
          <a:xfrm>
            <a:off x="103629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70" name="GridV936"/>
          <p:cNvCxnSpPr/>
          <p:nvPr/>
        </p:nvCxnSpPr>
        <p:spPr>
          <a:xfrm>
            <a:off x="106678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71" name="GridV937"/>
          <p:cNvCxnSpPr/>
          <p:nvPr/>
        </p:nvCxnSpPr>
        <p:spPr>
          <a:xfrm>
            <a:off x="109728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72" name="GridV938"/>
          <p:cNvCxnSpPr/>
          <p:nvPr/>
        </p:nvCxnSpPr>
        <p:spPr>
          <a:xfrm>
            <a:off x="112773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73" name="GridV939"/>
          <p:cNvCxnSpPr/>
          <p:nvPr/>
        </p:nvCxnSpPr>
        <p:spPr>
          <a:xfrm>
            <a:off x="115822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74" name="GridV940"/>
          <p:cNvCxnSpPr/>
          <p:nvPr/>
        </p:nvCxnSpPr>
        <p:spPr>
          <a:xfrm>
            <a:off x="118872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75" name="GridV941"/>
          <p:cNvCxnSpPr/>
          <p:nvPr/>
        </p:nvCxnSpPr>
        <p:spPr>
          <a:xfrm>
            <a:off x="121917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76" name="GridH942"/>
          <p:cNvCxnSpPr/>
          <p:nvPr/>
        </p:nvCxnSpPr>
        <p:spPr>
          <a:xfrm>
            <a:off x="0" y="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77" name="GridH943"/>
          <p:cNvCxnSpPr/>
          <p:nvPr/>
        </p:nvCxnSpPr>
        <p:spPr>
          <a:xfrm>
            <a:off x="0" y="3045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78" name="GridH944"/>
          <p:cNvCxnSpPr/>
          <p:nvPr/>
        </p:nvCxnSpPr>
        <p:spPr>
          <a:xfrm>
            <a:off x="0" y="60948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79" name="GridH945"/>
          <p:cNvCxnSpPr/>
          <p:nvPr/>
        </p:nvCxnSpPr>
        <p:spPr>
          <a:xfrm>
            <a:off x="0" y="91440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80" name="GridH946"/>
          <p:cNvCxnSpPr/>
          <p:nvPr/>
        </p:nvCxnSpPr>
        <p:spPr>
          <a:xfrm>
            <a:off x="0" y="12189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81" name="GridH947"/>
          <p:cNvCxnSpPr/>
          <p:nvPr/>
        </p:nvCxnSpPr>
        <p:spPr>
          <a:xfrm>
            <a:off x="0" y="152388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82" name="GridH948"/>
          <p:cNvCxnSpPr/>
          <p:nvPr/>
        </p:nvCxnSpPr>
        <p:spPr>
          <a:xfrm>
            <a:off x="0" y="182880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83" name="GridH949"/>
          <p:cNvCxnSpPr/>
          <p:nvPr/>
        </p:nvCxnSpPr>
        <p:spPr>
          <a:xfrm>
            <a:off x="0" y="21333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84" name="GridH950"/>
          <p:cNvCxnSpPr/>
          <p:nvPr/>
        </p:nvCxnSpPr>
        <p:spPr>
          <a:xfrm>
            <a:off x="0" y="243828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85" name="GridH951"/>
          <p:cNvCxnSpPr/>
          <p:nvPr/>
        </p:nvCxnSpPr>
        <p:spPr>
          <a:xfrm>
            <a:off x="0" y="274320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86" name="GridH952"/>
          <p:cNvCxnSpPr/>
          <p:nvPr/>
        </p:nvCxnSpPr>
        <p:spPr>
          <a:xfrm>
            <a:off x="0" y="30477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87" name="GridH953"/>
          <p:cNvCxnSpPr/>
          <p:nvPr/>
        </p:nvCxnSpPr>
        <p:spPr>
          <a:xfrm>
            <a:off x="0" y="335268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88" name="GridH954"/>
          <p:cNvCxnSpPr/>
          <p:nvPr/>
        </p:nvCxnSpPr>
        <p:spPr>
          <a:xfrm>
            <a:off x="0" y="365760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89" name="GridH955"/>
          <p:cNvCxnSpPr/>
          <p:nvPr/>
        </p:nvCxnSpPr>
        <p:spPr>
          <a:xfrm>
            <a:off x="0" y="39621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90" name="GridH956"/>
          <p:cNvCxnSpPr/>
          <p:nvPr/>
        </p:nvCxnSpPr>
        <p:spPr>
          <a:xfrm>
            <a:off x="0" y="426708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91" name="GridH957"/>
          <p:cNvCxnSpPr/>
          <p:nvPr/>
        </p:nvCxnSpPr>
        <p:spPr>
          <a:xfrm>
            <a:off x="0" y="457200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92" name="GridH958"/>
          <p:cNvCxnSpPr/>
          <p:nvPr/>
        </p:nvCxnSpPr>
        <p:spPr>
          <a:xfrm>
            <a:off x="0" y="48765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93" name="GridH959"/>
          <p:cNvCxnSpPr/>
          <p:nvPr/>
        </p:nvCxnSpPr>
        <p:spPr>
          <a:xfrm>
            <a:off x="0" y="518148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94" name="GridH960"/>
          <p:cNvCxnSpPr/>
          <p:nvPr/>
        </p:nvCxnSpPr>
        <p:spPr>
          <a:xfrm>
            <a:off x="0" y="548640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95" name="GridH961"/>
          <p:cNvCxnSpPr/>
          <p:nvPr/>
        </p:nvCxnSpPr>
        <p:spPr>
          <a:xfrm>
            <a:off x="0" y="57909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96" name="GridH962"/>
          <p:cNvCxnSpPr/>
          <p:nvPr/>
        </p:nvCxnSpPr>
        <p:spPr>
          <a:xfrm>
            <a:off x="0" y="609588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97" name="GridH963"/>
          <p:cNvCxnSpPr/>
          <p:nvPr/>
        </p:nvCxnSpPr>
        <p:spPr>
          <a:xfrm>
            <a:off x="0" y="640080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98" name="GridH964"/>
          <p:cNvCxnSpPr/>
          <p:nvPr/>
        </p:nvCxnSpPr>
        <p:spPr>
          <a:xfrm>
            <a:off x="0" y="67053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sp>
        <p:nvSpPr>
          <p:cNvPr id="999" name="TextBox 2"/>
          <p:cNvSpPr/>
          <p:nvPr/>
        </p:nvSpPr>
        <p:spPr>
          <a:xfrm>
            <a:off x="502920" y="411480"/>
            <a:ext cx="7996320" cy="26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pc="201" strike="noStrike">
                <a:solidFill>
                  <a:srgbClr val="818CF8"/>
                </a:solidFill>
                <a:effectLst/>
                <a:uFillTx/>
                <a:latin typeface="Roboto"/>
              </a:rPr>
              <a:t>02 · DATA &amp; METHOD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0" name="TextBox 3"/>
          <p:cNvSpPr/>
          <p:nvPr/>
        </p:nvSpPr>
        <p:spPr>
          <a:xfrm>
            <a:off x="502920" y="658440"/>
            <a:ext cx="10995480" cy="68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D</a:t>
            </a: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at</a:t>
            </a: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a </a:t>
            </a: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&amp; </a:t>
            </a: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M</a:t>
            </a: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et</a:t>
            </a: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ho</a:t>
            </a: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d</a:t>
            </a:r>
            <a:endParaRPr lang="fr-F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1" name="TextBox 4"/>
          <p:cNvSpPr/>
          <p:nvPr/>
        </p:nvSpPr>
        <p:spPr>
          <a:xfrm>
            <a:off x="502920" y="1404000"/>
            <a:ext cx="1099656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Three data sources joined by region and day, a 5-</a:t>
            </a: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step pipeline, with time-respecting validation (no </a:t>
            </a: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shuffling).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2" name="Rounded Rectangle 5"/>
          <p:cNvSpPr/>
          <p:nvPr/>
        </p:nvSpPr>
        <p:spPr>
          <a:xfrm>
            <a:off x="502920" y="1737360"/>
            <a:ext cx="3571560" cy="1366920"/>
          </a:xfrm>
          <a:prstGeom prst="roundRect">
            <a:avLst>
              <a:gd name="adj" fmla="val 6000"/>
            </a:avLst>
          </a:prstGeom>
          <a:solidFill>
            <a:srgbClr val="2636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03" name="TextBox 6"/>
          <p:cNvSpPr/>
          <p:nvPr/>
        </p:nvSpPr>
        <p:spPr>
          <a:xfrm>
            <a:off x="731520" y="1874520"/>
            <a:ext cx="3114360" cy="36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818CF8"/>
                </a:solidFill>
                <a:effectLst/>
                <a:uFillTx/>
                <a:latin typeface="Roboto"/>
              </a:rPr>
              <a:t>26,676 rows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4" name="TextBox 7"/>
          <p:cNvSpPr/>
          <p:nvPr/>
        </p:nvSpPr>
        <p:spPr>
          <a:xfrm>
            <a:off x="731520" y="2239200"/>
            <a:ext cx="3114360" cy="26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Meteo-France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5" name="TextBox 8"/>
          <p:cNvSpPr/>
          <p:nvPr/>
        </p:nvSpPr>
        <p:spPr>
          <a:xfrm>
            <a:off x="731520" y="2529720"/>
            <a:ext cx="3114360" cy="54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Radiation, temperature, humidity, wind... by region and day, 2020 to 2026.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6" name="Rounded Rectangle 9"/>
          <p:cNvSpPr/>
          <p:nvPr/>
        </p:nvSpPr>
        <p:spPr>
          <a:xfrm>
            <a:off x="4306680" y="1737360"/>
            <a:ext cx="3571560" cy="1366920"/>
          </a:xfrm>
          <a:prstGeom prst="roundRect">
            <a:avLst>
              <a:gd name="adj" fmla="val 6000"/>
            </a:avLst>
          </a:prstGeom>
          <a:solidFill>
            <a:srgbClr val="2636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07" name="TextBox 10"/>
          <p:cNvSpPr/>
          <p:nvPr/>
        </p:nvSpPr>
        <p:spPr>
          <a:xfrm>
            <a:off x="4535280" y="1874520"/>
            <a:ext cx="3114360" cy="36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818CF8"/>
                </a:solidFill>
                <a:effectLst/>
                <a:uFillTx/>
                <a:latin typeface="Roboto"/>
              </a:rPr>
              <a:t>12 regions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8" name="TextBox 11"/>
          <p:cNvSpPr/>
          <p:nvPr/>
        </p:nvSpPr>
        <p:spPr>
          <a:xfrm>
            <a:off x="4535280" y="2239200"/>
            <a:ext cx="3114360" cy="26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RTE, solar production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9" name="TextBox 12"/>
          <p:cNvSpPr/>
          <p:nvPr/>
        </p:nvSpPr>
        <p:spPr>
          <a:xfrm>
            <a:off x="4535280" y="2529720"/>
            <a:ext cx="3114360" cy="54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Half-hourly production aggregated into daily TWh by region.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0" name="Rounded Rectangle 13"/>
          <p:cNvSpPr/>
          <p:nvPr/>
        </p:nvSpPr>
        <p:spPr>
          <a:xfrm>
            <a:off x="8110440" y="1737360"/>
            <a:ext cx="3571560" cy="1366920"/>
          </a:xfrm>
          <a:prstGeom prst="roundRect">
            <a:avLst>
              <a:gd name="adj" fmla="val 6000"/>
            </a:avLst>
          </a:prstGeom>
          <a:solidFill>
            <a:srgbClr val="2636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11" name="TextBox 14"/>
          <p:cNvSpPr/>
          <p:nvPr/>
        </p:nvSpPr>
        <p:spPr>
          <a:xfrm>
            <a:off x="8339040" y="1874520"/>
            <a:ext cx="3114360" cy="36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818CF8"/>
                </a:solidFill>
                <a:effectLst/>
                <a:uFillTx/>
                <a:latin typeface="Roboto"/>
              </a:rPr>
              <a:t>SDES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2" name="TextBox 15"/>
          <p:cNvSpPr/>
          <p:nvPr/>
        </p:nvSpPr>
        <p:spPr>
          <a:xfrm>
            <a:off x="8339040" y="2239200"/>
            <a:ext cx="3114360" cy="26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Installed capacity (MW)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3" name="TextBox 16"/>
          <p:cNvSpPr/>
          <p:nvPr/>
        </p:nvSpPr>
        <p:spPr>
          <a:xfrm>
            <a:off x="8339040" y="2529720"/>
            <a:ext cx="3114360" cy="54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Installed photovoltaic capacity by region, used to normalize production.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4" name="TextBox 17"/>
          <p:cNvSpPr/>
          <p:nvPr/>
        </p:nvSpPr>
        <p:spPr>
          <a:xfrm>
            <a:off x="502920" y="3474720"/>
            <a:ext cx="4996440" cy="26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1" u="none" spc="99" strike="noStrike">
                <a:solidFill>
                  <a:srgbClr val="F4F6FB"/>
                </a:solidFill>
                <a:effectLst/>
                <a:uFillTx/>
                <a:latin typeface="Roboto"/>
              </a:rPr>
              <a:t>METHODOLOGY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5" name="Rounded Rectangle 18"/>
          <p:cNvSpPr/>
          <p:nvPr/>
        </p:nvSpPr>
        <p:spPr>
          <a:xfrm>
            <a:off x="502920" y="3931920"/>
            <a:ext cx="2131560" cy="1869840"/>
          </a:xfrm>
          <a:prstGeom prst="roundRect">
            <a:avLst>
              <a:gd name="adj" fmla="val 6000"/>
            </a:avLst>
          </a:prstGeom>
          <a:solidFill>
            <a:srgbClr val="2636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16" name="Oval 19"/>
          <p:cNvSpPr/>
          <p:nvPr/>
        </p:nvSpPr>
        <p:spPr>
          <a:xfrm>
            <a:off x="1342440" y="4114800"/>
            <a:ext cx="452520" cy="452520"/>
          </a:xfrm>
          <a:prstGeom prst="ellipse">
            <a:avLst/>
          </a:prstGeom>
          <a:solidFill>
            <a:srgbClr val="4338C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17" name="TextBox 20"/>
          <p:cNvSpPr/>
          <p:nvPr/>
        </p:nvSpPr>
        <p:spPr>
          <a:xfrm>
            <a:off x="1342440" y="4114800"/>
            <a:ext cx="452520" cy="45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1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8" name="TextBox 21"/>
          <p:cNvSpPr/>
          <p:nvPr/>
        </p:nvSpPr>
        <p:spPr>
          <a:xfrm>
            <a:off x="685800" y="4750920"/>
            <a:ext cx="176580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Feature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engineering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9" name="TextBox 22"/>
          <p:cNvSpPr/>
          <p:nvPr/>
        </p:nvSpPr>
        <p:spPr>
          <a:xfrm>
            <a:off x="603000" y="5242680"/>
            <a:ext cx="1931760" cy="59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457200">
              <a:lnSpc>
                <a:spcPct val="105000"/>
              </a:lnSpc>
            </a:pP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Lags J-1/J-2/J-3, 7 day rolling means, </a:t>
            </a: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seasonality (sin/cos).</a:t>
            </a:r>
            <a:endParaRPr lang="fr-FR" sz="9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0" name="Rounded Rectangle 23"/>
          <p:cNvSpPr/>
          <p:nvPr/>
        </p:nvSpPr>
        <p:spPr>
          <a:xfrm>
            <a:off x="2775240" y="3931920"/>
            <a:ext cx="2131560" cy="1869840"/>
          </a:xfrm>
          <a:prstGeom prst="roundRect">
            <a:avLst>
              <a:gd name="adj" fmla="val 6000"/>
            </a:avLst>
          </a:prstGeom>
          <a:solidFill>
            <a:srgbClr val="2636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21" name="Oval 24"/>
          <p:cNvSpPr/>
          <p:nvPr/>
        </p:nvSpPr>
        <p:spPr>
          <a:xfrm>
            <a:off x="3615120" y="4114800"/>
            <a:ext cx="452520" cy="452520"/>
          </a:xfrm>
          <a:prstGeom prst="ellipse">
            <a:avLst/>
          </a:prstGeom>
          <a:solidFill>
            <a:srgbClr val="4338C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22" name="TextBox 25"/>
          <p:cNvSpPr/>
          <p:nvPr/>
        </p:nvSpPr>
        <p:spPr>
          <a:xfrm>
            <a:off x="3615120" y="4114800"/>
            <a:ext cx="452520" cy="45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2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3" name="TextBox 26"/>
          <p:cNvSpPr/>
          <p:nvPr/>
        </p:nvSpPr>
        <p:spPr>
          <a:xfrm>
            <a:off x="2958120" y="4750920"/>
            <a:ext cx="176580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Baseline &amp;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raw regression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4" name="TextBox 27"/>
          <p:cNvSpPr/>
          <p:nvPr/>
        </p:nvSpPr>
        <p:spPr>
          <a:xfrm>
            <a:off x="2875320" y="5242680"/>
            <a:ext cx="1931760" cy="59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457200">
              <a:lnSpc>
                <a:spcPct val="105000"/>
              </a:lnSpc>
            </a:pP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Naive persistence vs. regression without feature engineering.</a:t>
            </a:r>
            <a:endParaRPr lang="fr-FR" sz="9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5" name="Rounded Rectangle 28"/>
          <p:cNvSpPr/>
          <p:nvPr/>
        </p:nvSpPr>
        <p:spPr>
          <a:xfrm>
            <a:off x="5047920" y="3931920"/>
            <a:ext cx="2131560" cy="1869840"/>
          </a:xfrm>
          <a:prstGeom prst="roundRect">
            <a:avLst>
              <a:gd name="adj" fmla="val 6000"/>
            </a:avLst>
          </a:prstGeom>
          <a:solidFill>
            <a:srgbClr val="2636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26" name="Oval 29"/>
          <p:cNvSpPr/>
          <p:nvPr/>
        </p:nvSpPr>
        <p:spPr>
          <a:xfrm>
            <a:off x="5887440" y="4114800"/>
            <a:ext cx="452520" cy="452520"/>
          </a:xfrm>
          <a:prstGeom prst="ellipse">
            <a:avLst/>
          </a:prstGeom>
          <a:solidFill>
            <a:srgbClr val="4338C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27" name="TextBox 30"/>
          <p:cNvSpPr/>
          <p:nvPr/>
        </p:nvSpPr>
        <p:spPr>
          <a:xfrm>
            <a:off x="5887440" y="4114800"/>
            <a:ext cx="452520" cy="45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3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8" name="TextBox 31"/>
          <p:cNvSpPr/>
          <p:nvPr/>
        </p:nvSpPr>
        <p:spPr>
          <a:xfrm>
            <a:off x="5230800" y="4750920"/>
            <a:ext cx="176580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Temporal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validation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9" name="TextBox 32"/>
          <p:cNvSpPr/>
          <p:nvPr/>
        </p:nvSpPr>
        <p:spPr>
          <a:xfrm>
            <a:off x="5147640" y="5242680"/>
            <a:ext cx="1931760" cy="59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457200">
              <a:lnSpc>
                <a:spcPct val="105000"/>
              </a:lnSpc>
            </a:pP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TimeSeriesSplit (5 folds), pipeline refit on every fold.</a:t>
            </a:r>
            <a:endParaRPr lang="fr-FR" sz="9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0" name="Rounded Rectangle 33"/>
          <p:cNvSpPr/>
          <p:nvPr/>
        </p:nvSpPr>
        <p:spPr>
          <a:xfrm>
            <a:off x="7320240" y="3931920"/>
            <a:ext cx="2131560" cy="1869840"/>
          </a:xfrm>
          <a:prstGeom prst="roundRect">
            <a:avLst>
              <a:gd name="adj" fmla="val 6000"/>
            </a:avLst>
          </a:prstGeom>
          <a:solidFill>
            <a:srgbClr val="2636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31" name="Oval 34"/>
          <p:cNvSpPr/>
          <p:nvPr/>
        </p:nvSpPr>
        <p:spPr>
          <a:xfrm>
            <a:off x="8159760" y="4114800"/>
            <a:ext cx="452520" cy="452520"/>
          </a:xfrm>
          <a:prstGeom prst="ellipse">
            <a:avLst/>
          </a:prstGeom>
          <a:solidFill>
            <a:srgbClr val="4338C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32" name="TextBox 35"/>
          <p:cNvSpPr/>
          <p:nvPr/>
        </p:nvSpPr>
        <p:spPr>
          <a:xfrm>
            <a:off x="8159760" y="4114800"/>
            <a:ext cx="452520" cy="45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4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3" name="TextBox 36"/>
          <p:cNvSpPr/>
          <p:nvPr/>
        </p:nvSpPr>
        <p:spPr>
          <a:xfrm>
            <a:off x="7503120" y="4750920"/>
            <a:ext cx="176580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GridSearchCV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4" name="TextBox 37"/>
          <p:cNvSpPr/>
          <p:nvPr/>
        </p:nvSpPr>
        <p:spPr>
          <a:xfrm>
            <a:off x="7420320" y="5242680"/>
            <a:ext cx="1931760" cy="30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457200">
              <a:lnSpc>
                <a:spcPct val="105000"/>
              </a:lnSpc>
            </a:pP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Hyperparameter search (RMSE) across all models.</a:t>
            </a:r>
            <a:endParaRPr lang="fr-FR" sz="9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5" name="Rounded Rectangle 38"/>
          <p:cNvSpPr/>
          <p:nvPr/>
        </p:nvSpPr>
        <p:spPr>
          <a:xfrm>
            <a:off x="9592560" y="3931920"/>
            <a:ext cx="2131560" cy="1869840"/>
          </a:xfrm>
          <a:prstGeom prst="roundRect">
            <a:avLst>
              <a:gd name="adj" fmla="val 6000"/>
            </a:avLst>
          </a:prstGeom>
          <a:solidFill>
            <a:srgbClr val="2636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36" name="Oval 39"/>
          <p:cNvSpPr/>
          <p:nvPr/>
        </p:nvSpPr>
        <p:spPr>
          <a:xfrm>
            <a:off x="10432440" y="4114800"/>
            <a:ext cx="452520" cy="452520"/>
          </a:xfrm>
          <a:prstGeom prst="ellipse">
            <a:avLst/>
          </a:prstGeom>
          <a:solidFill>
            <a:srgbClr val="4338C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37" name="TextBox 40"/>
          <p:cNvSpPr/>
          <p:nvPr/>
        </p:nvSpPr>
        <p:spPr>
          <a:xfrm>
            <a:off x="10432440" y="4114800"/>
            <a:ext cx="452520" cy="45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5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8" name="TextBox 41"/>
          <p:cNvSpPr/>
          <p:nvPr/>
        </p:nvSpPr>
        <p:spPr>
          <a:xfrm>
            <a:off x="9775440" y="4750920"/>
            <a:ext cx="176580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Final </a:t>
            </a: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mode</a:t>
            </a: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l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selec</a:t>
            </a: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tion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9" name="TextBox 42"/>
          <p:cNvSpPr/>
          <p:nvPr/>
        </p:nvSpPr>
        <p:spPr>
          <a:xfrm>
            <a:off x="9692640" y="5242680"/>
            <a:ext cx="1931760" cy="31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457200">
              <a:lnSpc>
                <a:spcPct val="105000"/>
              </a:lnSpc>
            </a:pP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  <a:ea typeface="Noto Sans CJK SC"/>
              </a:rPr>
              <a:t>R</a:t>
            </a:r>
            <a:r>
              <a:rPr lang="en-US" sz="1000" b="0" u="none" strike="noStrike">
                <a:solidFill>
                  <a:srgbClr val="9AA5C0"/>
                </a:solidFill>
                <a:effectLst/>
                <a:uFillTx/>
                <a:latin typeface="Roboto"/>
                <a:ea typeface="Noto Sans CJK SC"/>
              </a:rPr>
              <a:t>²</a:t>
            </a: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  <a:ea typeface="Noto Sans CJK SC"/>
              </a:rPr>
              <a:t>/MAE/RMSE train vs test comparison, prioritizing stability.</a:t>
            </a:r>
            <a:endParaRPr lang="fr-FR" sz="9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040" name="Connector 43"/>
          <p:cNvCxnSpPr/>
          <p:nvPr/>
        </p:nvCxnSpPr>
        <p:spPr>
          <a:xfrm>
            <a:off x="548640" y="5943600"/>
            <a:ext cx="10976400" cy="3600"/>
          </a:xfrm>
          <a:prstGeom prst="straightConnector1">
            <a:avLst/>
          </a:prstGeom>
          <a:ln w="9525">
            <a:solidFill>
              <a:srgbClr val="3D4B72"/>
            </a:solidFill>
            <a:round/>
          </a:ln>
        </p:spPr>
      </p:cxnSp>
      <p:sp>
        <p:nvSpPr>
          <p:cNvPr id="1041" name="TextBox 44"/>
          <p:cNvSpPr/>
          <p:nvPr/>
        </p:nvSpPr>
        <p:spPr>
          <a:xfrm>
            <a:off x="457200" y="6172200"/>
            <a:ext cx="8224920" cy="26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Solar Production Forecasting · Machine Learning · Streamlit Dashboard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2" name="TextBox 45"/>
          <p:cNvSpPr/>
          <p:nvPr/>
        </p:nvSpPr>
        <p:spPr>
          <a:xfrm>
            <a:off x="11274480" y="6172200"/>
            <a:ext cx="452520" cy="26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03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3" name="Rectangle 1"/>
          <p:cNvSpPr/>
          <p:nvPr/>
        </p:nvSpPr>
        <p:spPr>
          <a:xfrm>
            <a:off x="0" y="0"/>
            <a:ext cx="12188520" cy="6854400"/>
          </a:xfrm>
          <a:prstGeom prst="rect">
            <a:avLst/>
          </a:prstGeom>
          <a:solidFill>
            <a:srgbClr val="0A0E1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cxnSp>
        <p:nvCxnSpPr>
          <p:cNvPr id="1044" name="GridV901"/>
          <p:cNvCxnSpPr/>
          <p:nvPr/>
        </p:nvCxnSpPr>
        <p:spPr>
          <a:xfrm>
            <a:off x="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45" name="GridV902"/>
          <p:cNvCxnSpPr/>
          <p:nvPr/>
        </p:nvCxnSpPr>
        <p:spPr>
          <a:xfrm>
            <a:off x="3045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46" name="GridV903"/>
          <p:cNvCxnSpPr/>
          <p:nvPr/>
        </p:nvCxnSpPr>
        <p:spPr>
          <a:xfrm>
            <a:off x="6094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47" name="GridV904"/>
          <p:cNvCxnSpPr/>
          <p:nvPr/>
        </p:nvCxnSpPr>
        <p:spPr>
          <a:xfrm>
            <a:off x="9144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48" name="GridV905"/>
          <p:cNvCxnSpPr/>
          <p:nvPr/>
        </p:nvCxnSpPr>
        <p:spPr>
          <a:xfrm>
            <a:off x="12189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49" name="GridV906"/>
          <p:cNvCxnSpPr/>
          <p:nvPr/>
        </p:nvCxnSpPr>
        <p:spPr>
          <a:xfrm>
            <a:off x="15238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50" name="GridV907"/>
          <p:cNvCxnSpPr/>
          <p:nvPr/>
        </p:nvCxnSpPr>
        <p:spPr>
          <a:xfrm>
            <a:off x="18288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51" name="GridV908"/>
          <p:cNvCxnSpPr/>
          <p:nvPr/>
        </p:nvCxnSpPr>
        <p:spPr>
          <a:xfrm>
            <a:off x="21333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52" name="GridV909"/>
          <p:cNvCxnSpPr/>
          <p:nvPr/>
        </p:nvCxnSpPr>
        <p:spPr>
          <a:xfrm>
            <a:off x="24382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53" name="GridV910"/>
          <p:cNvCxnSpPr/>
          <p:nvPr/>
        </p:nvCxnSpPr>
        <p:spPr>
          <a:xfrm>
            <a:off x="27432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54" name="GridV911"/>
          <p:cNvCxnSpPr/>
          <p:nvPr/>
        </p:nvCxnSpPr>
        <p:spPr>
          <a:xfrm>
            <a:off x="30477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55" name="GridV912"/>
          <p:cNvCxnSpPr/>
          <p:nvPr/>
        </p:nvCxnSpPr>
        <p:spPr>
          <a:xfrm>
            <a:off x="33526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56" name="GridV913"/>
          <p:cNvCxnSpPr/>
          <p:nvPr/>
        </p:nvCxnSpPr>
        <p:spPr>
          <a:xfrm>
            <a:off x="36576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57" name="GridV914"/>
          <p:cNvCxnSpPr/>
          <p:nvPr/>
        </p:nvCxnSpPr>
        <p:spPr>
          <a:xfrm>
            <a:off x="39621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58" name="GridV915"/>
          <p:cNvCxnSpPr/>
          <p:nvPr/>
        </p:nvCxnSpPr>
        <p:spPr>
          <a:xfrm>
            <a:off x="42670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59" name="GridV916"/>
          <p:cNvCxnSpPr/>
          <p:nvPr/>
        </p:nvCxnSpPr>
        <p:spPr>
          <a:xfrm>
            <a:off x="45720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60" name="GridV917"/>
          <p:cNvCxnSpPr/>
          <p:nvPr/>
        </p:nvCxnSpPr>
        <p:spPr>
          <a:xfrm>
            <a:off x="48765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61" name="GridV918"/>
          <p:cNvCxnSpPr/>
          <p:nvPr/>
        </p:nvCxnSpPr>
        <p:spPr>
          <a:xfrm>
            <a:off x="51814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62" name="GridV919"/>
          <p:cNvCxnSpPr/>
          <p:nvPr/>
        </p:nvCxnSpPr>
        <p:spPr>
          <a:xfrm>
            <a:off x="54864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63" name="GridV920"/>
          <p:cNvCxnSpPr/>
          <p:nvPr/>
        </p:nvCxnSpPr>
        <p:spPr>
          <a:xfrm>
            <a:off x="57909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64" name="GridV921"/>
          <p:cNvCxnSpPr/>
          <p:nvPr/>
        </p:nvCxnSpPr>
        <p:spPr>
          <a:xfrm>
            <a:off x="60958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65" name="GridV922"/>
          <p:cNvCxnSpPr/>
          <p:nvPr/>
        </p:nvCxnSpPr>
        <p:spPr>
          <a:xfrm>
            <a:off x="64008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66" name="GridV923"/>
          <p:cNvCxnSpPr/>
          <p:nvPr/>
        </p:nvCxnSpPr>
        <p:spPr>
          <a:xfrm>
            <a:off x="67053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67" name="GridV924"/>
          <p:cNvCxnSpPr/>
          <p:nvPr/>
        </p:nvCxnSpPr>
        <p:spPr>
          <a:xfrm>
            <a:off x="70102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68" name="GridV925"/>
          <p:cNvCxnSpPr/>
          <p:nvPr/>
        </p:nvCxnSpPr>
        <p:spPr>
          <a:xfrm>
            <a:off x="73152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69" name="GridV926"/>
          <p:cNvCxnSpPr/>
          <p:nvPr/>
        </p:nvCxnSpPr>
        <p:spPr>
          <a:xfrm>
            <a:off x="76197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70" name="GridV927"/>
          <p:cNvCxnSpPr/>
          <p:nvPr/>
        </p:nvCxnSpPr>
        <p:spPr>
          <a:xfrm>
            <a:off x="79246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71" name="GridV928"/>
          <p:cNvCxnSpPr/>
          <p:nvPr/>
        </p:nvCxnSpPr>
        <p:spPr>
          <a:xfrm>
            <a:off x="82296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72" name="GridV929"/>
          <p:cNvCxnSpPr/>
          <p:nvPr/>
        </p:nvCxnSpPr>
        <p:spPr>
          <a:xfrm>
            <a:off x="85341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73" name="GridV930"/>
          <p:cNvCxnSpPr/>
          <p:nvPr/>
        </p:nvCxnSpPr>
        <p:spPr>
          <a:xfrm>
            <a:off x="88390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74" name="GridV931"/>
          <p:cNvCxnSpPr/>
          <p:nvPr/>
        </p:nvCxnSpPr>
        <p:spPr>
          <a:xfrm>
            <a:off x="91440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75" name="GridV932"/>
          <p:cNvCxnSpPr/>
          <p:nvPr/>
        </p:nvCxnSpPr>
        <p:spPr>
          <a:xfrm>
            <a:off x="94485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76" name="GridV933"/>
          <p:cNvCxnSpPr/>
          <p:nvPr/>
        </p:nvCxnSpPr>
        <p:spPr>
          <a:xfrm>
            <a:off x="97534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77" name="GridV934"/>
          <p:cNvCxnSpPr/>
          <p:nvPr/>
        </p:nvCxnSpPr>
        <p:spPr>
          <a:xfrm>
            <a:off x="100584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78" name="GridV935"/>
          <p:cNvCxnSpPr/>
          <p:nvPr/>
        </p:nvCxnSpPr>
        <p:spPr>
          <a:xfrm>
            <a:off x="103629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79" name="GridV936"/>
          <p:cNvCxnSpPr/>
          <p:nvPr/>
        </p:nvCxnSpPr>
        <p:spPr>
          <a:xfrm>
            <a:off x="106678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80" name="GridV937"/>
          <p:cNvCxnSpPr/>
          <p:nvPr/>
        </p:nvCxnSpPr>
        <p:spPr>
          <a:xfrm>
            <a:off x="109728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81" name="GridV938"/>
          <p:cNvCxnSpPr/>
          <p:nvPr/>
        </p:nvCxnSpPr>
        <p:spPr>
          <a:xfrm>
            <a:off x="112773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82" name="GridV939"/>
          <p:cNvCxnSpPr/>
          <p:nvPr/>
        </p:nvCxnSpPr>
        <p:spPr>
          <a:xfrm>
            <a:off x="115822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83" name="GridV940"/>
          <p:cNvCxnSpPr/>
          <p:nvPr/>
        </p:nvCxnSpPr>
        <p:spPr>
          <a:xfrm>
            <a:off x="118872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84" name="GridV941"/>
          <p:cNvCxnSpPr/>
          <p:nvPr/>
        </p:nvCxnSpPr>
        <p:spPr>
          <a:xfrm>
            <a:off x="121917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85" name="GridH942"/>
          <p:cNvCxnSpPr/>
          <p:nvPr/>
        </p:nvCxnSpPr>
        <p:spPr>
          <a:xfrm>
            <a:off x="0" y="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86" name="GridH943"/>
          <p:cNvCxnSpPr/>
          <p:nvPr/>
        </p:nvCxnSpPr>
        <p:spPr>
          <a:xfrm>
            <a:off x="0" y="3045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87" name="GridH944"/>
          <p:cNvCxnSpPr/>
          <p:nvPr/>
        </p:nvCxnSpPr>
        <p:spPr>
          <a:xfrm>
            <a:off x="0" y="60948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88" name="GridH945"/>
          <p:cNvCxnSpPr/>
          <p:nvPr/>
        </p:nvCxnSpPr>
        <p:spPr>
          <a:xfrm>
            <a:off x="0" y="91440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89" name="GridH946"/>
          <p:cNvCxnSpPr/>
          <p:nvPr/>
        </p:nvCxnSpPr>
        <p:spPr>
          <a:xfrm>
            <a:off x="0" y="12189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90" name="GridH947"/>
          <p:cNvCxnSpPr/>
          <p:nvPr/>
        </p:nvCxnSpPr>
        <p:spPr>
          <a:xfrm>
            <a:off x="0" y="152388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91" name="GridH948"/>
          <p:cNvCxnSpPr/>
          <p:nvPr/>
        </p:nvCxnSpPr>
        <p:spPr>
          <a:xfrm>
            <a:off x="0" y="182880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92" name="GridH949"/>
          <p:cNvCxnSpPr/>
          <p:nvPr/>
        </p:nvCxnSpPr>
        <p:spPr>
          <a:xfrm>
            <a:off x="0" y="21333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93" name="GridH950"/>
          <p:cNvCxnSpPr/>
          <p:nvPr/>
        </p:nvCxnSpPr>
        <p:spPr>
          <a:xfrm>
            <a:off x="0" y="243828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94" name="GridH951"/>
          <p:cNvCxnSpPr/>
          <p:nvPr/>
        </p:nvCxnSpPr>
        <p:spPr>
          <a:xfrm>
            <a:off x="0" y="274320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95" name="GridH952"/>
          <p:cNvCxnSpPr/>
          <p:nvPr/>
        </p:nvCxnSpPr>
        <p:spPr>
          <a:xfrm>
            <a:off x="0" y="30477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96" name="GridH953"/>
          <p:cNvCxnSpPr/>
          <p:nvPr/>
        </p:nvCxnSpPr>
        <p:spPr>
          <a:xfrm>
            <a:off x="0" y="335268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97" name="GridH954"/>
          <p:cNvCxnSpPr/>
          <p:nvPr/>
        </p:nvCxnSpPr>
        <p:spPr>
          <a:xfrm>
            <a:off x="0" y="365760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98" name="GridH955"/>
          <p:cNvCxnSpPr/>
          <p:nvPr/>
        </p:nvCxnSpPr>
        <p:spPr>
          <a:xfrm>
            <a:off x="0" y="39621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99" name="GridH956"/>
          <p:cNvCxnSpPr/>
          <p:nvPr/>
        </p:nvCxnSpPr>
        <p:spPr>
          <a:xfrm>
            <a:off x="0" y="426708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100" name="GridH957"/>
          <p:cNvCxnSpPr/>
          <p:nvPr/>
        </p:nvCxnSpPr>
        <p:spPr>
          <a:xfrm>
            <a:off x="0" y="457200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101" name="GridH958"/>
          <p:cNvCxnSpPr/>
          <p:nvPr/>
        </p:nvCxnSpPr>
        <p:spPr>
          <a:xfrm>
            <a:off x="0" y="48765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102" name="GridH959"/>
          <p:cNvCxnSpPr/>
          <p:nvPr/>
        </p:nvCxnSpPr>
        <p:spPr>
          <a:xfrm>
            <a:off x="0" y="518148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103" name="GridH960"/>
          <p:cNvCxnSpPr/>
          <p:nvPr/>
        </p:nvCxnSpPr>
        <p:spPr>
          <a:xfrm>
            <a:off x="0" y="548640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104" name="GridH961"/>
          <p:cNvCxnSpPr/>
          <p:nvPr/>
        </p:nvCxnSpPr>
        <p:spPr>
          <a:xfrm>
            <a:off x="0" y="57909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105" name="GridH962"/>
          <p:cNvCxnSpPr/>
          <p:nvPr/>
        </p:nvCxnSpPr>
        <p:spPr>
          <a:xfrm>
            <a:off x="0" y="609588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106" name="GridH963"/>
          <p:cNvCxnSpPr/>
          <p:nvPr/>
        </p:nvCxnSpPr>
        <p:spPr>
          <a:xfrm>
            <a:off x="0" y="640080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107" name="GridH964"/>
          <p:cNvCxnSpPr/>
          <p:nvPr/>
        </p:nvCxnSpPr>
        <p:spPr>
          <a:xfrm>
            <a:off x="0" y="67053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sp>
        <p:nvSpPr>
          <p:cNvPr id="1108" name="TextBox 2"/>
          <p:cNvSpPr/>
          <p:nvPr/>
        </p:nvSpPr>
        <p:spPr>
          <a:xfrm>
            <a:off x="502920" y="411480"/>
            <a:ext cx="7996320" cy="26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pc="201" strike="noStrike">
                <a:solidFill>
                  <a:srgbClr val="818CF8"/>
                </a:solidFill>
                <a:effectLst/>
                <a:uFillTx/>
                <a:latin typeface="Roboto"/>
              </a:rPr>
              <a:t>02 · DATA &amp; METHOD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9" name="TextBox 3"/>
          <p:cNvSpPr/>
          <p:nvPr/>
        </p:nvSpPr>
        <p:spPr>
          <a:xfrm>
            <a:off x="502920" y="658440"/>
            <a:ext cx="10995480" cy="68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The full pipeline, end to end</a:t>
            </a:r>
            <a:endParaRPr lang="fr-F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0" name="Rounded Rectangle 7"/>
          <p:cNvSpPr/>
          <p:nvPr/>
        </p:nvSpPr>
        <p:spPr>
          <a:xfrm>
            <a:off x="502920" y="1550160"/>
            <a:ext cx="3146040" cy="380520"/>
          </a:xfrm>
          <a:prstGeom prst="roundRect">
            <a:avLst>
              <a:gd name="adj" fmla="val 28000"/>
            </a:avLst>
          </a:prstGeom>
          <a:solidFill>
            <a:srgbClr val="5B57F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11" name="TextBox 8"/>
          <p:cNvSpPr/>
          <p:nvPr/>
        </p:nvSpPr>
        <p:spPr>
          <a:xfrm>
            <a:off x="658440" y="1550160"/>
            <a:ext cx="2871720" cy="38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1 · DATA COLLECTION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2" name="Rounded Rectangle 9"/>
          <p:cNvSpPr/>
          <p:nvPr/>
        </p:nvSpPr>
        <p:spPr>
          <a:xfrm>
            <a:off x="4521240" y="1550160"/>
            <a:ext cx="3146040" cy="380520"/>
          </a:xfrm>
          <a:prstGeom prst="roundRect">
            <a:avLst>
              <a:gd name="adj" fmla="val 28000"/>
            </a:avLst>
          </a:prstGeom>
          <a:solidFill>
            <a:srgbClr val="E67E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13" name="TextBox 10"/>
          <p:cNvSpPr/>
          <p:nvPr/>
        </p:nvSpPr>
        <p:spPr>
          <a:xfrm>
            <a:off x="4676760" y="1550160"/>
            <a:ext cx="2871720" cy="38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2 · PREPARATION &amp; ANALYSIS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4" name="Rounded Rectangle 11"/>
          <p:cNvSpPr/>
          <p:nvPr/>
        </p:nvSpPr>
        <p:spPr>
          <a:xfrm>
            <a:off x="8539560" y="1550160"/>
            <a:ext cx="3146040" cy="380520"/>
          </a:xfrm>
          <a:prstGeom prst="roundRect">
            <a:avLst>
              <a:gd name="adj" fmla="val 28000"/>
            </a:avLst>
          </a:prstGeom>
          <a:solidFill>
            <a:srgbClr val="1FA97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15" name="TextBox 12"/>
          <p:cNvSpPr/>
          <p:nvPr/>
        </p:nvSpPr>
        <p:spPr>
          <a:xfrm>
            <a:off x="8695080" y="1550160"/>
            <a:ext cx="2871720" cy="38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3 · MODELING &amp; COMPUTATION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6" name="Rounded Rectangle 13"/>
          <p:cNvSpPr/>
          <p:nvPr/>
        </p:nvSpPr>
        <p:spPr>
          <a:xfrm>
            <a:off x="594360" y="2071080"/>
            <a:ext cx="2963160" cy="556560"/>
          </a:xfrm>
          <a:prstGeom prst="roundRect">
            <a:avLst>
              <a:gd name="adj" fmla="val 6000"/>
            </a:avLst>
          </a:prstGeom>
          <a:solidFill>
            <a:srgbClr val="2636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17" name="Rectangle 14"/>
          <p:cNvSpPr/>
          <p:nvPr/>
        </p:nvSpPr>
        <p:spPr>
          <a:xfrm>
            <a:off x="594360" y="2071080"/>
            <a:ext cx="33120" cy="556560"/>
          </a:xfrm>
          <a:prstGeom prst="rect">
            <a:avLst/>
          </a:prstGeom>
          <a:solidFill>
            <a:srgbClr val="5B57F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5000" rIns="1656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118" name="Picture 15" descr="icon_cloud.png"/>
          <p:cNvPicPr/>
          <p:nvPr/>
        </p:nvPicPr>
        <p:blipFill>
          <a:blip r:embed="rId1"/>
          <a:stretch/>
        </p:blipFill>
        <p:spPr>
          <a:xfrm>
            <a:off x="731520" y="2168280"/>
            <a:ext cx="362160" cy="362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19" name="TextBox 16"/>
          <p:cNvSpPr/>
          <p:nvPr/>
        </p:nvSpPr>
        <p:spPr>
          <a:xfrm>
            <a:off x="1216080" y="2183040"/>
            <a:ext cx="225000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5B57F0"/>
                </a:solidFill>
                <a:effectLst/>
                <a:uFillTx/>
                <a:latin typeface="Roboto"/>
              </a:rPr>
              <a:t>Meteo-France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0" name="TextBox 17"/>
          <p:cNvSpPr/>
          <p:nvPr/>
        </p:nvSpPr>
        <p:spPr>
          <a:xfrm>
            <a:off x="1216080" y="2373480"/>
            <a:ext cx="2250000" cy="2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Weathe</a:t>
            </a: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r data, </a:t>
            </a: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2020 to </a:t>
            </a: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2026.</a:t>
            </a:r>
            <a:endParaRPr lang="fr-FR" sz="9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1" name="Rounded Rectangle 18"/>
          <p:cNvSpPr/>
          <p:nvPr/>
        </p:nvSpPr>
        <p:spPr>
          <a:xfrm>
            <a:off x="594360" y="2859840"/>
            <a:ext cx="2963160" cy="556560"/>
          </a:xfrm>
          <a:prstGeom prst="roundRect">
            <a:avLst>
              <a:gd name="adj" fmla="val 6000"/>
            </a:avLst>
          </a:prstGeom>
          <a:solidFill>
            <a:srgbClr val="2636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22" name="Rectangle 19"/>
          <p:cNvSpPr/>
          <p:nvPr/>
        </p:nvSpPr>
        <p:spPr>
          <a:xfrm>
            <a:off x="594360" y="2859840"/>
            <a:ext cx="33120" cy="556560"/>
          </a:xfrm>
          <a:prstGeom prst="rect">
            <a:avLst/>
          </a:prstGeom>
          <a:solidFill>
            <a:srgbClr val="5B57F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5000" rIns="1656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123" name="Picture 20" descr="icon_bolt.png"/>
          <p:cNvPicPr/>
          <p:nvPr/>
        </p:nvPicPr>
        <p:blipFill>
          <a:blip r:embed="rId2"/>
          <a:stretch/>
        </p:blipFill>
        <p:spPr>
          <a:xfrm>
            <a:off x="731520" y="2957040"/>
            <a:ext cx="362160" cy="362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24" name="TextBox 21"/>
          <p:cNvSpPr/>
          <p:nvPr/>
        </p:nvSpPr>
        <p:spPr>
          <a:xfrm>
            <a:off x="1216080" y="2971800"/>
            <a:ext cx="225000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5B57F0"/>
                </a:solidFill>
                <a:effectLst/>
                <a:uFillTx/>
                <a:latin typeface="Roboto"/>
              </a:rPr>
              <a:t>RTE France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5" name="TextBox 22"/>
          <p:cNvSpPr/>
          <p:nvPr/>
        </p:nvSpPr>
        <p:spPr>
          <a:xfrm>
            <a:off x="1216080" y="3162240"/>
            <a:ext cx="2250000" cy="2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Solar production, 2020 to 2026.</a:t>
            </a:r>
            <a:endParaRPr lang="fr-FR" sz="9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6" name="Rounded Rectangle 23"/>
          <p:cNvSpPr/>
          <p:nvPr/>
        </p:nvSpPr>
        <p:spPr>
          <a:xfrm>
            <a:off x="594360" y="3648240"/>
            <a:ext cx="2963160" cy="556560"/>
          </a:xfrm>
          <a:prstGeom prst="roundRect">
            <a:avLst>
              <a:gd name="adj" fmla="val 6000"/>
            </a:avLst>
          </a:prstGeom>
          <a:solidFill>
            <a:srgbClr val="2636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27" name="Rectangle 24"/>
          <p:cNvSpPr/>
          <p:nvPr/>
        </p:nvSpPr>
        <p:spPr>
          <a:xfrm>
            <a:off x="594360" y="3648240"/>
            <a:ext cx="33120" cy="556560"/>
          </a:xfrm>
          <a:prstGeom prst="rect">
            <a:avLst/>
          </a:prstGeom>
          <a:solidFill>
            <a:srgbClr val="5B57F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5000" rIns="1656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128" name="Picture 25" descr="icon_panel.png"/>
          <p:cNvPicPr/>
          <p:nvPr/>
        </p:nvPicPr>
        <p:blipFill>
          <a:blip r:embed="rId3"/>
          <a:stretch/>
        </p:blipFill>
        <p:spPr>
          <a:xfrm>
            <a:off x="731520" y="3745440"/>
            <a:ext cx="362160" cy="362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29" name="TextBox 26"/>
          <p:cNvSpPr/>
          <p:nvPr/>
        </p:nvSpPr>
        <p:spPr>
          <a:xfrm>
            <a:off x="1216080" y="3760560"/>
            <a:ext cx="225000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5B57F0"/>
                </a:solidFill>
                <a:effectLst/>
                <a:uFillTx/>
                <a:latin typeface="Roboto"/>
              </a:rPr>
              <a:t>Installed PV capacity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0" name="TextBox 27"/>
          <p:cNvSpPr/>
          <p:nvPr/>
        </p:nvSpPr>
        <p:spPr>
          <a:xfrm>
            <a:off x="1216080" y="3950640"/>
            <a:ext cx="2250000" cy="2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Capacity by region (SDES).</a:t>
            </a:r>
            <a:endParaRPr lang="fr-FR" sz="9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1" name="Rounded Rectangle 28"/>
          <p:cNvSpPr/>
          <p:nvPr/>
        </p:nvSpPr>
        <p:spPr>
          <a:xfrm>
            <a:off x="594360" y="4437000"/>
            <a:ext cx="2963160" cy="556560"/>
          </a:xfrm>
          <a:prstGeom prst="roundRect">
            <a:avLst>
              <a:gd name="adj" fmla="val 6000"/>
            </a:avLst>
          </a:prstGeom>
          <a:solidFill>
            <a:srgbClr val="2636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32" name="Rectangle 29"/>
          <p:cNvSpPr/>
          <p:nvPr/>
        </p:nvSpPr>
        <p:spPr>
          <a:xfrm>
            <a:off x="594360" y="4437000"/>
            <a:ext cx="33120" cy="556560"/>
          </a:xfrm>
          <a:prstGeom prst="rect">
            <a:avLst/>
          </a:prstGeom>
          <a:solidFill>
            <a:srgbClr val="5B57F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5000" rIns="1656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133" name="Picture 30" descr="icon_map.png"/>
          <p:cNvPicPr/>
          <p:nvPr/>
        </p:nvPicPr>
        <p:blipFill>
          <a:blip r:embed="rId4"/>
          <a:stretch/>
        </p:blipFill>
        <p:spPr>
          <a:xfrm>
            <a:off x="731520" y="4534200"/>
            <a:ext cx="362160" cy="362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34" name="TextBox 31"/>
          <p:cNvSpPr/>
          <p:nvPr/>
        </p:nvSpPr>
        <p:spPr>
          <a:xfrm>
            <a:off x="1216080" y="4548960"/>
            <a:ext cx="225000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5B57F0"/>
                </a:solidFill>
                <a:effectLst/>
                <a:uFillTx/>
                <a:latin typeface="Roboto"/>
              </a:rPr>
              <a:t>GeoJ</a:t>
            </a:r>
            <a:r>
              <a:rPr lang="en-US" sz="1250" b="1" u="none" strike="noStrike">
                <a:solidFill>
                  <a:srgbClr val="5B57F0"/>
                </a:solidFill>
                <a:effectLst/>
                <a:uFillTx/>
                <a:latin typeface="Roboto"/>
              </a:rPr>
              <a:t>SON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5" name="TextBox 32"/>
          <p:cNvSpPr/>
          <p:nvPr/>
        </p:nvSpPr>
        <p:spPr>
          <a:xfrm>
            <a:off x="1216080" y="4739400"/>
            <a:ext cx="2250000" cy="2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12 </a:t>
            </a: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French </a:t>
            </a: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regions</a:t>
            </a: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.</a:t>
            </a:r>
            <a:endParaRPr lang="fr-FR" sz="9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6" name="Rounded Rectangle 33"/>
          <p:cNvSpPr/>
          <p:nvPr/>
        </p:nvSpPr>
        <p:spPr>
          <a:xfrm>
            <a:off x="4612680" y="2071080"/>
            <a:ext cx="2963160" cy="556560"/>
          </a:xfrm>
          <a:prstGeom prst="roundRect">
            <a:avLst>
              <a:gd name="adj" fmla="val 6000"/>
            </a:avLst>
          </a:prstGeom>
          <a:solidFill>
            <a:srgbClr val="2636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37" name="Rectangle 34"/>
          <p:cNvSpPr/>
          <p:nvPr/>
        </p:nvSpPr>
        <p:spPr>
          <a:xfrm>
            <a:off x="4612680" y="2071080"/>
            <a:ext cx="33120" cy="556560"/>
          </a:xfrm>
          <a:prstGeom prst="rect">
            <a:avLst/>
          </a:prstGeom>
          <a:solidFill>
            <a:srgbClr val="E67E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5000" rIns="1656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138" name="Picture 35" descr="icon_pin.png"/>
          <p:cNvPicPr/>
          <p:nvPr/>
        </p:nvPicPr>
        <p:blipFill>
          <a:blip r:embed="rId5"/>
          <a:stretch/>
        </p:blipFill>
        <p:spPr>
          <a:xfrm>
            <a:off x="4749840" y="2168280"/>
            <a:ext cx="362160" cy="362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39" name="TextBox 36"/>
          <p:cNvSpPr/>
          <p:nvPr/>
        </p:nvSpPr>
        <p:spPr>
          <a:xfrm>
            <a:off x="5234400" y="2183040"/>
            <a:ext cx="225000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E67E22"/>
                </a:solidFill>
                <a:effectLst/>
                <a:uFillTx/>
                <a:latin typeface="Roboto"/>
              </a:rPr>
              <a:t>Regional mapping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0" name="TextBox 37"/>
          <p:cNvSpPr/>
          <p:nvPr/>
        </p:nvSpPr>
        <p:spPr>
          <a:xfrm>
            <a:off x="5234400" y="2373480"/>
            <a:ext cx="2250000" cy="15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Grid points mapped to regions.</a:t>
            </a:r>
            <a:endParaRPr lang="fr-FR" sz="9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1" name="Down Arrow 38"/>
          <p:cNvSpPr/>
          <p:nvPr/>
        </p:nvSpPr>
        <p:spPr>
          <a:xfrm>
            <a:off x="6059520" y="2699640"/>
            <a:ext cx="69480" cy="8784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E67E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4920" tIns="28080" rIns="34920" bIns="2808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42" name="Rounded Rectangle 39"/>
          <p:cNvSpPr/>
          <p:nvPr/>
        </p:nvSpPr>
        <p:spPr>
          <a:xfrm>
            <a:off x="4612680" y="2859840"/>
            <a:ext cx="2963160" cy="556560"/>
          </a:xfrm>
          <a:prstGeom prst="roundRect">
            <a:avLst>
              <a:gd name="adj" fmla="val 6000"/>
            </a:avLst>
          </a:prstGeom>
          <a:solidFill>
            <a:srgbClr val="2636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43" name="Rectangle 40"/>
          <p:cNvSpPr/>
          <p:nvPr/>
        </p:nvSpPr>
        <p:spPr>
          <a:xfrm>
            <a:off x="4612680" y="2859840"/>
            <a:ext cx="33120" cy="556560"/>
          </a:xfrm>
          <a:prstGeom prst="rect">
            <a:avLst/>
          </a:prstGeom>
          <a:solidFill>
            <a:srgbClr val="E67E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5000" rIns="1656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144" name="Picture 41" descr="icon_refresh.png"/>
          <p:cNvPicPr/>
          <p:nvPr/>
        </p:nvPicPr>
        <p:blipFill>
          <a:blip r:embed="rId6"/>
          <a:stretch/>
        </p:blipFill>
        <p:spPr>
          <a:xfrm>
            <a:off x="4749840" y="2957040"/>
            <a:ext cx="362160" cy="362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45" name="TextBox 42"/>
          <p:cNvSpPr/>
          <p:nvPr/>
        </p:nvSpPr>
        <p:spPr>
          <a:xfrm>
            <a:off x="5234400" y="2971800"/>
            <a:ext cx="225000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E67E22"/>
                </a:solidFill>
                <a:effectLst/>
                <a:uFillTx/>
                <a:latin typeface="Roboto"/>
              </a:rPr>
              <a:t>Data harmonization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6" name="TextBox 43"/>
          <p:cNvSpPr/>
          <p:nvPr/>
        </p:nvSpPr>
        <p:spPr>
          <a:xfrm>
            <a:off x="5234400" y="3162240"/>
            <a:ext cx="2250000" cy="2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Common period: 2020 to 2026.</a:t>
            </a:r>
            <a:endParaRPr lang="fr-FR" sz="9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7" name="Down Arrow 44"/>
          <p:cNvSpPr/>
          <p:nvPr/>
        </p:nvSpPr>
        <p:spPr>
          <a:xfrm>
            <a:off x="6059520" y="3488400"/>
            <a:ext cx="69480" cy="8784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E67E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4920" tIns="28080" rIns="34920" bIns="2808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48" name="Rounded Rectangle 45"/>
          <p:cNvSpPr/>
          <p:nvPr/>
        </p:nvSpPr>
        <p:spPr>
          <a:xfrm>
            <a:off x="4612680" y="3648240"/>
            <a:ext cx="2963160" cy="556560"/>
          </a:xfrm>
          <a:prstGeom prst="roundRect">
            <a:avLst>
              <a:gd name="adj" fmla="val 6000"/>
            </a:avLst>
          </a:prstGeom>
          <a:solidFill>
            <a:srgbClr val="2636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49" name="Rectangle 46"/>
          <p:cNvSpPr/>
          <p:nvPr/>
        </p:nvSpPr>
        <p:spPr>
          <a:xfrm>
            <a:off x="4612680" y="3648240"/>
            <a:ext cx="33120" cy="556560"/>
          </a:xfrm>
          <a:prstGeom prst="rect">
            <a:avLst/>
          </a:prstGeom>
          <a:solidFill>
            <a:srgbClr val="E67E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5000" rIns="1656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150" name="Picture 47" descr="icon_share.png"/>
          <p:cNvPicPr/>
          <p:nvPr/>
        </p:nvPicPr>
        <p:blipFill>
          <a:blip r:embed="rId7"/>
          <a:stretch/>
        </p:blipFill>
        <p:spPr>
          <a:xfrm>
            <a:off x="4749840" y="3745440"/>
            <a:ext cx="362160" cy="362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51" name="TextBox 48"/>
          <p:cNvSpPr/>
          <p:nvPr/>
        </p:nvSpPr>
        <p:spPr>
          <a:xfrm>
            <a:off x="5234400" y="3760560"/>
            <a:ext cx="225000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E67E22"/>
                </a:solidFill>
                <a:effectLst/>
                <a:uFillTx/>
                <a:latin typeface="Roboto"/>
              </a:rPr>
              <a:t>Data integration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2" name="TextBox 49"/>
          <p:cNvSpPr/>
          <p:nvPr/>
        </p:nvSpPr>
        <p:spPr>
          <a:xfrm>
            <a:off x="5234400" y="3950640"/>
            <a:ext cx="2250000" cy="2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Weather + production + capacity.</a:t>
            </a:r>
            <a:endParaRPr lang="fr-FR" sz="9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3" name="Down Arrow 50"/>
          <p:cNvSpPr/>
          <p:nvPr/>
        </p:nvSpPr>
        <p:spPr>
          <a:xfrm>
            <a:off x="6059520" y="4277160"/>
            <a:ext cx="69480" cy="8784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E67E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4920" tIns="28080" rIns="34920" bIns="2808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54" name="Rounded Rectangle 51"/>
          <p:cNvSpPr/>
          <p:nvPr/>
        </p:nvSpPr>
        <p:spPr>
          <a:xfrm>
            <a:off x="4612680" y="4437000"/>
            <a:ext cx="2963160" cy="556560"/>
          </a:xfrm>
          <a:prstGeom prst="roundRect">
            <a:avLst>
              <a:gd name="adj" fmla="val 6000"/>
            </a:avLst>
          </a:prstGeom>
          <a:solidFill>
            <a:srgbClr val="2636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55" name="Rectangle 52"/>
          <p:cNvSpPr/>
          <p:nvPr/>
        </p:nvSpPr>
        <p:spPr>
          <a:xfrm>
            <a:off x="4612680" y="4437000"/>
            <a:ext cx="33120" cy="556560"/>
          </a:xfrm>
          <a:prstGeom prst="rect">
            <a:avLst/>
          </a:prstGeom>
          <a:solidFill>
            <a:srgbClr val="E67E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5000" rIns="1656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156" name="Picture 53" descr="icon_database.png"/>
          <p:cNvPicPr/>
          <p:nvPr/>
        </p:nvPicPr>
        <p:blipFill>
          <a:blip r:embed="rId8"/>
          <a:stretch/>
        </p:blipFill>
        <p:spPr>
          <a:xfrm>
            <a:off x="4749840" y="4534200"/>
            <a:ext cx="362160" cy="362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57" name="TextBox 54"/>
          <p:cNvSpPr/>
          <p:nvPr/>
        </p:nvSpPr>
        <p:spPr>
          <a:xfrm>
            <a:off x="5234400" y="4548960"/>
            <a:ext cx="225000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E67E22"/>
                </a:solidFill>
                <a:effectLst/>
                <a:uFillTx/>
                <a:latin typeface="Roboto"/>
              </a:rPr>
              <a:t>Consolidated dataset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8" name="TextBox 55"/>
          <p:cNvSpPr/>
          <p:nvPr/>
        </p:nvSpPr>
        <p:spPr>
          <a:xfrm>
            <a:off x="5234400" y="4739400"/>
            <a:ext cx="2250000" cy="2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Regio</a:t>
            </a: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n x </a:t>
            </a: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day, </a:t>
            </a: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2020 </a:t>
            </a: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to </a:t>
            </a: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2026.</a:t>
            </a:r>
            <a:endParaRPr lang="fr-FR" sz="9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9" name="Down Arrow 56"/>
          <p:cNvSpPr/>
          <p:nvPr/>
        </p:nvSpPr>
        <p:spPr>
          <a:xfrm>
            <a:off x="6059520" y="5065560"/>
            <a:ext cx="69480" cy="8784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E67E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4920" tIns="28080" rIns="34920" bIns="2808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60" name="Rounded Rectangle 57"/>
          <p:cNvSpPr/>
          <p:nvPr/>
        </p:nvSpPr>
        <p:spPr>
          <a:xfrm>
            <a:off x="4612680" y="5225760"/>
            <a:ext cx="2963160" cy="556560"/>
          </a:xfrm>
          <a:prstGeom prst="roundRect">
            <a:avLst>
              <a:gd name="adj" fmla="val 6000"/>
            </a:avLst>
          </a:prstGeom>
          <a:solidFill>
            <a:srgbClr val="2636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61" name="Rectangle 58"/>
          <p:cNvSpPr/>
          <p:nvPr/>
        </p:nvSpPr>
        <p:spPr>
          <a:xfrm>
            <a:off x="4612680" y="5225760"/>
            <a:ext cx="33120" cy="556560"/>
          </a:xfrm>
          <a:prstGeom prst="rect">
            <a:avLst/>
          </a:prstGeom>
          <a:solidFill>
            <a:srgbClr val="E67E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5000" rIns="1656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162" name="Picture 59" descr="icon_chart.png"/>
          <p:cNvPicPr/>
          <p:nvPr/>
        </p:nvPicPr>
        <p:blipFill>
          <a:blip r:embed="rId9"/>
          <a:stretch/>
        </p:blipFill>
        <p:spPr>
          <a:xfrm>
            <a:off x="4749840" y="5322600"/>
            <a:ext cx="362160" cy="362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63" name="TextBox 60"/>
          <p:cNvSpPr/>
          <p:nvPr/>
        </p:nvSpPr>
        <p:spPr>
          <a:xfrm>
            <a:off x="5234400" y="5337720"/>
            <a:ext cx="225000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E67E22"/>
                </a:solidFill>
                <a:effectLst/>
                <a:uFillTx/>
                <a:latin typeface="Roboto"/>
              </a:rPr>
              <a:t>Exploratory analysis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4" name="TextBox 61"/>
          <p:cNvSpPr/>
          <p:nvPr/>
        </p:nvSpPr>
        <p:spPr>
          <a:xfrm>
            <a:off x="5234400" y="5528160"/>
            <a:ext cx="2250000" cy="2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Correla</a:t>
            </a: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tions, </a:t>
            </a: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trends, </a:t>
            </a: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season</a:t>
            </a: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ality.</a:t>
            </a:r>
            <a:endParaRPr lang="fr-FR" sz="9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5" name="Rounded Rectangle 62"/>
          <p:cNvSpPr/>
          <p:nvPr/>
        </p:nvSpPr>
        <p:spPr>
          <a:xfrm>
            <a:off x="8631000" y="2071080"/>
            <a:ext cx="2963160" cy="556560"/>
          </a:xfrm>
          <a:prstGeom prst="roundRect">
            <a:avLst>
              <a:gd name="adj" fmla="val 6000"/>
            </a:avLst>
          </a:prstGeom>
          <a:solidFill>
            <a:srgbClr val="2636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66" name="Rectangle 63"/>
          <p:cNvSpPr/>
          <p:nvPr/>
        </p:nvSpPr>
        <p:spPr>
          <a:xfrm>
            <a:off x="8631000" y="2071080"/>
            <a:ext cx="33120" cy="556560"/>
          </a:xfrm>
          <a:prstGeom prst="rect">
            <a:avLst/>
          </a:prstGeom>
          <a:solidFill>
            <a:srgbClr val="1FA97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5000" rIns="1656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167" name="Picture 64" descr="icon_gear.png"/>
          <p:cNvPicPr/>
          <p:nvPr/>
        </p:nvPicPr>
        <p:blipFill>
          <a:blip r:embed="rId10"/>
          <a:stretch/>
        </p:blipFill>
        <p:spPr>
          <a:xfrm>
            <a:off x="8768160" y="2168280"/>
            <a:ext cx="362160" cy="362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68" name="TextBox 65"/>
          <p:cNvSpPr/>
          <p:nvPr/>
        </p:nvSpPr>
        <p:spPr>
          <a:xfrm>
            <a:off x="9252720" y="2183040"/>
            <a:ext cx="225000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1FA97A"/>
                </a:solidFill>
                <a:effectLst/>
                <a:uFillTx/>
                <a:latin typeface="Roboto"/>
              </a:rPr>
              <a:t>Machine Learning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9" name="TextBox 66"/>
          <p:cNvSpPr/>
          <p:nvPr/>
        </p:nvSpPr>
        <p:spPr>
          <a:xfrm>
            <a:off x="9252720" y="2373480"/>
            <a:ext cx="2250000" cy="15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Regression modeling.</a:t>
            </a:r>
            <a:endParaRPr lang="fr-FR" sz="9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0" name="Down Arrow 67"/>
          <p:cNvSpPr/>
          <p:nvPr/>
        </p:nvSpPr>
        <p:spPr>
          <a:xfrm>
            <a:off x="10077840" y="2699640"/>
            <a:ext cx="69480" cy="8784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1FA97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4920" tIns="28080" rIns="34920" bIns="2808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71" name="Rounded Rectangle 68"/>
          <p:cNvSpPr/>
          <p:nvPr/>
        </p:nvSpPr>
        <p:spPr>
          <a:xfrm>
            <a:off x="8631000" y="2859840"/>
            <a:ext cx="2963160" cy="556560"/>
          </a:xfrm>
          <a:prstGeom prst="roundRect">
            <a:avLst>
              <a:gd name="adj" fmla="val 6000"/>
            </a:avLst>
          </a:prstGeom>
          <a:solidFill>
            <a:srgbClr val="2636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72" name="Rectangle 69"/>
          <p:cNvSpPr/>
          <p:nvPr/>
        </p:nvSpPr>
        <p:spPr>
          <a:xfrm>
            <a:off x="8631000" y="2859840"/>
            <a:ext cx="33120" cy="556560"/>
          </a:xfrm>
          <a:prstGeom prst="rect">
            <a:avLst/>
          </a:prstGeom>
          <a:solidFill>
            <a:srgbClr val="1FA97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5000" rIns="1656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173" name="Picture 70" descr="icon_sun.png"/>
          <p:cNvPicPr/>
          <p:nvPr/>
        </p:nvPicPr>
        <p:blipFill>
          <a:blip r:embed="rId11"/>
          <a:stretch/>
        </p:blipFill>
        <p:spPr>
          <a:xfrm>
            <a:off x="8768160" y="2957040"/>
            <a:ext cx="362160" cy="362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74" name="TextBox 71"/>
          <p:cNvSpPr/>
          <p:nvPr/>
        </p:nvSpPr>
        <p:spPr>
          <a:xfrm>
            <a:off x="9252720" y="2971800"/>
            <a:ext cx="225000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1FA97A"/>
                </a:solidFill>
                <a:effectLst/>
                <a:uFillTx/>
                <a:latin typeface="Roboto"/>
              </a:rPr>
              <a:t>Radiation forecast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5" name="TextBox 72"/>
          <p:cNvSpPr/>
          <p:nvPr/>
        </p:nvSpPr>
        <p:spPr>
          <a:xfrm>
            <a:off x="9252720" y="3162240"/>
            <a:ext cx="2250000" cy="2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Predict</a:t>
            </a: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s next-</a:t>
            </a: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day </a:t>
            </a: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visible </a:t>
            </a: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radiatio</a:t>
            </a: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n.</a:t>
            </a:r>
            <a:endParaRPr lang="fr-FR" sz="9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6" name="Down Arrow 73"/>
          <p:cNvSpPr/>
          <p:nvPr/>
        </p:nvSpPr>
        <p:spPr>
          <a:xfrm>
            <a:off x="10077840" y="3488400"/>
            <a:ext cx="69480" cy="8784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1FA97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4920" tIns="28080" rIns="34920" bIns="2808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77" name="Rounded Rectangle 74"/>
          <p:cNvSpPr/>
          <p:nvPr/>
        </p:nvSpPr>
        <p:spPr>
          <a:xfrm>
            <a:off x="8631000" y="3648240"/>
            <a:ext cx="2963160" cy="556560"/>
          </a:xfrm>
          <a:prstGeom prst="roundRect">
            <a:avLst>
              <a:gd name="adj" fmla="val 6000"/>
            </a:avLst>
          </a:prstGeom>
          <a:solidFill>
            <a:srgbClr val="2636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78" name="Rectangle 75"/>
          <p:cNvSpPr/>
          <p:nvPr/>
        </p:nvSpPr>
        <p:spPr>
          <a:xfrm>
            <a:off x="8631000" y="3648240"/>
            <a:ext cx="33120" cy="556560"/>
          </a:xfrm>
          <a:prstGeom prst="rect">
            <a:avLst/>
          </a:prstGeom>
          <a:solidFill>
            <a:srgbClr val="1FA97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5000" rIns="1656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179" name="Picture 76" descr="icon_battery.png"/>
          <p:cNvPicPr/>
          <p:nvPr/>
        </p:nvPicPr>
        <p:blipFill>
          <a:blip r:embed="rId12"/>
          <a:stretch/>
        </p:blipFill>
        <p:spPr>
          <a:xfrm>
            <a:off x="8768160" y="3745440"/>
            <a:ext cx="362160" cy="362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80" name="TextBox 77"/>
          <p:cNvSpPr/>
          <p:nvPr/>
        </p:nvSpPr>
        <p:spPr>
          <a:xfrm>
            <a:off x="9252720" y="3760560"/>
            <a:ext cx="225000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1FA97A"/>
                </a:solidFill>
                <a:effectLst/>
                <a:uFillTx/>
                <a:latin typeface="Roboto"/>
              </a:rPr>
              <a:t>Production estimate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1" name="TextBox 78"/>
          <p:cNvSpPr/>
          <p:nvPr/>
        </p:nvSpPr>
        <p:spPr>
          <a:xfrm>
            <a:off x="9252720" y="3950640"/>
            <a:ext cx="2250000" cy="15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Radiation → kWh/m² at 20% efficiency.</a:t>
            </a:r>
            <a:endParaRPr lang="fr-FR" sz="9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182" name="Connector 79"/>
          <p:cNvCxnSpPr/>
          <p:nvPr/>
        </p:nvCxnSpPr>
        <p:spPr>
          <a:xfrm>
            <a:off x="3560760" y="2351160"/>
            <a:ext cx="442800" cy="3600"/>
          </a:xfrm>
          <a:prstGeom prst="straightConnector1">
            <a:avLst/>
          </a:prstGeom>
          <a:ln cap="rnd" w="41275">
            <a:solidFill>
              <a:srgbClr val="5B57F0"/>
            </a:solidFill>
            <a:round/>
          </a:ln>
        </p:spPr>
      </p:cxnSp>
      <p:cxnSp>
        <p:nvCxnSpPr>
          <p:cNvPr id="1183" name="Connector 80"/>
          <p:cNvCxnSpPr/>
          <p:nvPr/>
        </p:nvCxnSpPr>
        <p:spPr>
          <a:xfrm>
            <a:off x="3560760" y="3139560"/>
            <a:ext cx="442800" cy="3600"/>
          </a:xfrm>
          <a:prstGeom prst="straightConnector1">
            <a:avLst/>
          </a:prstGeom>
          <a:ln cap="rnd" w="41275">
            <a:solidFill>
              <a:srgbClr val="5B57F0"/>
            </a:solidFill>
            <a:round/>
          </a:ln>
        </p:spPr>
      </p:cxnSp>
      <p:cxnSp>
        <p:nvCxnSpPr>
          <p:cNvPr id="1184" name="Connector 81"/>
          <p:cNvCxnSpPr/>
          <p:nvPr/>
        </p:nvCxnSpPr>
        <p:spPr>
          <a:xfrm>
            <a:off x="3560760" y="3928320"/>
            <a:ext cx="442800" cy="3600"/>
          </a:xfrm>
          <a:prstGeom prst="straightConnector1">
            <a:avLst/>
          </a:prstGeom>
          <a:ln cap="rnd" w="41275">
            <a:solidFill>
              <a:srgbClr val="5B57F0"/>
            </a:solidFill>
            <a:round/>
          </a:ln>
        </p:spPr>
      </p:cxnSp>
      <p:cxnSp>
        <p:nvCxnSpPr>
          <p:cNvPr id="1185" name="Connector 82"/>
          <p:cNvCxnSpPr/>
          <p:nvPr/>
        </p:nvCxnSpPr>
        <p:spPr>
          <a:xfrm>
            <a:off x="3560760" y="4716720"/>
            <a:ext cx="442800" cy="3600"/>
          </a:xfrm>
          <a:prstGeom prst="straightConnector1">
            <a:avLst/>
          </a:prstGeom>
          <a:ln cap="rnd" w="41275">
            <a:solidFill>
              <a:srgbClr val="5B57F0"/>
            </a:solidFill>
            <a:round/>
          </a:ln>
        </p:spPr>
      </p:cxnSp>
      <p:cxnSp>
        <p:nvCxnSpPr>
          <p:cNvPr id="1186" name="Connector 83"/>
          <p:cNvCxnSpPr/>
          <p:nvPr/>
        </p:nvCxnSpPr>
        <p:spPr>
          <a:xfrm>
            <a:off x="3999960" y="2351160"/>
            <a:ext cx="3600" cy="2369160"/>
          </a:xfrm>
          <a:prstGeom prst="straightConnector1">
            <a:avLst/>
          </a:prstGeom>
          <a:ln cap="rnd" w="41275">
            <a:solidFill>
              <a:srgbClr val="5B57F0"/>
            </a:solidFill>
            <a:round/>
          </a:ln>
        </p:spPr>
      </p:cxnSp>
      <p:cxnSp>
        <p:nvCxnSpPr>
          <p:cNvPr id="1187" name="Connector 84"/>
          <p:cNvCxnSpPr/>
          <p:nvPr/>
        </p:nvCxnSpPr>
        <p:spPr>
          <a:xfrm>
            <a:off x="3999960" y="2351160"/>
            <a:ext cx="615960" cy="3600"/>
          </a:xfrm>
          <a:prstGeom prst="straightConnector1">
            <a:avLst/>
          </a:prstGeom>
          <a:ln cap="rnd" w="41275">
            <a:solidFill>
              <a:srgbClr val="5B57F0"/>
            </a:solidFill>
            <a:round/>
            <a:tailEnd len="med" type="triangle" w="med"/>
          </a:ln>
        </p:spPr>
      </p:cxnSp>
      <p:cxnSp>
        <p:nvCxnSpPr>
          <p:cNvPr id="1188" name="Connector 85"/>
          <p:cNvCxnSpPr/>
          <p:nvPr/>
        </p:nvCxnSpPr>
        <p:spPr>
          <a:xfrm>
            <a:off x="7579080" y="5505480"/>
            <a:ext cx="572760" cy="3600"/>
          </a:xfrm>
          <a:prstGeom prst="straightConnector1">
            <a:avLst/>
          </a:prstGeom>
          <a:ln cap="rnd" w="41275">
            <a:solidFill>
              <a:srgbClr val="1FA97A"/>
            </a:solidFill>
            <a:round/>
          </a:ln>
        </p:spPr>
      </p:cxnSp>
      <p:cxnSp>
        <p:nvCxnSpPr>
          <p:cNvPr id="1189" name="Connector 86"/>
          <p:cNvCxnSpPr/>
          <p:nvPr/>
        </p:nvCxnSpPr>
        <p:spPr>
          <a:xfrm flipV="1">
            <a:off x="8148240" y="2351160"/>
            <a:ext cx="3600" cy="3157920"/>
          </a:xfrm>
          <a:prstGeom prst="straightConnector1">
            <a:avLst/>
          </a:prstGeom>
          <a:ln cap="rnd" w="41275">
            <a:solidFill>
              <a:srgbClr val="1FA97A"/>
            </a:solidFill>
            <a:round/>
          </a:ln>
        </p:spPr>
      </p:cxnSp>
      <p:cxnSp>
        <p:nvCxnSpPr>
          <p:cNvPr id="1190" name="Connector 87"/>
          <p:cNvCxnSpPr/>
          <p:nvPr/>
        </p:nvCxnSpPr>
        <p:spPr>
          <a:xfrm>
            <a:off x="8148240" y="2351160"/>
            <a:ext cx="486000" cy="3600"/>
          </a:xfrm>
          <a:prstGeom prst="straightConnector1">
            <a:avLst/>
          </a:prstGeom>
          <a:ln cap="rnd" w="41275">
            <a:solidFill>
              <a:srgbClr val="1FA97A"/>
            </a:solidFill>
            <a:round/>
            <a:tailEnd len="med" type="triangle" w="med"/>
          </a:ln>
        </p:spPr>
      </p:cxnSp>
      <p:cxnSp>
        <p:nvCxnSpPr>
          <p:cNvPr id="1191" name="Connector 88"/>
          <p:cNvCxnSpPr/>
          <p:nvPr/>
        </p:nvCxnSpPr>
        <p:spPr>
          <a:xfrm>
            <a:off x="548640" y="5943600"/>
            <a:ext cx="10976400" cy="3600"/>
          </a:xfrm>
          <a:prstGeom prst="straightConnector1">
            <a:avLst/>
          </a:prstGeom>
          <a:ln w="9525">
            <a:solidFill>
              <a:srgbClr val="3D4B72"/>
            </a:solidFill>
            <a:round/>
          </a:ln>
        </p:spPr>
      </p:cxnSp>
      <p:sp>
        <p:nvSpPr>
          <p:cNvPr id="1192" name="TextBox 89"/>
          <p:cNvSpPr/>
          <p:nvPr/>
        </p:nvSpPr>
        <p:spPr>
          <a:xfrm>
            <a:off x="457200" y="6172200"/>
            <a:ext cx="8224920" cy="26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Solar Production Forecasting · Machine Learning · Streamlit Dashboard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3" name="TextBox 90"/>
          <p:cNvSpPr/>
          <p:nvPr/>
        </p:nvSpPr>
        <p:spPr>
          <a:xfrm>
            <a:off x="11274480" y="6172200"/>
            <a:ext cx="452520" cy="26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04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4" name="Rectangle 1"/>
          <p:cNvSpPr/>
          <p:nvPr/>
        </p:nvSpPr>
        <p:spPr>
          <a:xfrm>
            <a:off x="0" y="0"/>
            <a:ext cx="12188520" cy="6854400"/>
          </a:xfrm>
          <a:prstGeom prst="rect">
            <a:avLst/>
          </a:prstGeom>
          <a:solidFill>
            <a:srgbClr val="0A0E1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cxnSp>
        <p:nvCxnSpPr>
          <p:cNvPr id="1195" name="GridV901"/>
          <p:cNvCxnSpPr/>
          <p:nvPr/>
        </p:nvCxnSpPr>
        <p:spPr>
          <a:xfrm>
            <a:off x="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196" name="GridV902"/>
          <p:cNvCxnSpPr/>
          <p:nvPr/>
        </p:nvCxnSpPr>
        <p:spPr>
          <a:xfrm>
            <a:off x="3045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197" name="GridV903"/>
          <p:cNvCxnSpPr/>
          <p:nvPr/>
        </p:nvCxnSpPr>
        <p:spPr>
          <a:xfrm>
            <a:off x="6094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198" name="GridV904"/>
          <p:cNvCxnSpPr/>
          <p:nvPr/>
        </p:nvCxnSpPr>
        <p:spPr>
          <a:xfrm>
            <a:off x="9144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199" name="GridV905"/>
          <p:cNvCxnSpPr/>
          <p:nvPr/>
        </p:nvCxnSpPr>
        <p:spPr>
          <a:xfrm>
            <a:off x="12189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00" name="GridV906"/>
          <p:cNvCxnSpPr/>
          <p:nvPr/>
        </p:nvCxnSpPr>
        <p:spPr>
          <a:xfrm>
            <a:off x="15238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01" name="GridV907"/>
          <p:cNvCxnSpPr/>
          <p:nvPr/>
        </p:nvCxnSpPr>
        <p:spPr>
          <a:xfrm>
            <a:off x="18288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02" name="GridV908"/>
          <p:cNvCxnSpPr/>
          <p:nvPr/>
        </p:nvCxnSpPr>
        <p:spPr>
          <a:xfrm>
            <a:off x="21333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03" name="GridV909"/>
          <p:cNvCxnSpPr/>
          <p:nvPr/>
        </p:nvCxnSpPr>
        <p:spPr>
          <a:xfrm>
            <a:off x="24382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04" name="GridV910"/>
          <p:cNvCxnSpPr/>
          <p:nvPr/>
        </p:nvCxnSpPr>
        <p:spPr>
          <a:xfrm>
            <a:off x="27432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05" name="GridV911"/>
          <p:cNvCxnSpPr/>
          <p:nvPr/>
        </p:nvCxnSpPr>
        <p:spPr>
          <a:xfrm>
            <a:off x="30477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06" name="GridV912"/>
          <p:cNvCxnSpPr/>
          <p:nvPr/>
        </p:nvCxnSpPr>
        <p:spPr>
          <a:xfrm>
            <a:off x="33526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07" name="GridV913"/>
          <p:cNvCxnSpPr/>
          <p:nvPr/>
        </p:nvCxnSpPr>
        <p:spPr>
          <a:xfrm>
            <a:off x="36576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08" name="GridV914"/>
          <p:cNvCxnSpPr/>
          <p:nvPr/>
        </p:nvCxnSpPr>
        <p:spPr>
          <a:xfrm>
            <a:off x="39621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09" name="GridV915"/>
          <p:cNvCxnSpPr/>
          <p:nvPr/>
        </p:nvCxnSpPr>
        <p:spPr>
          <a:xfrm>
            <a:off x="42670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10" name="GridV916"/>
          <p:cNvCxnSpPr/>
          <p:nvPr/>
        </p:nvCxnSpPr>
        <p:spPr>
          <a:xfrm>
            <a:off x="45720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11" name="GridV917"/>
          <p:cNvCxnSpPr/>
          <p:nvPr/>
        </p:nvCxnSpPr>
        <p:spPr>
          <a:xfrm>
            <a:off x="48765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12" name="GridV918"/>
          <p:cNvCxnSpPr/>
          <p:nvPr/>
        </p:nvCxnSpPr>
        <p:spPr>
          <a:xfrm>
            <a:off x="51814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13" name="GridV919"/>
          <p:cNvCxnSpPr/>
          <p:nvPr/>
        </p:nvCxnSpPr>
        <p:spPr>
          <a:xfrm>
            <a:off x="54864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14" name="GridV920"/>
          <p:cNvCxnSpPr/>
          <p:nvPr/>
        </p:nvCxnSpPr>
        <p:spPr>
          <a:xfrm>
            <a:off x="57909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15" name="GridV921"/>
          <p:cNvCxnSpPr/>
          <p:nvPr/>
        </p:nvCxnSpPr>
        <p:spPr>
          <a:xfrm>
            <a:off x="60958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16" name="GridV922"/>
          <p:cNvCxnSpPr/>
          <p:nvPr/>
        </p:nvCxnSpPr>
        <p:spPr>
          <a:xfrm>
            <a:off x="64008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17" name="GridV923"/>
          <p:cNvCxnSpPr/>
          <p:nvPr/>
        </p:nvCxnSpPr>
        <p:spPr>
          <a:xfrm>
            <a:off x="67053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18" name="GridV924"/>
          <p:cNvCxnSpPr/>
          <p:nvPr/>
        </p:nvCxnSpPr>
        <p:spPr>
          <a:xfrm>
            <a:off x="70102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19" name="GridV925"/>
          <p:cNvCxnSpPr/>
          <p:nvPr/>
        </p:nvCxnSpPr>
        <p:spPr>
          <a:xfrm>
            <a:off x="73152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20" name="GridV926"/>
          <p:cNvCxnSpPr/>
          <p:nvPr/>
        </p:nvCxnSpPr>
        <p:spPr>
          <a:xfrm>
            <a:off x="76197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21" name="GridV927"/>
          <p:cNvCxnSpPr/>
          <p:nvPr/>
        </p:nvCxnSpPr>
        <p:spPr>
          <a:xfrm>
            <a:off x="79246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22" name="GridV928"/>
          <p:cNvCxnSpPr/>
          <p:nvPr/>
        </p:nvCxnSpPr>
        <p:spPr>
          <a:xfrm>
            <a:off x="82296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23" name="GridV929"/>
          <p:cNvCxnSpPr/>
          <p:nvPr/>
        </p:nvCxnSpPr>
        <p:spPr>
          <a:xfrm>
            <a:off x="85341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24" name="GridV930"/>
          <p:cNvCxnSpPr/>
          <p:nvPr/>
        </p:nvCxnSpPr>
        <p:spPr>
          <a:xfrm>
            <a:off x="88390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25" name="GridV931"/>
          <p:cNvCxnSpPr/>
          <p:nvPr/>
        </p:nvCxnSpPr>
        <p:spPr>
          <a:xfrm>
            <a:off x="91440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26" name="GridV932"/>
          <p:cNvCxnSpPr/>
          <p:nvPr/>
        </p:nvCxnSpPr>
        <p:spPr>
          <a:xfrm>
            <a:off x="94485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27" name="GridV933"/>
          <p:cNvCxnSpPr/>
          <p:nvPr/>
        </p:nvCxnSpPr>
        <p:spPr>
          <a:xfrm>
            <a:off x="97534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28" name="GridV934"/>
          <p:cNvCxnSpPr/>
          <p:nvPr/>
        </p:nvCxnSpPr>
        <p:spPr>
          <a:xfrm>
            <a:off x="100584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29" name="GridV935"/>
          <p:cNvCxnSpPr/>
          <p:nvPr/>
        </p:nvCxnSpPr>
        <p:spPr>
          <a:xfrm>
            <a:off x="103629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30" name="GridV936"/>
          <p:cNvCxnSpPr/>
          <p:nvPr/>
        </p:nvCxnSpPr>
        <p:spPr>
          <a:xfrm>
            <a:off x="106678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31" name="GridV937"/>
          <p:cNvCxnSpPr/>
          <p:nvPr/>
        </p:nvCxnSpPr>
        <p:spPr>
          <a:xfrm>
            <a:off x="109728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32" name="GridV938"/>
          <p:cNvCxnSpPr/>
          <p:nvPr/>
        </p:nvCxnSpPr>
        <p:spPr>
          <a:xfrm>
            <a:off x="112773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33" name="GridV939"/>
          <p:cNvCxnSpPr/>
          <p:nvPr/>
        </p:nvCxnSpPr>
        <p:spPr>
          <a:xfrm>
            <a:off x="115822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34" name="GridV940"/>
          <p:cNvCxnSpPr/>
          <p:nvPr/>
        </p:nvCxnSpPr>
        <p:spPr>
          <a:xfrm>
            <a:off x="118872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35" name="GridV941"/>
          <p:cNvCxnSpPr/>
          <p:nvPr/>
        </p:nvCxnSpPr>
        <p:spPr>
          <a:xfrm>
            <a:off x="121917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36" name="GridH942"/>
          <p:cNvCxnSpPr/>
          <p:nvPr/>
        </p:nvCxnSpPr>
        <p:spPr>
          <a:xfrm>
            <a:off x="0" y="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37" name="GridH943"/>
          <p:cNvCxnSpPr/>
          <p:nvPr/>
        </p:nvCxnSpPr>
        <p:spPr>
          <a:xfrm>
            <a:off x="0" y="3045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38" name="GridH944"/>
          <p:cNvCxnSpPr/>
          <p:nvPr/>
        </p:nvCxnSpPr>
        <p:spPr>
          <a:xfrm>
            <a:off x="0" y="60948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39" name="GridH945"/>
          <p:cNvCxnSpPr/>
          <p:nvPr/>
        </p:nvCxnSpPr>
        <p:spPr>
          <a:xfrm>
            <a:off x="0" y="91440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40" name="GridH946"/>
          <p:cNvCxnSpPr/>
          <p:nvPr/>
        </p:nvCxnSpPr>
        <p:spPr>
          <a:xfrm>
            <a:off x="0" y="12189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41" name="GridH947"/>
          <p:cNvCxnSpPr/>
          <p:nvPr/>
        </p:nvCxnSpPr>
        <p:spPr>
          <a:xfrm>
            <a:off x="0" y="152388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42" name="GridH948"/>
          <p:cNvCxnSpPr/>
          <p:nvPr/>
        </p:nvCxnSpPr>
        <p:spPr>
          <a:xfrm>
            <a:off x="0" y="182880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43" name="GridH949"/>
          <p:cNvCxnSpPr/>
          <p:nvPr/>
        </p:nvCxnSpPr>
        <p:spPr>
          <a:xfrm>
            <a:off x="0" y="21333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44" name="GridH950"/>
          <p:cNvCxnSpPr/>
          <p:nvPr/>
        </p:nvCxnSpPr>
        <p:spPr>
          <a:xfrm>
            <a:off x="0" y="243828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45" name="GridH951"/>
          <p:cNvCxnSpPr/>
          <p:nvPr/>
        </p:nvCxnSpPr>
        <p:spPr>
          <a:xfrm>
            <a:off x="0" y="274320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46" name="GridH952"/>
          <p:cNvCxnSpPr/>
          <p:nvPr/>
        </p:nvCxnSpPr>
        <p:spPr>
          <a:xfrm>
            <a:off x="0" y="30477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47" name="GridH953"/>
          <p:cNvCxnSpPr/>
          <p:nvPr/>
        </p:nvCxnSpPr>
        <p:spPr>
          <a:xfrm>
            <a:off x="0" y="335268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48" name="GridH954"/>
          <p:cNvCxnSpPr/>
          <p:nvPr/>
        </p:nvCxnSpPr>
        <p:spPr>
          <a:xfrm>
            <a:off x="0" y="365760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49" name="GridH955"/>
          <p:cNvCxnSpPr/>
          <p:nvPr/>
        </p:nvCxnSpPr>
        <p:spPr>
          <a:xfrm>
            <a:off x="0" y="39621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50" name="GridH956"/>
          <p:cNvCxnSpPr/>
          <p:nvPr/>
        </p:nvCxnSpPr>
        <p:spPr>
          <a:xfrm>
            <a:off x="0" y="426708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51" name="GridH957"/>
          <p:cNvCxnSpPr/>
          <p:nvPr/>
        </p:nvCxnSpPr>
        <p:spPr>
          <a:xfrm>
            <a:off x="0" y="457200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52" name="GridH958"/>
          <p:cNvCxnSpPr/>
          <p:nvPr/>
        </p:nvCxnSpPr>
        <p:spPr>
          <a:xfrm>
            <a:off x="0" y="48765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53" name="GridH959"/>
          <p:cNvCxnSpPr/>
          <p:nvPr/>
        </p:nvCxnSpPr>
        <p:spPr>
          <a:xfrm>
            <a:off x="0" y="518148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54" name="GridH960"/>
          <p:cNvCxnSpPr/>
          <p:nvPr/>
        </p:nvCxnSpPr>
        <p:spPr>
          <a:xfrm>
            <a:off x="0" y="548640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55" name="GridH961"/>
          <p:cNvCxnSpPr/>
          <p:nvPr/>
        </p:nvCxnSpPr>
        <p:spPr>
          <a:xfrm>
            <a:off x="0" y="57909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56" name="GridH962"/>
          <p:cNvCxnSpPr/>
          <p:nvPr/>
        </p:nvCxnSpPr>
        <p:spPr>
          <a:xfrm>
            <a:off x="0" y="609588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57" name="GridH963"/>
          <p:cNvCxnSpPr/>
          <p:nvPr/>
        </p:nvCxnSpPr>
        <p:spPr>
          <a:xfrm>
            <a:off x="0" y="640080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58" name="GridH964"/>
          <p:cNvCxnSpPr/>
          <p:nvPr/>
        </p:nvCxnSpPr>
        <p:spPr>
          <a:xfrm>
            <a:off x="0" y="67053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sp>
        <p:nvSpPr>
          <p:cNvPr id="1259" name="TextBox 2"/>
          <p:cNvSpPr/>
          <p:nvPr/>
        </p:nvSpPr>
        <p:spPr>
          <a:xfrm>
            <a:off x="502920" y="411480"/>
            <a:ext cx="7996320" cy="26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pc="201" strike="noStrike">
                <a:solidFill>
                  <a:srgbClr val="818CF8"/>
                </a:solidFill>
                <a:effectLst/>
                <a:uFillTx/>
                <a:latin typeface="Roboto"/>
              </a:rPr>
              <a:t>03 · EXPLORATORY ANALYSIS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0" name="TextBox 3"/>
          <p:cNvSpPr/>
          <p:nvPr/>
        </p:nvSpPr>
        <p:spPr>
          <a:xfrm>
            <a:off x="502920" y="658440"/>
            <a:ext cx="10995480" cy="68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What explains </a:t>
            </a: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solar production</a:t>
            </a:r>
            <a:endParaRPr lang="fr-F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1" name="TextBox 4"/>
          <p:cNvSpPr/>
          <p:nvPr/>
        </p:nvSpPr>
        <p:spPr>
          <a:xfrm>
            <a:off x="502920" y="1404000"/>
            <a:ext cx="1099656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Correlations between weather variables and production per capacity, across 26,676 observations.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2" name="Rounded Rectangle 7"/>
          <p:cNvSpPr/>
          <p:nvPr/>
        </p:nvSpPr>
        <p:spPr>
          <a:xfrm>
            <a:off x="7360920" y="1828800"/>
            <a:ext cx="4324680" cy="1196280"/>
          </a:xfrm>
          <a:prstGeom prst="roundRect">
            <a:avLst>
              <a:gd name="adj" fmla="val 6000"/>
            </a:avLst>
          </a:prstGeom>
          <a:solidFill>
            <a:srgbClr val="2636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3" name="TextBox 8"/>
          <p:cNvSpPr/>
          <p:nvPr/>
        </p:nvSpPr>
        <p:spPr>
          <a:xfrm>
            <a:off x="7589520" y="1965960"/>
            <a:ext cx="1296360" cy="49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818CF8"/>
                </a:solidFill>
                <a:effectLst/>
                <a:uFillTx/>
                <a:latin typeface="Roboto"/>
              </a:rPr>
              <a:t>0.93</a:t>
            </a:r>
            <a:endParaRPr lang="fr-F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4" name="TextBox 9"/>
          <p:cNvSpPr/>
          <p:nvPr/>
        </p:nvSpPr>
        <p:spPr>
          <a:xfrm>
            <a:off x="8960760" y="1983960"/>
            <a:ext cx="249444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Visible radiation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5" name="TextBox 10"/>
          <p:cNvSpPr/>
          <p:nvPr/>
        </p:nvSpPr>
        <p:spPr>
          <a:xfrm>
            <a:off x="8960760" y="2388960"/>
            <a:ext cx="2494440" cy="59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0000"/>
              </a:lnSpc>
            </a:pPr>
            <a:r>
              <a:rPr lang="en-US" sz="10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Strong</a:t>
            </a:r>
            <a:r>
              <a:rPr lang="en-US" sz="10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est </a:t>
            </a:r>
            <a:r>
              <a:rPr lang="en-US" sz="10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correlat</a:t>
            </a:r>
            <a:r>
              <a:rPr lang="en-US" sz="10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ion </a:t>
            </a:r>
            <a:r>
              <a:rPr lang="en-US" sz="10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with </a:t>
            </a:r>
            <a:r>
              <a:rPr lang="en-US" sz="10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product</a:t>
            </a:r>
            <a:r>
              <a:rPr lang="en-US" sz="10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ion.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6" name="Rounded Rectangle 11"/>
          <p:cNvSpPr/>
          <p:nvPr/>
        </p:nvSpPr>
        <p:spPr>
          <a:xfrm>
            <a:off x="7360920" y="3193920"/>
            <a:ext cx="4324680" cy="1196280"/>
          </a:xfrm>
          <a:prstGeom prst="roundRect">
            <a:avLst>
              <a:gd name="adj" fmla="val 6000"/>
            </a:avLst>
          </a:prstGeom>
          <a:solidFill>
            <a:srgbClr val="2636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7" name="TextBox 12"/>
          <p:cNvSpPr/>
          <p:nvPr/>
        </p:nvSpPr>
        <p:spPr>
          <a:xfrm>
            <a:off x="7589520" y="3331080"/>
            <a:ext cx="1296360" cy="49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818CF8"/>
                </a:solidFill>
                <a:effectLst/>
                <a:uFillTx/>
                <a:latin typeface="Roboto"/>
              </a:rPr>
              <a:t>-0.</a:t>
            </a:r>
            <a:r>
              <a:rPr lang="en-US" sz="2200" b="1" u="none" strike="noStrike">
                <a:solidFill>
                  <a:srgbClr val="818CF8"/>
                </a:solidFill>
                <a:effectLst/>
                <a:uFillTx/>
                <a:latin typeface="Roboto"/>
              </a:rPr>
              <a:t>75</a:t>
            </a:r>
            <a:endParaRPr lang="fr-F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8" name="TextBox 13"/>
          <p:cNvSpPr/>
          <p:nvPr/>
        </p:nvSpPr>
        <p:spPr>
          <a:xfrm>
            <a:off x="8960760" y="3348720"/>
            <a:ext cx="249444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Relative humidity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9" name="TextBox 14"/>
          <p:cNvSpPr/>
          <p:nvPr/>
        </p:nvSpPr>
        <p:spPr>
          <a:xfrm>
            <a:off x="8960760" y="3753720"/>
            <a:ext cx="2494440" cy="59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0000"/>
              </a:lnSpc>
            </a:pPr>
            <a:r>
              <a:rPr lang="en-US" sz="10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Negative correlation (cloudier sky).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0" name="Rounded Rectangle 15"/>
          <p:cNvSpPr/>
          <p:nvPr/>
        </p:nvSpPr>
        <p:spPr>
          <a:xfrm>
            <a:off x="7360920" y="4558680"/>
            <a:ext cx="4324680" cy="1196280"/>
          </a:xfrm>
          <a:prstGeom prst="roundRect">
            <a:avLst>
              <a:gd name="adj" fmla="val 6000"/>
            </a:avLst>
          </a:prstGeom>
          <a:solidFill>
            <a:srgbClr val="2636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1" name="TextBox 16"/>
          <p:cNvSpPr/>
          <p:nvPr/>
        </p:nvSpPr>
        <p:spPr>
          <a:xfrm>
            <a:off x="7589520" y="4695840"/>
            <a:ext cx="1296360" cy="49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818CF8"/>
                </a:solidFill>
                <a:effectLst/>
                <a:uFillTx/>
                <a:latin typeface="Roboto"/>
              </a:rPr>
              <a:t>0.8</a:t>
            </a:r>
            <a:r>
              <a:rPr lang="en-US" sz="2200" b="1" u="none" strike="noStrike">
                <a:solidFill>
                  <a:srgbClr val="818CF8"/>
                </a:solidFill>
                <a:effectLst/>
                <a:uFillTx/>
                <a:latin typeface="Roboto"/>
              </a:rPr>
              <a:t>7</a:t>
            </a:r>
            <a:endParaRPr lang="fr-F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2" name="TextBox 17"/>
          <p:cNvSpPr/>
          <p:nvPr/>
        </p:nvSpPr>
        <p:spPr>
          <a:xfrm>
            <a:off x="8960760" y="4713840"/>
            <a:ext cx="249444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Potential evapotranspiration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3" name="TextBox 18"/>
          <p:cNvSpPr/>
          <p:nvPr/>
        </p:nvSpPr>
        <p:spPr>
          <a:xfrm>
            <a:off x="8960760" y="5118840"/>
            <a:ext cx="2494440" cy="59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0000"/>
              </a:lnSpc>
            </a:pPr>
            <a:r>
              <a:rPr lang="en-US" sz="10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Strong </a:t>
            </a:r>
            <a:r>
              <a:rPr lang="en-US" sz="10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positiv</a:t>
            </a:r>
            <a:r>
              <a:rPr lang="en-US" sz="10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e </a:t>
            </a:r>
            <a:r>
              <a:rPr lang="en-US" sz="10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correlat</a:t>
            </a:r>
            <a:r>
              <a:rPr lang="en-US" sz="10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ion, </a:t>
            </a:r>
            <a:r>
              <a:rPr lang="en-US" sz="10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tied to </a:t>
            </a:r>
            <a:r>
              <a:rPr lang="en-US" sz="10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sunshi</a:t>
            </a:r>
            <a:r>
              <a:rPr lang="en-US" sz="10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ne.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274" name="Connector 19"/>
          <p:cNvCxnSpPr/>
          <p:nvPr/>
        </p:nvCxnSpPr>
        <p:spPr>
          <a:xfrm>
            <a:off x="548640" y="5943600"/>
            <a:ext cx="10976400" cy="3600"/>
          </a:xfrm>
          <a:prstGeom prst="straightConnector1">
            <a:avLst/>
          </a:prstGeom>
          <a:ln w="9525">
            <a:solidFill>
              <a:srgbClr val="3D4B72"/>
            </a:solidFill>
            <a:round/>
          </a:ln>
        </p:spPr>
      </p:cxnSp>
      <p:sp>
        <p:nvSpPr>
          <p:cNvPr id="1275" name="TextBox 20"/>
          <p:cNvSpPr/>
          <p:nvPr/>
        </p:nvSpPr>
        <p:spPr>
          <a:xfrm>
            <a:off x="457200" y="6172200"/>
            <a:ext cx="8224920" cy="26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Solar Production </a:t>
            </a: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Forecasting · Machine </a:t>
            </a: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Learning · Streamlit </a:t>
            </a: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Dashboard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6" name="TextBox 21"/>
          <p:cNvSpPr/>
          <p:nvPr/>
        </p:nvSpPr>
        <p:spPr>
          <a:xfrm>
            <a:off x="11274480" y="6172200"/>
            <a:ext cx="452520" cy="26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05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7" name="Rounded Rectangle 964"/>
          <p:cNvSpPr/>
          <p:nvPr/>
        </p:nvSpPr>
        <p:spPr>
          <a:xfrm>
            <a:off x="502920" y="1828800"/>
            <a:ext cx="6580080" cy="3928320"/>
          </a:xfrm>
          <a:prstGeom prst="roundRect">
            <a:avLst>
              <a:gd name="adj" fmla="val 1860"/>
            </a:avLst>
          </a:prstGeom>
          <a:solidFill>
            <a:srgbClr val="2636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8" name="TextBox 965"/>
          <p:cNvSpPr/>
          <p:nvPr/>
        </p:nvSpPr>
        <p:spPr>
          <a:xfrm>
            <a:off x="502920" y="1901880"/>
            <a:ext cx="658008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Correl</a:t>
            </a: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ation </a:t>
            </a: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Matrix </a:t>
            </a: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| </a:t>
            </a: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Meteo</a:t>
            </a: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rologic</a:t>
            </a: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al </a:t>
            </a: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Variab</a:t>
            </a: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les vs </a:t>
            </a: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Solar </a:t>
            </a: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Produ</a:t>
            </a: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ction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9" name="TextBox 966"/>
          <p:cNvSpPr/>
          <p:nvPr/>
        </p:nvSpPr>
        <p:spPr>
          <a:xfrm>
            <a:off x="731520" y="2340720"/>
            <a:ext cx="837720" cy="18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 anchorCtr="1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DCE0EB"/>
                </a:solidFill>
                <a:effectLst/>
                <a:uFillTx/>
                <a:latin typeface="Calibri"/>
              </a:rPr>
              <a:t>Snowfall</a:t>
            </a:r>
            <a:endParaRPr lang="fr-F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0" name="TextBox 967"/>
          <p:cNvSpPr/>
          <p:nvPr/>
        </p:nvSpPr>
        <p:spPr>
          <a:xfrm>
            <a:off x="731520" y="2561040"/>
            <a:ext cx="837720" cy="18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 anchorCtr="1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DCE0EB"/>
                </a:solidFill>
                <a:effectLst/>
                <a:uFillTx/>
                <a:latin typeface="Calibri"/>
              </a:rPr>
              <a:t>Rainfall</a:t>
            </a:r>
            <a:endParaRPr lang="fr-F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1" name="TextBox 968"/>
          <p:cNvSpPr/>
          <p:nvPr/>
        </p:nvSpPr>
        <p:spPr>
          <a:xfrm>
            <a:off x="731520" y="2781360"/>
            <a:ext cx="837720" cy="18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 anchorCtr="1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DCE0EB"/>
                </a:solidFill>
                <a:effectLst/>
                <a:uFillTx/>
                <a:latin typeface="Calibri"/>
              </a:rPr>
              <a:t>Avg Temp</a:t>
            </a:r>
            <a:endParaRPr lang="fr-F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2" name="TextBox 969"/>
          <p:cNvSpPr/>
          <p:nvPr/>
        </p:nvSpPr>
        <p:spPr>
          <a:xfrm>
            <a:off x="731520" y="3001320"/>
            <a:ext cx="837720" cy="18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 anchorCtr="1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DCE0EB"/>
                </a:solidFill>
                <a:effectLst/>
                <a:uFillTx/>
                <a:latin typeface="Calibri"/>
              </a:rPr>
              <a:t>Wind </a:t>
            </a:r>
            <a:r>
              <a:rPr lang="en-US" sz="800" b="0" u="none" strike="noStrike">
                <a:solidFill>
                  <a:srgbClr val="DCE0EB"/>
                </a:solidFill>
                <a:effectLst/>
                <a:uFillTx/>
                <a:latin typeface="Calibri"/>
              </a:rPr>
              <a:t>Speed</a:t>
            </a:r>
            <a:endParaRPr lang="fr-F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3" name="TextBox 970"/>
          <p:cNvSpPr/>
          <p:nvPr/>
        </p:nvSpPr>
        <p:spPr>
          <a:xfrm>
            <a:off x="731520" y="3221640"/>
            <a:ext cx="837720" cy="18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 anchorCtr="1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DCE0EB"/>
                </a:solidFill>
                <a:effectLst/>
                <a:uFillTx/>
                <a:latin typeface="Calibri"/>
              </a:rPr>
              <a:t>Spec. Humidity</a:t>
            </a:r>
            <a:endParaRPr lang="fr-F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4" name="TextBox 971"/>
          <p:cNvSpPr/>
          <p:nvPr/>
        </p:nvSpPr>
        <p:spPr>
          <a:xfrm>
            <a:off x="731520" y="3441960"/>
            <a:ext cx="837720" cy="18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 anchorCtr="1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DCE0EB"/>
                </a:solidFill>
                <a:effectLst/>
                <a:uFillTx/>
                <a:latin typeface="Calibri"/>
              </a:rPr>
              <a:t>Atm. Radiation</a:t>
            </a:r>
            <a:endParaRPr lang="fr-F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5" name="TextBox 972"/>
          <p:cNvSpPr/>
          <p:nvPr/>
        </p:nvSpPr>
        <p:spPr>
          <a:xfrm>
            <a:off x="731520" y="3661920"/>
            <a:ext cx="837720" cy="18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 anchorCtr="1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DCE0EB"/>
                </a:solidFill>
                <a:effectLst/>
                <a:uFillTx/>
                <a:latin typeface="Calibri"/>
              </a:rPr>
              <a:t>Visible Rad.</a:t>
            </a:r>
            <a:endParaRPr lang="fr-F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6" name="TextBox 973"/>
          <p:cNvSpPr/>
          <p:nvPr/>
        </p:nvSpPr>
        <p:spPr>
          <a:xfrm>
            <a:off x="731520" y="3882240"/>
            <a:ext cx="837720" cy="18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 anchorCtr="1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DCE0EB"/>
                </a:solidFill>
                <a:effectLst/>
                <a:uFillTx/>
                <a:latin typeface="Calibri"/>
              </a:rPr>
              <a:t>Rel. Humidity</a:t>
            </a:r>
            <a:endParaRPr lang="fr-F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7" name="TextBox 974"/>
          <p:cNvSpPr/>
          <p:nvPr/>
        </p:nvSpPr>
        <p:spPr>
          <a:xfrm>
            <a:off x="731520" y="4102560"/>
            <a:ext cx="837720" cy="18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 anchorCtr="1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DCE0EB"/>
                </a:solidFill>
                <a:effectLst/>
                <a:uFillTx/>
                <a:latin typeface="Calibri"/>
              </a:rPr>
              <a:t>Total ET</a:t>
            </a:r>
            <a:endParaRPr lang="fr-F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8" name="TextBox 975"/>
          <p:cNvSpPr/>
          <p:nvPr/>
        </p:nvSpPr>
        <p:spPr>
          <a:xfrm>
            <a:off x="731520" y="4322520"/>
            <a:ext cx="837720" cy="18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 anchorCtr="1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DCE0EB"/>
                </a:solidFill>
                <a:effectLst/>
                <a:uFillTx/>
                <a:latin typeface="Calibri"/>
              </a:rPr>
              <a:t>Potential ET</a:t>
            </a:r>
            <a:endParaRPr lang="fr-F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9" name="TextBox 976"/>
          <p:cNvSpPr/>
          <p:nvPr/>
        </p:nvSpPr>
        <p:spPr>
          <a:xfrm>
            <a:off x="731520" y="4542840"/>
            <a:ext cx="837720" cy="18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 anchorCtr="1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DCE0EB"/>
                </a:solidFill>
                <a:effectLst/>
                <a:uFillTx/>
                <a:latin typeface="Calibri"/>
              </a:rPr>
              <a:t>Prod / </a:t>
            </a:r>
            <a:r>
              <a:rPr lang="en-US" sz="800" b="0" u="none" strike="noStrike">
                <a:solidFill>
                  <a:srgbClr val="DCE0EB"/>
                </a:solidFill>
                <a:effectLst/>
                <a:uFillTx/>
                <a:latin typeface="Calibri"/>
              </a:rPr>
              <a:t>Capacity</a:t>
            </a:r>
            <a:endParaRPr lang="fr-F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0" name="Rounded Rectangle 977"/>
          <p:cNvSpPr/>
          <p:nvPr/>
        </p:nvSpPr>
        <p:spPr>
          <a:xfrm>
            <a:off x="1645920" y="2340720"/>
            <a:ext cx="441000" cy="184680"/>
          </a:xfrm>
          <a:prstGeom prst="roundRect">
            <a:avLst>
              <a:gd name="adj" fmla="val 12000"/>
            </a:avLst>
          </a:prstGeom>
          <a:solidFill>
            <a:srgbClr val="7F0B2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1.00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1" name="Rounded Rectangle 978"/>
          <p:cNvSpPr/>
          <p:nvPr/>
        </p:nvSpPr>
        <p:spPr>
          <a:xfrm>
            <a:off x="2122560" y="2340720"/>
            <a:ext cx="441000" cy="184680"/>
          </a:xfrm>
          <a:prstGeom prst="roundRect">
            <a:avLst>
              <a:gd name="adj" fmla="val 12000"/>
            </a:avLst>
          </a:prstGeom>
          <a:solidFill>
            <a:srgbClr val="50474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0.27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2" name="Rounded Rectangle 979"/>
          <p:cNvSpPr/>
          <p:nvPr/>
        </p:nvSpPr>
        <p:spPr>
          <a:xfrm>
            <a:off x="2599560" y="2340720"/>
            <a:ext cx="441000" cy="184680"/>
          </a:xfrm>
          <a:prstGeom prst="roundRect">
            <a:avLst>
              <a:gd name="adj" fmla="val 12000"/>
            </a:avLst>
          </a:prstGeom>
          <a:solidFill>
            <a:srgbClr val="3C476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-0.23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3" name="Rounded Rectangle 980"/>
          <p:cNvSpPr/>
          <p:nvPr/>
        </p:nvSpPr>
        <p:spPr>
          <a:xfrm>
            <a:off x="3076200" y="2340720"/>
            <a:ext cx="441000" cy="184680"/>
          </a:xfrm>
          <a:prstGeom prst="roundRect">
            <a:avLst>
              <a:gd name="adj" fmla="val 12000"/>
            </a:avLst>
          </a:prstGeom>
          <a:solidFill>
            <a:srgbClr val="34384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0.07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4" name="Rounded Rectangle 981"/>
          <p:cNvSpPr/>
          <p:nvPr/>
        </p:nvSpPr>
        <p:spPr>
          <a:xfrm>
            <a:off x="3552840" y="2340720"/>
            <a:ext cx="441000" cy="184680"/>
          </a:xfrm>
          <a:prstGeom prst="roundRect">
            <a:avLst>
              <a:gd name="adj" fmla="val 12000"/>
            </a:avLst>
          </a:prstGeom>
          <a:solidFill>
            <a:srgbClr val="39435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-0.18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5" name="Rounded Rectangle 982"/>
          <p:cNvSpPr/>
          <p:nvPr/>
        </p:nvSpPr>
        <p:spPr>
          <a:xfrm>
            <a:off x="4029480" y="2340720"/>
            <a:ext cx="441000" cy="184680"/>
          </a:xfrm>
          <a:prstGeom prst="roundRect">
            <a:avLst>
              <a:gd name="adj" fmla="val 12000"/>
            </a:avLst>
          </a:prstGeom>
          <a:solidFill>
            <a:srgbClr val="353D5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-0.11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6" name="Rounded Rectangle 983"/>
          <p:cNvSpPr/>
          <p:nvPr/>
        </p:nvSpPr>
        <p:spPr>
          <a:xfrm>
            <a:off x="4506480" y="2340720"/>
            <a:ext cx="441000" cy="184680"/>
          </a:xfrm>
          <a:prstGeom prst="roundRect">
            <a:avLst>
              <a:gd name="adj" fmla="val 12000"/>
            </a:avLst>
          </a:prstGeom>
          <a:solidFill>
            <a:srgbClr val="39435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-0.18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7" name="Rounded Rectangle 984"/>
          <p:cNvSpPr/>
          <p:nvPr/>
        </p:nvSpPr>
        <p:spPr>
          <a:xfrm>
            <a:off x="4983120" y="2340720"/>
            <a:ext cx="441000" cy="184680"/>
          </a:xfrm>
          <a:prstGeom prst="roundRect">
            <a:avLst>
              <a:gd name="adj" fmla="val 12000"/>
            </a:avLst>
          </a:prstGeom>
          <a:solidFill>
            <a:srgbClr val="3D3D4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0.13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8" name="Rounded Rectangle 985"/>
          <p:cNvSpPr/>
          <p:nvPr/>
        </p:nvSpPr>
        <p:spPr>
          <a:xfrm>
            <a:off x="5459760" y="2340720"/>
            <a:ext cx="441000" cy="184680"/>
          </a:xfrm>
          <a:prstGeom prst="roundRect">
            <a:avLst>
              <a:gd name="adj" fmla="val 12000"/>
            </a:avLst>
          </a:prstGeom>
          <a:solidFill>
            <a:srgbClr val="373F5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-0.14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9" name="Rounded Rectangle 986"/>
          <p:cNvSpPr/>
          <p:nvPr/>
        </p:nvSpPr>
        <p:spPr>
          <a:xfrm>
            <a:off x="5936400" y="2340720"/>
            <a:ext cx="441000" cy="184680"/>
          </a:xfrm>
          <a:prstGeom prst="roundRect">
            <a:avLst>
              <a:gd name="adj" fmla="val 12000"/>
            </a:avLst>
          </a:prstGeom>
          <a:solidFill>
            <a:srgbClr val="39425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-0.17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0" name="Rounded Rectangle 987"/>
          <p:cNvSpPr/>
          <p:nvPr/>
        </p:nvSpPr>
        <p:spPr>
          <a:xfrm>
            <a:off x="6413400" y="2340720"/>
            <a:ext cx="441000" cy="184680"/>
          </a:xfrm>
          <a:prstGeom prst="roundRect">
            <a:avLst>
              <a:gd name="adj" fmla="val 12000"/>
            </a:avLst>
          </a:prstGeom>
          <a:solidFill>
            <a:srgbClr val="3B465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-0.21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1" name="Rounded Rectangle 988"/>
          <p:cNvSpPr/>
          <p:nvPr/>
        </p:nvSpPr>
        <p:spPr>
          <a:xfrm>
            <a:off x="1645920" y="2561040"/>
            <a:ext cx="441000" cy="184680"/>
          </a:xfrm>
          <a:prstGeom prst="roundRect">
            <a:avLst>
              <a:gd name="adj" fmla="val 12000"/>
            </a:avLst>
          </a:prstGeom>
          <a:solidFill>
            <a:srgbClr val="50474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0.27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2" name="Rounded Rectangle 989"/>
          <p:cNvSpPr/>
          <p:nvPr/>
        </p:nvSpPr>
        <p:spPr>
          <a:xfrm>
            <a:off x="2122560" y="2561040"/>
            <a:ext cx="441000" cy="184680"/>
          </a:xfrm>
          <a:prstGeom prst="roundRect">
            <a:avLst>
              <a:gd name="adj" fmla="val 12000"/>
            </a:avLst>
          </a:prstGeom>
          <a:solidFill>
            <a:srgbClr val="7F0B2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1.00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3" name="Rounded Rectangle 990"/>
          <p:cNvSpPr/>
          <p:nvPr/>
        </p:nvSpPr>
        <p:spPr>
          <a:xfrm>
            <a:off x="2599560" y="2561040"/>
            <a:ext cx="441000" cy="184680"/>
          </a:xfrm>
          <a:prstGeom prst="roundRect">
            <a:avLst>
              <a:gd name="adj" fmla="val 12000"/>
            </a:avLst>
          </a:prstGeom>
          <a:solidFill>
            <a:srgbClr val="2D324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0.01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4" name="Rounded Rectangle 991"/>
          <p:cNvSpPr/>
          <p:nvPr/>
        </p:nvSpPr>
        <p:spPr>
          <a:xfrm>
            <a:off x="3076200" y="2561040"/>
            <a:ext cx="441000" cy="184680"/>
          </a:xfrm>
          <a:prstGeom prst="roundRect">
            <a:avLst>
              <a:gd name="adj" fmla="val 12000"/>
            </a:avLst>
          </a:prstGeom>
          <a:solidFill>
            <a:srgbClr val="50474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0.27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5" name="Rounded Rectangle 992"/>
          <p:cNvSpPr/>
          <p:nvPr/>
        </p:nvSpPr>
        <p:spPr>
          <a:xfrm>
            <a:off x="3552840" y="2561040"/>
            <a:ext cx="441000" cy="184680"/>
          </a:xfrm>
          <a:prstGeom prst="roundRect">
            <a:avLst>
              <a:gd name="adj" fmla="val 12000"/>
            </a:avLst>
          </a:prstGeom>
          <a:solidFill>
            <a:srgbClr val="3F3F4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0.15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6" name="Rounded Rectangle 993"/>
          <p:cNvSpPr/>
          <p:nvPr/>
        </p:nvSpPr>
        <p:spPr>
          <a:xfrm>
            <a:off x="4029480" y="2561040"/>
            <a:ext cx="441000" cy="184680"/>
          </a:xfrm>
          <a:prstGeom prst="roundRect">
            <a:avLst>
              <a:gd name="adj" fmla="val 12000"/>
            </a:avLst>
          </a:prstGeom>
          <a:solidFill>
            <a:srgbClr val="50474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0.27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7" name="Rounded Rectangle 994"/>
          <p:cNvSpPr/>
          <p:nvPr/>
        </p:nvSpPr>
        <p:spPr>
          <a:xfrm>
            <a:off x="4506480" y="2561040"/>
            <a:ext cx="441000" cy="184680"/>
          </a:xfrm>
          <a:prstGeom prst="roundRect">
            <a:avLst>
              <a:gd name="adj" fmla="val 12000"/>
            </a:avLst>
          </a:prstGeom>
          <a:solidFill>
            <a:srgbClr val="404C6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-0.30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8" name="Rounded Rectangle 995"/>
          <p:cNvSpPr/>
          <p:nvPr/>
        </p:nvSpPr>
        <p:spPr>
          <a:xfrm>
            <a:off x="4983120" y="2561040"/>
            <a:ext cx="441000" cy="184680"/>
          </a:xfrm>
          <a:prstGeom prst="roundRect">
            <a:avLst>
              <a:gd name="adj" fmla="val 12000"/>
            </a:avLst>
          </a:prstGeom>
          <a:solidFill>
            <a:srgbClr val="5A4B4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0.35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9" name="Rounded Rectangle 996"/>
          <p:cNvSpPr/>
          <p:nvPr/>
        </p:nvSpPr>
        <p:spPr>
          <a:xfrm>
            <a:off x="5459760" y="2561040"/>
            <a:ext cx="441000" cy="184680"/>
          </a:xfrm>
          <a:prstGeom prst="roundRect">
            <a:avLst>
              <a:gd name="adj" fmla="val 12000"/>
            </a:avLst>
          </a:prstGeom>
          <a:solidFill>
            <a:srgbClr val="32394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-0.07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0" name="Rounded Rectangle 997"/>
          <p:cNvSpPr/>
          <p:nvPr/>
        </p:nvSpPr>
        <p:spPr>
          <a:xfrm>
            <a:off x="5936400" y="2561040"/>
            <a:ext cx="441000" cy="184680"/>
          </a:xfrm>
          <a:prstGeom prst="roundRect">
            <a:avLst>
              <a:gd name="adj" fmla="val 12000"/>
            </a:avLst>
          </a:prstGeom>
          <a:solidFill>
            <a:srgbClr val="3B45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-0.20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1" name="Rounded Rectangle 998"/>
          <p:cNvSpPr/>
          <p:nvPr/>
        </p:nvSpPr>
        <p:spPr>
          <a:xfrm>
            <a:off x="6413400" y="2561040"/>
            <a:ext cx="441000" cy="184680"/>
          </a:xfrm>
          <a:prstGeom prst="roundRect">
            <a:avLst>
              <a:gd name="adj" fmla="val 12000"/>
            </a:avLst>
          </a:prstGeom>
          <a:solidFill>
            <a:srgbClr val="414E6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-0.33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2" name="Rounded Rectangle 999"/>
          <p:cNvSpPr/>
          <p:nvPr/>
        </p:nvSpPr>
        <p:spPr>
          <a:xfrm>
            <a:off x="1645920" y="2781360"/>
            <a:ext cx="441000" cy="184680"/>
          </a:xfrm>
          <a:prstGeom prst="roundRect">
            <a:avLst>
              <a:gd name="adj" fmla="val 12000"/>
            </a:avLst>
          </a:prstGeom>
          <a:solidFill>
            <a:srgbClr val="3C476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-0.23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3" name="Rounded Rectangle 1000"/>
          <p:cNvSpPr/>
          <p:nvPr/>
        </p:nvSpPr>
        <p:spPr>
          <a:xfrm>
            <a:off x="2122560" y="2781360"/>
            <a:ext cx="441000" cy="184680"/>
          </a:xfrm>
          <a:prstGeom prst="roundRect">
            <a:avLst>
              <a:gd name="adj" fmla="val 12000"/>
            </a:avLst>
          </a:prstGeom>
          <a:solidFill>
            <a:srgbClr val="2D324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0.01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4" name="Rounded Rectangle 1001"/>
          <p:cNvSpPr/>
          <p:nvPr/>
        </p:nvSpPr>
        <p:spPr>
          <a:xfrm>
            <a:off x="2599560" y="2781360"/>
            <a:ext cx="441000" cy="184680"/>
          </a:xfrm>
          <a:prstGeom prst="roundRect">
            <a:avLst>
              <a:gd name="adj" fmla="val 12000"/>
            </a:avLst>
          </a:prstGeom>
          <a:solidFill>
            <a:srgbClr val="7F0B2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1.00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5" name="Rounded Rectangle 1002"/>
          <p:cNvSpPr/>
          <p:nvPr/>
        </p:nvSpPr>
        <p:spPr>
          <a:xfrm>
            <a:off x="3076200" y="2781360"/>
            <a:ext cx="441000" cy="184680"/>
          </a:xfrm>
          <a:prstGeom prst="roundRect">
            <a:avLst>
              <a:gd name="adj" fmla="val 12000"/>
            </a:avLst>
          </a:prstGeom>
          <a:solidFill>
            <a:srgbClr val="373F5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-0.14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6" name="Rounded Rectangle 1003"/>
          <p:cNvSpPr/>
          <p:nvPr/>
        </p:nvSpPr>
        <p:spPr>
          <a:xfrm>
            <a:off x="3552840" y="2781360"/>
            <a:ext cx="441000" cy="184680"/>
          </a:xfrm>
          <a:prstGeom prst="roundRect">
            <a:avLst>
              <a:gd name="adj" fmla="val 12000"/>
            </a:avLst>
          </a:prstGeom>
          <a:solidFill>
            <a:srgbClr val="81263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0.92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7" name="Rounded Rectangle 1004"/>
          <p:cNvSpPr/>
          <p:nvPr/>
        </p:nvSpPr>
        <p:spPr>
          <a:xfrm>
            <a:off x="4029480" y="2781360"/>
            <a:ext cx="441000" cy="184680"/>
          </a:xfrm>
          <a:prstGeom prst="roundRect">
            <a:avLst>
              <a:gd name="adj" fmla="val 12000"/>
            </a:avLst>
          </a:prstGeom>
          <a:solidFill>
            <a:srgbClr val="7F3D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0.77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8" name="Rounded Rectangle 1005"/>
          <p:cNvSpPr/>
          <p:nvPr/>
        </p:nvSpPr>
        <p:spPr>
          <a:xfrm>
            <a:off x="4506480" y="2781360"/>
            <a:ext cx="441000" cy="184680"/>
          </a:xfrm>
          <a:prstGeom prst="roundRect">
            <a:avLst>
              <a:gd name="adj" fmla="val 12000"/>
            </a:avLst>
          </a:prstGeom>
          <a:solidFill>
            <a:srgbClr val="79474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0.65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9" name="Rounded Rectangle 1006"/>
          <p:cNvSpPr/>
          <p:nvPr/>
        </p:nvSpPr>
        <p:spPr>
          <a:xfrm>
            <a:off x="4983120" y="2781360"/>
            <a:ext cx="441000" cy="184680"/>
          </a:xfrm>
          <a:prstGeom prst="roundRect">
            <a:avLst>
              <a:gd name="adj" fmla="val 12000"/>
            </a:avLst>
          </a:prstGeom>
          <a:solidFill>
            <a:srgbClr val="43537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-0.42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0" name="Rounded Rectangle 1007"/>
          <p:cNvSpPr/>
          <p:nvPr/>
        </p:nvSpPr>
        <p:spPr>
          <a:xfrm>
            <a:off x="5459760" y="2781360"/>
            <a:ext cx="441000" cy="184680"/>
          </a:xfrm>
          <a:prstGeom prst="roundRect">
            <a:avLst>
              <a:gd name="adj" fmla="val 12000"/>
            </a:avLst>
          </a:prstGeom>
          <a:solidFill>
            <a:srgbClr val="754A4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0.60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1" name="Rounded Rectangle 1008"/>
          <p:cNvSpPr/>
          <p:nvPr/>
        </p:nvSpPr>
        <p:spPr>
          <a:xfrm>
            <a:off x="5936400" y="2781360"/>
            <a:ext cx="441000" cy="184680"/>
          </a:xfrm>
          <a:prstGeom prst="roundRect">
            <a:avLst>
              <a:gd name="adj" fmla="val 12000"/>
            </a:avLst>
          </a:prstGeom>
          <a:solidFill>
            <a:srgbClr val="8039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0.80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2" name="Rounded Rectangle 1009"/>
          <p:cNvSpPr/>
          <p:nvPr/>
        </p:nvSpPr>
        <p:spPr>
          <a:xfrm>
            <a:off x="6413400" y="2781360"/>
            <a:ext cx="441000" cy="184680"/>
          </a:xfrm>
          <a:prstGeom prst="roundRect">
            <a:avLst>
              <a:gd name="adj" fmla="val 12000"/>
            </a:avLst>
          </a:prstGeom>
          <a:solidFill>
            <a:srgbClr val="77494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0.62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3" name="Rounded Rectangle 1010"/>
          <p:cNvSpPr/>
          <p:nvPr/>
        </p:nvSpPr>
        <p:spPr>
          <a:xfrm>
            <a:off x="1645920" y="3001320"/>
            <a:ext cx="441000" cy="184680"/>
          </a:xfrm>
          <a:prstGeom prst="roundRect">
            <a:avLst>
              <a:gd name="adj" fmla="val 12000"/>
            </a:avLst>
          </a:prstGeom>
          <a:solidFill>
            <a:srgbClr val="34384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0.07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4" name="Rounded Rectangle 1011"/>
          <p:cNvSpPr/>
          <p:nvPr/>
        </p:nvSpPr>
        <p:spPr>
          <a:xfrm>
            <a:off x="2122560" y="3001320"/>
            <a:ext cx="441000" cy="184680"/>
          </a:xfrm>
          <a:prstGeom prst="roundRect">
            <a:avLst>
              <a:gd name="adj" fmla="val 12000"/>
            </a:avLst>
          </a:prstGeom>
          <a:solidFill>
            <a:srgbClr val="50474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0.27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5" name="Rounded Rectangle 1012"/>
          <p:cNvSpPr/>
          <p:nvPr/>
        </p:nvSpPr>
        <p:spPr>
          <a:xfrm>
            <a:off x="2599560" y="3001320"/>
            <a:ext cx="441000" cy="184680"/>
          </a:xfrm>
          <a:prstGeom prst="roundRect">
            <a:avLst>
              <a:gd name="adj" fmla="val 12000"/>
            </a:avLst>
          </a:prstGeom>
          <a:solidFill>
            <a:srgbClr val="373F5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-0.14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6" name="Rounded Rectangle 1013"/>
          <p:cNvSpPr/>
          <p:nvPr/>
        </p:nvSpPr>
        <p:spPr>
          <a:xfrm>
            <a:off x="3076200" y="3001320"/>
            <a:ext cx="441000" cy="184680"/>
          </a:xfrm>
          <a:prstGeom prst="roundRect">
            <a:avLst>
              <a:gd name="adj" fmla="val 12000"/>
            </a:avLst>
          </a:prstGeom>
          <a:solidFill>
            <a:srgbClr val="7F0B2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1.00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7" name="Rounded Rectangle 1014"/>
          <p:cNvSpPr/>
          <p:nvPr/>
        </p:nvSpPr>
        <p:spPr>
          <a:xfrm>
            <a:off x="3552840" y="3001320"/>
            <a:ext cx="441000" cy="184680"/>
          </a:xfrm>
          <a:prstGeom prst="roundRect">
            <a:avLst>
              <a:gd name="adj" fmla="val 12000"/>
            </a:avLst>
          </a:prstGeom>
          <a:solidFill>
            <a:srgbClr val="373F5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-0.14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8" name="Rounded Rectangle 1015"/>
          <p:cNvSpPr/>
          <p:nvPr/>
        </p:nvSpPr>
        <p:spPr>
          <a:xfrm>
            <a:off x="4029480" y="3001320"/>
            <a:ext cx="441000" cy="184680"/>
          </a:xfrm>
          <a:prstGeom prst="roundRect">
            <a:avLst>
              <a:gd name="adj" fmla="val 12000"/>
            </a:avLst>
          </a:prstGeom>
          <a:solidFill>
            <a:srgbClr val="32394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-0.07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9" name="Rounded Rectangle 1016"/>
          <p:cNvSpPr/>
          <p:nvPr/>
        </p:nvSpPr>
        <p:spPr>
          <a:xfrm>
            <a:off x="4506480" y="3001320"/>
            <a:ext cx="441000" cy="184680"/>
          </a:xfrm>
          <a:prstGeom prst="roundRect">
            <a:avLst>
              <a:gd name="adj" fmla="val 12000"/>
            </a:avLst>
          </a:prstGeom>
          <a:solidFill>
            <a:srgbClr val="404C6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-0.30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0" name="Rounded Rectangle 1017"/>
          <p:cNvSpPr/>
          <p:nvPr/>
        </p:nvSpPr>
        <p:spPr>
          <a:xfrm>
            <a:off x="4983120" y="3001320"/>
            <a:ext cx="441000" cy="184680"/>
          </a:xfrm>
          <a:prstGeom prst="roundRect">
            <a:avLst>
              <a:gd name="adj" fmla="val 12000"/>
            </a:avLst>
          </a:prstGeom>
          <a:solidFill>
            <a:srgbClr val="42404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0.17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1" name="Rounded Rectangle 1018"/>
          <p:cNvSpPr/>
          <p:nvPr/>
        </p:nvSpPr>
        <p:spPr>
          <a:xfrm>
            <a:off x="5459760" y="3001320"/>
            <a:ext cx="441000" cy="184680"/>
          </a:xfrm>
          <a:prstGeom prst="roundRect">
            <a:avLst>
              <a:gd name="adj" fmla="val 12000"/>
            </a:avLst>
          </a:prstGeom>
          <a:solidFill>
            <a:srgbClr val="353D5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-0.12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2" name="Rounded Rectangle 1019"/>
          <p:cNvSpPr/>
          <p:nvPr/>
        </p:nvSpPr>
        <p:spPr>
          <a:xfrm>
            <a:off x="5936400" y="3001320"/>
            <a:ext cx="441000" cy="184680"/>
          </a:xfrm>
          <a:prstGeom prst="roundRect">
            <a:avLst>
              <a:gd name="adj" fmla="val 12000"/>
            </a:avLst>
          </a:prstGeom>
          <a:solidFill>
            <a:srgbClr val="39435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-0.18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3" name="Rounded Rectangle 1020"/>
          <p:cNvSpPr/>
          <p:nvPr/>
        </p:nvSpPr>
        <p:spPr>
          <a:xfrm>
            <a:off x="6413400" y="3001320"/>
            <a:ext cx="441000" cy="184680"/>
          </a:xfrm>
          <a:prstGeom prst="roundRect">
            <a:avLst>
              <a:gd name="adj" fmla="val 12000"/>
            </a:avLst>
          </a:prstGeom>
          <a:solidFill>
            <a:srgbClr val="404D6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-0.31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4" name="Rounded Rectangle 1021"/>
          <p:cNvSpPr/>
          <p:nvPr/>
        </p:nvSpPr>
        <p:spPr>
          <a:xfrm>
            <a:off x="1645920" y="3221640"/>
            <a:ext cx="441000" cy="184680"/>
          </a:xfrm>
          <a:prstGeom prst="roundRect">
            <a:avLst>
              <a:gd name="adj" fmla="val 12000"/>
            </a:avLst>
          </a:prstGeom>
          <a:solidFill>
            <a:srgbClr val="39435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-0.18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5" name="Rounded Rectangle 1022"/>
          <p:cNvSpPr/>
          <p:nvPr/>
        </p:nvSpPr>
        <p:spPr>
          <a:xfrm>
            <a:off x="2122560" y="3221640"/>
            <a:ext cx="441000" cy="184680"/>
          </a:xfrm>
          <a:prstGeom prst="roundRect">
            <a:avLst>
              <a:gd name="adj" fmla="val 12000"/>
            </a:avLst>
          </a:prstGeom>
          <a:solidFill>
            <a:srgbClr val="3F3F4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0.15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6" name="Rounded Rectangle 1023"/>
          <p:cNvSpPr/>
          <p:nvPr/>
        </p:nvSpPr>
        <p:spPr>
          <a:xfrm>
            <a:off x="2599560" y="3221640"/>
            <a:ext cx="441000" cy="184680"/>
          </a:xfrm>
          <a:prstGeom prst="roundRect">
            <a:avLst>
              <a:gd name="adj" fmla="val 12000"/>
            </a:avLst>
          </a:prstGeom>
          <a:solidFill>
            <a:srgbClr val="81263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0.92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7" name="Rounded Rectangle 1024"/>
          <p:cNvSpPr/>
          <p:nvPr/>
        </p:nvSpPr>
        <p:spPr>
          <a:xfrm>
            <a:off x="3076200" y="3221640"/>
            <a:ext cx="441000" cy="184680"/>
          </a:xfrm>
          <a:prstGeom prst="roundRect">
            <a:avLst>
              <a:gd name="adj" fmla="val 12000"/>
            </a:avLst>
          </a:prstGeom>
          <a:solidFill>
            <a:srgbClr val="373F5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-0.14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8" name="Rounded Rectangle 1025"/>
          <p:cNvSpPr/>
          <p:nvPr/>
        </p:nvSpPr>
        <p:spPr>
          <a:xfrm>
            <a:off x="3552840" y="3221640"/>
            <a:ext cx="441000" cy="184680"/>
          </a:xfrm>
          <a:prstGeom prst="roundRect">
            <a:avLst>
              <a:gd name="adj" fmla="val 12000"/>
            </a:avLst>
          </a:prstGeom>
          <a:solidFill>
            <a:srgbClr val="7F0B2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1.00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9" name="Rounded Rectangle 1026"/>
          <p:cNvSpPr/>
          <p:nvPr/>
        </p:nvSpPr>
        <p:spPr>
          <a:xfrm>
            <a:off x="4029480" y="3221640"/>
            <a:ext cx="441000" cy="184680"/>
          </a:xfrm>
          <a:prstGeom prst="roundRect">
            <a:avLst>
              <a:gd name="adj" fmla="val 12000"/>
            </a:avLst>
          </a:prstGeom>
          <a:solidFill>
            <a:srgbClr val="81293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0.90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0" name="Rounded Rectangle 1027"/>
          <p:cNvSpPr/>
          <p:nvPr/>
        </p:nvSpPr>
        <p:spPr>
          <a:xfrm>
            <a:off x="4506480" y="3221640"/>
            <a:ext cx="441000" cy="184680"/>
          </a:xfrm>
          <a:prstGeom prst="roundRect">
            <a:avLst>
              <a:gd name="adj" fmla="val 12000"/>
            </a:avLst>
          </a:prstGeom>
          <a:solidFill>
            <a:srgbClr val="634C4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0.42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1" name="Rounded Rectangle 1028"/>
          <p:cNvSpPr/>
          <p:nvPr/>
        </p:nvSpPr>
        <p:spPr>
          <a:xfrm>
            <a:off x="4983120" y="3221640"/>
            <a:ext cx="441000" cy="184680"/>
          </a:xfrm>
          <a:prstGeom prst="roundRect">
            <a:avLst>
              <a:gd name="adj" fmla="val 12000"/>
            </a:avLst>
          </a:prstGeom>
          <a:solidFill>
            <a:srgbClr val="353D5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-0.11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2" name="Rounded Rectangle 1029"/>
          <p:cNvSpPr/>
          <p:nvPr/>
        </p:nvSpPr>
        <p:spPr>
          <a:xfrm>
            <a:off x="5459760" y="3221640"/>
            <a:ext cx="441000" cy="184680"/>
          </a:xfrm>
          <a:prstGeom prst="roundRect">
            <a:avLst>
              <a:gd name="adj" fmla="val 12000"/>
            </a:avLst>
          </a:prstGeom>
          <a:solidFill>
            <a:srgbClr val="6A4C4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0.48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3" name="Rounded Rectangle 1030"/>
          <p:cNvSpPr/>
          <p:nvPr/>
        </p:nvSpPr>
        <p:spPr>
          <a:xfrm>
            <a:off x="5936400" y="3221640"/>
            <a:ext cx="441000" cy="184680"/>
          </a:xfrm>
          <a:prstGeom prst="roundRect">
            <a:avLst>
              <a:gd name="adj" fmla="val 12000"/>
            </a:avLst>
          </a:prstGeom>
          <a:solidFill>
            <a:srgbClr val="744A4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0.59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4" name="Rounded Rectangle 1031"/>
          <p:cNvSpPr/>
          <p:nvPr/>
        </p:nvSpPr>
        <p:spPr>
          <a:xfrm>
            <a:off x="6413400" y="3221640"/>
            <a:ext cx="441000" cy="184680"/>
          </a:xfrm>
          <a:prstGeom prst="roundRect">
            <a:avLst>
              <a:gd name="adj" fmla="val 12000"/>
            </a:avLst>
          </a:prstGeom>
          <a:solidFill>
            <a:srgbClr val="624C4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0.41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5" name="Rounded Rectangle 1032"/>
          <p:cNvSpPr/>
          <p:nvPr/>
        </p:nvSpPr>
        <p:spPr>
          <a:xfrm>
            <a:off x="1645920" y="3441960"/>
            <a:ext cx="441000" cy="184680"/>
          </a:xfrm>
          <a:prstGeom prst="roundRect">
            <a:avLst>
              <a:gd name="adj" fmla="val 12000"/>
            </a:avLst>
          </a:prstGeom>
          <a:solidFill>
            <a:srgbClr val="353D5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-0.11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6" name="Rounded Rectangle 1033"/>
          <p:cNvSpPr/>
          <p:nvPr/>
        </p:nvSpPr>
        <p:spPr>
          <a:xfrm>
            <a:off x="2122560" y="3441960"/>
            <a:ext cx="441000" cy="184680"/>
          </a:xfrm>
          <a:prstGeom prst="roundRect">
            <a:avLst>
              <a:gd name="adj" fmla="val 12000"/>
            </a:avLst>
          </a:prstGeom>
          <a:solidFill>
            <a:srgbClr val="50474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0.27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7" name="Rounded Rectangle 1034"/>
          <p:cNvSpPr/>
          <p:nvPr/>
        </p:nvSpPr>
        <p:spPr>
          <a:xfrm>
            <a:off x="2599560" y="3441960"/>
            <a:ext cx="441000" cy="184680"/>
          </a:xfrm>
          <a:prstGeom prst="roundRect">
            <a:avLst>
              <a:gd name="adj" fmla="val 12000"/>
            </a:avLst>
          </a:prstGeom>
          <a:solidFill>
            <a:srgbClr val="7F3D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0.77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8" name="Rounded Rectangle 1035"/>
          <p:cNvSpPr/>
          <p:nvPr/>
        </p:nvSpPr>
        <p:spPr>
          <a:xfrm>
            <a:off x="3076200" y="3441960"/>
            <a:ext cx="441000" cy="184680"/>
          </a:xfrm>
          <a:prstGeom prst="roundRect">
            <a:avLst>
              <a:gd name="adj" fmla="val 12000"/>
            </a:avLst>
          </a:prstGeom>
          <a:solidFill>
            <a:srgbClr val="32394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-0.07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9" name="Rounded Rectangle 1036"/>
          <p:cNvSpPr/>
          <p:nvPr/>
        </p:nvSpPr>
        <p:spPr>
          <a:xfrm>
            <a:off x="3552840" y="3441960"/>
            <a:ext cx="441000" cy="184680"/>
          </a:xfrm>
          <a:prstGeom prst="roundRect">
            <a:avLst>
              <a:gd name="adj" fmla="val 12000"/>
            </a:avLst>
          </a:prstGeom>
          <a:solidFill>
            <a:srgbClr val="81293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0.90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0" name="Rounded Rectangle 1037"/>
          <p:cNvSpPr/>
          <p:nvPr/>
        </p:nvSpPr>
        <p:spPr>
          <a:xfrm>
            <a:off x="4029480" y="3441960"/>
            <a:ext cx="441000" cy="184680"/>
          </a:xfrm>
          <a:prstGeom prst="roundRect">
            <a:avLst>
              <a:gd name="adj" fmla="val 12000"/>
            </a:avLst>
          </a:prstGeom>
          <a:solidFill>
            <a:srgbClr val="7F0B2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1.00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1" name="Rounded Rectangle 1038"/>
          <p:cNvSpPr/>
          <p:nvPr/>
        </p:nvSpPr>
        <p:spPr>
          <a:xfrm>
            <a:off x="4506480" y="3441960"/>
            <a:ext cx="441000" cy="184680"/>
          </a:xfrm>
          <a:prstGeom prst="roundRect">
            <a:avLst>
              <a:gd name="adj" fmla="val 12000"/>
            </a:avLst>
          </a:prstGeom>
          <a:solidFill>
            <a:srgbClr val="41404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0.16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2" name="Rounded Rectangle 1039"/>
          <p:cNvSpPr/>
          <p:nvPr/>
        </p:nvSpPr>
        <p:spPr>
          <a:xfrm>
            <a:off x="4983120" y="3441960"/>
            <a:ext cx="441000" cy="184680"/>
          </a:xfrm>
          <a:prstGeom prst="roundRect">
            <a:avLst>
              <a:gd name="adj" fmla="val 12000"/>
            </a:avLst>
          </a:prstGeom>
          <a:solidFill>
            <a:srgbClr val="45424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0.19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3" name="Rounded Rectangle 1040"/>
          <p:cNvSpPr/>
          <p:nvPr/>
        </p:nvSpPr>
        <p:spPr>
          <a:xfrm>
            <a:off x="5459760" y="3441960"/>
            <a:ext cx="441000" cy="184680"/>
          </a:xfrm>
          <a:prstGeom prst="roundRect">
            <a:avLst>
              <a:gd name="adj" fmla="val 12000"/>
            </a:avLst>
          </a:prstGeom>
          <a:solidFill>
            <a:srgbClr val="51484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0.28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4" name="Rounded Rectangle 1041"/>
          <p:cNvSpPr/>
          <p:nvPr/>
        </p:nvSpPr>
        <p:spPr>
          <a:xfrm>
            <a:off x="5936400" y="3441960"/>
            <a:ext cx="441000" cy="184680"/>
          </a:xfrm>
          <a:prstGeom prst="roundRect">
            <a:avLst>
              <a:gd name="adj" fmla="val 12000"/>
            </a:avLst>
          </a:prstGeom>
          <a:solidFill>
            <a:srgbClr val="5A4B4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0.35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5" name="Rounded Rectangle 1042"/>
          <p:cNvSpPr/>
          <p:nvPr/>
        </p:nvSpPr>
        <p:spPr>
          <a:xfrm>
            <a:off x="6413400" y="3441960"/>
            <a:ext cx="441000" cy="184680"/>
          </a:xfrm>
          <a:prstGeom prst="roundRect">
            <a:avLst>
              <a:gd name="adj" fmla="val 12000"/>
            </a:avLst>
          </a:prstGeom>
          <a:solidFill>
            <a:srgbClr val="3E3E4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0.14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6" name="Rounded Rectangle 1043"/>
          <p:cNvSpPr/>
          <p:nvPr/>
        </p:nvSpPr>
        <p:spPr>
          <a:xfrm>
            <a:off x="1645920" y="3661920"/>
            <a:ext cx="441000" cy="184680"/>
          </a:xfrm>
          <a:prstGeom prst="roundRect">
            <a:avLst>
              <a:gd name="adj" fmla="val 12000"/>
            </a:avLst>
          </a:prstGeom>
          <a:solidFill>
            <a:srgbClr val="39435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-0.18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7" name="Rounded Rectangle 1044"/>
          <p:cNvSpPr/>
          <p:nvPr/>
        </p:nvSpPr>
        <p:spPr>
          <a:xfrm>
            <a:off x="2122560" y="3661920"/>
            <a:ext cx="441000" cy="184680"/>
          </a:xfrm>
          <a:prstGeom prst="roundRect">
            <a:avLst>
              <a:gd name="adj" fmla="val 12000"/>
            </a:avLst>
          </a:prstGeom>
          <a:solidFill>
            <a:srgbClr val="404C6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-0.30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8" name="Rounded Rectangle 1045"/>
          <p:cNvSpPr/>
          <p:nvPr/>
        </p:nvSpPr>
        <p:spPr>
          <a:xfrm>
            <a:off x="2599560" y="3661920"/>
            <a:ext cx="441000" cy="184680"/>
          </a:xfrm>
          <a:prstGeom prst="roundRect">
            <a:avLst>
              <a:gd name="adj" fmla="val 12000"/>
            </a:avLst>
          </a:prstGeom>
          <a:solidFill>
            <a:srgbClr val="79474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0.65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9" name="Rounded Rectangle 1046"/>
          <p:cNvSpPr/>
          <p:nvPr/>
        </p:nvSpPr>
        <p:spPr>
          <a:xfrm>
            <a:off x="3076200" y="3661920"/>
            <a:ext cx="441000" cy="184680"/>
          </a:xfrm>
          <a:prstGeom prst="roundRect">
            <a:avLst>
              <a:gd name="adj" fmla="val 12000"/>
            </a:avLst>
          </a:prstGeom>
          <a:solidFill>
            <a:srgbClr val="404C6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-0.30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0" name="Rounded Rectangle 1047"/>
          <p:cNvSpPr/>
          <p:nvPr/>
        </p:nvSpPr>
        <p:spPr>
          <a:xfrm>
            <a:off x="3552840" y="3661920"/>
            <a:ext cx="441000" cy="184680"/>
          </a:xfrm>
          <a:prstGeom prst="roundRect">
            <a:avLst>
              <a:gd name="adj" fmla="val 12000"/>
            </a:avLst>
          </a:prstGeom>
          <a:solidFill>
            <a:srgbClr val="634C4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0.42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1" name="Rounded Rectangle 1048"/>
          <p:cNvSpPr/>
          <p:nvPr/>
        </p:nvSpPr>
        <p:spPr>
          <a:xfrm>
            <a:off x="4029480" y="3661920"/>
            <a:ext cx="441000" cy="184680"/>
          </a:xfrm>
          <a:prstGeom prst="roundRect">
            <a:avLst>
              <a:gd name="adj" fmla="val 12000"/>
            </a:avLst>
          </a:prstGeom>
          <a:solidFill>
            <a:srgbClr val="41404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0.16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2" name="Rounded Rectangle 1049"/>
          <p:cNvSpPr/>
          <p:nvPr/>
        </p:nvSpPr>
        <p:spPr>
          <a:xfrm>
            <a:off x="4506480" y="3661920"/>
            <a:ext cx="441000" cy="184680"/>
          </a:xfrm>
          <a:prstGeom prst="roundRect">
            <a:avLst>
              <a:gd name="adj" fmla="val 12000"/>
            </a:avLst>
          </a:prstGeom>
          <a:solidFill>
            <a:srgbClr val="7F0B2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1.00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3" name="Rounded Rectangle 1050"/>
          <p:cNvSpPr/>
          <p:nvPr/>
        </p:nvSpPr>
        <p:spPr>
          <a:xfrm>
            <a:off x="4983120" y="3661920"/>
            <a:ext cx="441000" cy="184680"/>
          </a:xfrm>
          <a:prstGeom prst="roundRect">
            <a:avLst>
              <a:gd name="adj" fmla="val 12000"/>
            </a:avLst>
          </a:prstGeom>
          <a:solidFill>
            <a:srgbClr val="3A4E9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-0.79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4" name="Rounded Rectangle 1051"/>
          <p:cNvSpPr/>
          <p:nvPr/>
        </p:nvSpPr>
        <p:spPr>
          <a:xfrm>
            <a:off x="5459760" y="3661920"/>
            <a:ext cx="441000" cy="184680"/>
          </a:xfrm>
          <a:prstGeom prst="roundRect">
            <a:avLst>
              <a:gd name="adj" fmla="val 12000"/>
            </a:avLst>
          </a:prstGeom>
          <a:solidFill>
            <a:srgbClr val="8039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0.80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5" name="Rounded Rectangle 1052"/>
          <p:cNvSpPr/>
          <p:nvPr/>
        </p:nvSpPr>
        <p:spPr>
          <a:xfrm>
            <a:off x="5936400" y="3661920"/>
            <a:ext cx="441000" cy="184680"/>
          </a:xfrm>
          <a:prstGeom prst="roundRect">
            <a:avLst>
              <a:gd name="adj" fmla="val 12000"/>
            </a:avLst>
          </a:prstGeom>
          <a:solidFill>
            <a:srgbClr val="8020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0.94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6" name="Rounded Rectangle 1053"/>
          <p:cNvSpPr/>
          <p:nvPr/>
        </p:nvSpPr>
        <p:spPr>
          <a:xfrm>
            <a:off x="6413400" y="3661920"/>
            <a:ext cx="441000" cy="184680"/>
          </a:xfrm>
          <a:prstGeom prst="roundRect">
            <a:avLst>
              <a:gd name="adj" fmla="val 12000"/>
            </a:avLst>
          </a:prstGeom>
          <a:solidFill>
            <a:srgbClr val="80232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0.93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7" name="Rounded Rectangle 1054"/>
          <p:cNvSpPr/>
          <p:nvPr/>
        </p:nvSpPr>
        <p:spPr>
          <a:xfrm>
            <a:off x="1645920" y="3882240"/>
            <a:ext cx="441000" cy="184680"/>
          </a:xfrm>
          <a:prstGeom prst="roundRect">
            <a:avLst>
              <a:gd name="adj" fmla="val 12000"/>
            </a:avLst>
          </a:prstGeom>
          <a:solidFill>
            <a:srgbClr val="3D3D4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0.13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8" name="Rounded Rectangle 1055"/>
          <p:cNvSpPr/>
          <p:nvPr/>
        </p:nvSpPr>
        <p:spPr>
          <a:xfrm>
            <a:off x="2122560" y="3882240"/>
            <a:ext cx="441000" cy="184680"/>
          </a:xfrm>
          <a:prstGeom prst="roundRect">
            <a:avLst>
              <a:gd name="adj" fmla="val 12000"/>
            </a:avLst>
          </a:prstGeom>
          <a:solidFill>
            <a:srgbClr val="5A4B4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0.35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9" name="Rounded Rectangle 1056"/>
          <p:cNvSpPr/>
          <p:nvPr/>
        </p:nvSpPr>
        <p:spPr>
          <a:xfrm>
            <a:off x="2599560" y="3882240"/>
            <a:ext cx="441000" cy="184680"/>
          </a:xfrm>
          <a:prstGeom prst="roundRect">
            <a:avLst>
              <a:gd name="adj" fmla="val 12000"/>
            </a:avLst>
          </a:prstGeom>
          <a:solidFill>
            <a:srgbClr val="43537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-0.42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0" name="Rounded Rectangle 1057"/>
          <p:cNvSpPr/>
          <p:nvPr/>
        </p:nvSpPr>
        <p:spPr>
          <a:xfrm>
            <a:off x="3076200" y="3882240"/>
            <a:ext cx="441000" cy="184680"/>
          </a:xfrm>
          <a:prstGeom prst="roundRect">
            <a:avLst>
              <a:gd name="adj" fmla="val 12000"/>
            </a:avLst>
          </a:prstGeom>
          <a:solidFill>
            <a:srgbClr val="42404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0.17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1" name="Rounded Rectangle 1058"/>
          <p:cNvSpPr/>
          <p:nvPr/>
        </p:nvSpPr>
        <p:spPr>
          <a:xfrm>
            <a:off x="3552840" y="3882240"/>
            <a:ext cx="441000" cy="184680"/>
          </a:xfrm>
          <a:prstGeom prst="roundRect">
            <a:avLst>
              <a:gd name="adj" fmla="val 12000"/>
            </a:avLst>
          </a:prstGeom>
          <a:solidFill>
            <a:srgbClr val="353D5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-0.11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2" name="Rounded Rectangle 1059"/>
          <p:cNvSpPr/>
          <p:nvPr/>
        </p:nvSpPr>
        <p:spPr>
          <a:xfrm>
            <a:off x="4029480" y="3882240"/>
            <a:ext cx="441000" cy="184680"/>
          </a:xfrm>
          <a:prstGeom prst="roundRect">
            <a:avLst>
              <a:gd name="adj" fmla="val 12000"/>
            </a:avLst>
          </a:prstGeom>
          <a:solidFill>
            <a:srgbClr val="45424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0.19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3" name="Rounded Rectangle 1060"/>
          <p:cNvSpPr/>
          <p:nvPr/>
        </p:nvSpPr>
        <p:spPr>
          <a:xfrm>
            <a:off x="4506480" y="3882240"/>
            <a:ext cx="441000" cy="184680"/>
          </a:xfrm>
          <a:prstGeom prst="roundRect">
            <a:avLst>
              <a:gd name="adj" fmla="val 12000"/>
            </a:avLst>
          </a:prstGeom>
          <a:solidFill>
            <a:srgbClr val="3A4E9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-0.79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4" name="Rounded Rectangle 1061"/>
          <p:cNvSpPr/>
          <p:nvPr/>
        </p:nvSpPr>
        <p:spPr>
          <a:xfrm>
            <a:off x="4983120" y="3882240"/>
            <a:ext cx="441000" cy="184680"/>
          </a:xfrm>
          <a:prstGeom prst="roundRect">
            <a:avLst>
              <a:gd name="adj" fmla="val 12000"/>
            </a:avLst>
          </a:prstGeom>
          <a:solidFill>
            <a:srgbClr val="7F0B2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1.00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5" name="Rounded Rectangle 1062"/>
          <p:cNvSpPr/>
          <p:nvPr/>
        </p:nvSpPr>
        <p:spPr>
          <a:xfrm>
            <a:off x="5459760" y="3882240"/>
            <a:ext cx="441000" cy="184680"/>
          </a:xfrm>
          <a:prstGeom prst="roundRect">
            <a:avLst>
              <a:gd name="adj" fmla="val 12000"/>
            </a:avLst>
          </a:prstGeom>
          <a:solidFill>
            <a:srgbClr val="43547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-0.47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6" name="Rounded Rectangle 1063"/>
          <p:cNvSpPr/>
          <p:nvPr/>
        </p:nvSpPr>
        <p:spPr>
          <a:xfrm>
            <a:off x="5936400" y="3882240"/>
            <a:ext cx="441000" cy="184680"/>
          </a:xfrm>
          <a:prstGeom prst="roundRect">
            <a:avLst>
              <a:gd name="adj" fmla="val 12000"/>
            </a:avLst>
          </a:prstGeom>
          <a:solidFill>
            <a:srgbClr val="3C509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-0.76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7" name="Rounded Rectangle 1064"/>
          <p:cNvSpPr/>
          <p:nvPr/>
        </p:nvSpPr>
        <p:spPr>
          <a:xfrm>
            <a:off x="6413400" y="3882240"/>
            <a:ext cx="441000" cy="184680"/>
          </a:xfrm>
          <a:prstGeom prst="roundRect">
            <a:avLst>
              <a:gd name="adj" fmla="val 12000"/>
            </a:avLst>
          </a:prstGeom>
          <a:solidFill>
            <a:srgbClr val="3D519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-0.75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8" name="Rounded Rectangle 1065"/>
          <p:cNvSpPr/>
          <p:nvPr/>
        </p:nvSpPr>
        <p:spPr>
          <a:xfrm>
            <a:off x="1645920" y="4102560"/>
            <a:ext cx="441000" cy="184680"/>
          </a:xfrm>
          <a:prstGeom prst="roundRect">
            <a:avLst>
              <a:gd name="adj" fmla="val 12000"/>
            </a:avLst>
          </a:prstGeom>
          <a:solidFill>
            <a:srgbClr val="373F5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-0.14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9" name="Rounded Rectangle 1066"/>
          <p:cNvSpPr/>
          <p:nvPr/>
        </p:nvSpPr>
        <p:spPr>
          <a:xfrm>
            <a:off x="2122560" y="4102560"/>
            <a:ext cx="441000" cy="184680"/>
          </a:xfrm>
          <a:prstGeom prst="roundRect">
            <a:avLst>
              <a:gd name="adj" fmla="val 12000"/>
            </a:avLst>
          </a:prstGeom>
          <a:solidFill>
            <a:srgbClr val="32394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-0.07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0" name="Rounded Rectangle 1067"/>
          <p:cNvSpPr/>
          <p:nvPr/>
        </p:nvSpPr>
        <p:spPr>
          <a:xfrm>
            <a:off x="2599560" y="4102560"/>
            <a:ext cx="441000" cy="184680"/>
          </a:xfrm>
          <a:prstGeom prst="roundRect">
            <a:avLst>
              <a:gd name="adj" fmla="val 12000"/>
            </a:avLst>
          </a:prstGeom>
          <a:solidFill>
            <a:srgbClr val="754A4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0.60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1" name="Rounded Rectangle 1068"/>
          <p:cNvSpPr/>
          <p:nvPr/>
        </p:nvSpPr>
        <p:spPr>
          <a:xfrm>
            <a:off x="3076200" y="4102560"/>
            <a:ext cx="441000" cy="184680"/>
          </a:xfrm>
          <a:prstGeom prst="roundRect">
            <a:avLst>
              <a:gd name="adj" fmla="val 12000"/>
            </a:avLst>
          </a:prstGeom>
          <a:solidFill>
            <a:srgbClr val="353D5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-0.12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2" name="Rounded Rectangle 1069"/>
          <p:cNvSpPr/>
          <p:nvPr/>
        </p:nvSpPr>
        <p:spPr>
          <a:xfrm>
            <a:off x="3552840" y="4102560"/>
            <a:ext cx="441000" cy="184680"/>
          </a:xfrm>
          <a:prstGeom prst="roundRect">
            <a:avLst>
              <a:gd name="adj" fmla="val 12000"/>
            </a:avLst>
          </a:prstGeom>
          <a:solidFill>
            <a:srgbClr val="6A4C4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0.48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3" name="Rounded Rectangle 1070"/>
          <p:cNvSpPr/>
          <p:nvPr/>
        </p:nvSpPr>
        <p:spPr>
          <a:xfrm>
            <a:off x="4029480" y="4102560"/>
            <a:ext cx="441000" cy="184680"/>
          </a:xfrm>
          <a:prstGeom prst="roundRect">
            <a:avLst>
              <a:gd name="adj" fmla="val 12000"/>
            </a:avLst>
          </a:prstGeom>
          <a:solidFill>
            <a:srgbClr val="51484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0.28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4" name="Rounded Rectangle 1071"/>
          <p:cNvSpPr/>
          <p:nvPr/>
        </p:nvSpPr>
        <p:spPr>
          <a:xfrm>
            <a:off x="4506480" y="4102560"/>
            <a:ext cx="441000" cy="184680"/>
          </a:xfrm>
          <a:prstGeom prst="roundRect">
            <a:avLst>
              <a:gd name="adj" fmla="val 12000"/>
            </a:avLst>
          </a:prstGeom>
          <a:solidFill>
            <a:srgbClr val="8039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0.80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5" name="Rounded Rectangle 1072"/>
          <p:cNvSpPr/>
          <p:nvPr/>
        </p:nvSpPr>
        <p:spPr>
          <a:xfrm>
            <a:off x="4983120" y="4102560"/>
            <a:ext cx="441000" cy="184680"/>
          </a:xfrm>
          <a:prstGeom prst="roundRect">
            <a:avLst>
              <a:gd name="adj" fmla="val 12000"/>
            </a:avLst>
          </a:prstGeom>
          <a:solidFill>
            <a:srgbClr val="43547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-0.47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6" name="Rounded Rectangle 1073"/>
          <p:cNvSpPr/>
          <p:nvPr/>
        </p:nvSpPr>
        <p:spPr>
          <a:xfrm>
            <a:off x="5459760" y="4102560"/>
            <a:ext cx="441000" cy="184680"/>
          </a:xfrm>
          <a:prstGeom prst="roundRect">
            <a:avLst>
              <a:gd name="adj" fmla="val 12000"/>
            </a:avLst>
          </a:prstGeom>
          <a:solidFill>
            <a:srgbClr val="7F0B2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1.00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7" name="Rounded Rectangle 1074"/>
          <p:cNvSpPr/>
          <p:nvPr/>
        </p:nvSpPr>
        <p:spPr>
          <a:xfrm>
            <a:off x="5936400" y="4102560"/>
            <a:ext cx="441000" cy="184680"/>
          </a:xfrm>
          <a:prstGeom prst="roundRect">
            <a:avLst>
              <a:gd name="adj" fmla="val 12000"/>
            </a:avLst>
          </a:prstGeom>
          <a:solidFill>
            <a:srgbClr val="7E3F3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0.75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8" name="Rounded Rectangle 1075"/>
          <p:cNvSpPr/>
          <p:nvPr/>
        </p:nvSpPr>
        <p:spPr>
          <a:xfrm>
            <a:off x="6413400" y="4102560"/>
            <a:ext cx="441000" cy="184680"/>
          </a:xfrm>
          <a:prstGeom prst="roundRect">
            <a:avLst>
              <a:gd name="adj" fmla="val 12000"/>
            </a:avLst>
          </a:prstGeom>
          <a:solidFill>
            <a:srgbClr val="7F3E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0.76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9" name="Rounded Rectangle 1076"/>
          <p:cNvSpPr/>
          <p:nvPr/>
        </p:nvSpPr>
        <p:spPr>
          <a:xfrm>
            <a:off x="1645920" y="4322520"/>
            <a:ext cx="441000" cy="184680"/>
          </a:xfrm>
          <a:prstGeom prst="roundRect">
            <a:avLst>
              <a:gd name="adj" fmla="val 12000"/>
            </a:avLst>
          </a:prstGeom>
          <a:solidFill>
            <a:srgbClr val="39425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-0.17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0" name="Rounded Rectangle 1077"/>
          <p:cNvSpPr/>
          <p:nvPr/>
        </p:nvSpPr>
        <p:spPr>
          <a:xfrm>
            <a:off x="2122560" y="4322520"/>
            <a:ext cx="441000" cy="184680"/>
          </a:xfrm>
          <a:prstGeom prst="roundRect">
            <a:avLst>
              <a:gd name="adj" fmla="val 12000"/>
            </a:avLst>
          </a:prstGeom>
          <a:solidFill>
            <a:srgbClr val="3B45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-0.20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1" name="Rounded Rectangle 1078"/>
          <p:cNvSpPr/>
          <p:nvPr/>
        </p:nvSpPr>
        <p:spPr>
          <a:xfrm>
            <a:off x="2599560" y="4322520"/>
            <a:ext cx="441000" cy="184680"/>
          </a:xfrm>
          <a:prstGeom prst="roundRect">
            <a:avLst>
              <a:gd name="adj" fmla="val 12000"/>
            </a:avLst>
          </a:prstGeom>
          <a:solidFill>
            <a:srgbClr val="8039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0.80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2" name="Rounded Rectangle 1079"/>
          <p:cNvSpPr/>
          <p:nvPr/>
        </p:nvSpPr>
        <p:spPr>
          <a:xfrm>
            <a:off x="3076200" y="4322520"/>
            <a:ext cx="441000" cy="184680"/>
          </a:xfrm>
          <a:prstGeom prst="roundRect">
            <a:avLst>
              <a:gd name="adj" fmla="val 12000"/>
            </a:avLst>
          </a:prstGeom>
          <a:solidFill>
            <a:srgbClr val="39435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-0.18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3" name="Rounded Rectangle 1080"/>
          <p:cNvSpPr/>
          <p:nvPr/>
        </p:nvSpPr>
        <p:spPr>
          <a:xfrm>
            <a:off x="3552840" y="4322520"/>
            <a:ext cx="441000" cy="184680"/>
          </a:xfrm>
          <a:prstGeom prst="roundRect">
            <a:avLst>
              <a:gd name="adj" fmla="val 12000"/>
            </a:avLst>
          </a:prstGeom>
          <a:solidFill>
            <a:srgbClr val="744A4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0.59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4" name="Rounded Rectangle 1081"/>
          <p:cNvSpPr/>
          <p:nvPr/>
        </p:nvSpPr>
        <p:spPr>
          <a:xfrm>
            <a:off x="4029480" y="4322520"/>
            <a:ext cx="441000" cy="184680"/>
          </a:xfrm>
          <a:prstGeom prst="roundRect">
            <a:avLst>
              <a:gd name="adj" fmla="val 12000"/>
            </a:avLst>
          </a:prstGeom>
          <a:solidFill>
            <a:srgbClr val="5A4B4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0.35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5" name="Rounded Rectangle 1082"/>
          <p:cNvSpPr/>
          <p:nvPr/>
        </p:nvSpPr>
        <p:spPr>
          <a:xfrm>
            <a:off x="4506480" y="4322520"/>
            <a:ext cx="441000" cy="184680"/>
          </a:xfrm>
          <a:prstGeom prst="roundRect">
            <a:avLst>
              <a:gd name="adj" fmla="val 12000"/>
            </a:avLst>
          </a:prstGeom>
          <a:solidFill>
            <a:srgbClr val="8020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0.94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6" name="Rounded Rectangle 1083"/>
          <p:cNvSpPr/>
          <p:nvPr/>
        </p:nvSpPr>
        <p:spPr>
          <a:xfrm>
            <a:off x="4983120" y="4322520"/>
            <a:ext cx="441000" cy="184680"/>
          </a:xfrm>
          <a:prstGeom prst="roundRect">
            <a:avLst>
              <a:gd name="adj" fmla="val 12000"/>
            </a:avLst>
          </a:prstGeom>
          <a:solidFill>
            <a:srgbClr val="3C509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-0.76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7" name="Rounded Rectangle 1084"/>
          <p:cNvSpPr/>
          <p:nvPr/>
        </p:nvSpPr>
        <p:spPr>
          <a:xfrm>
            <a:off x="5459760" y="4322520"/>
            <a:ext cx="441000" cy="184680"/>
          </a:xfrm>
          <a:prstGeom prst="roundRect">
            <a:avLst>
              <a:gd name="adj" fmla="val 12000"/>
            </a:avLst>
          </a:prstGeom>
          <a:solidFill>
            <a:srgbClr val="7E3F3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0.75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8" name="Rounded Rectangle 1085"/>
          <p:cNvSpPr/>
          <p:nvPr/>
        </p:nvSpPr>
        <p:spPr>
          <a:xfrm>
            <a:off x="5936400" y="4322520"/>
            <a:ext cx="441000" cy="184680"/>
          </a:xfrm>
          <a:prstGeom prst="roundRect">
            <a:avLst>
              <a:gd name="adj" fmla="val 12000"/>
            </a:avLst>
          </a:prstGeom>
          <a:solidFill>
            <a:srgbClr val="7F0B2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1.00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9" name="Rounded Rectangle 1086"/>
          <p:cNvSpPr/>
          <p:nvPr/>
        </p:nvSpPr>
        <p:spPr>
          <a:xfrm>
            <a:off x="6413400" y="4322520"/>
            <a:ext cx="441000" cy="184680"/>
          </a:xfrm>
          <a:prstGeom prst="roundRect">
            <a:avLst>
              <a:gd name="adj" fmla="val 12000"/>
            </a:avLst>
          </a:prstGeom>
          <a:solidFill>
            <a:srgbClr val="812F3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0.87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0" name="Rounded Rectangle 1087"/>
          <p:cNvSpPr/>
          <p:nvPr/>
        </p:nvSpPr>
        <p:spPr>
          <a:xfrm>
            <a:off x="1645920" y="4542840"/>
            <a:ext cx="441000" cy="184680"/>
          </a:xfrm>
          <a:prstGeom prst="roundRect">
            <a:avLst>
              <a:gd name="adj" fmla="val 12000"/>
            </a:avLst>
          </a:prstGeom>
          <a:solidFill>
            <a:srgbClr val="3B465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-0.21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1" name="Rounded Rectangle 1088"/>
          <p:cNvSpPr/>
          <p:nvPr/>
        </p:nvSpPr>
        <p:spPr>
          <a:xfrm>
            <a:off x="2122560" y="4542840"/>
            <a:ext cx="441000" cy="184680"/>
          </a:xfrm>
          <a:prstGeom prst="roundRect">
            <a:avLst>
              <a:gd name="adj" fmla="val 12000"/>
            </a:avLst>
          </a:prstGeom>
          <a:solidFill>
            <a:srgbClr val="414E6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-0.33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2" name="Rounded Rectangle 1089"/>
          <p:cNvSpPr/>
          <p:nvPr/>
        </p:nvSpPr>
        <p:spPr>
          <a:xfrm>
            <a:off x="2599560" y="4542840"/>
            <a:ext cx="441000" cy="184680"/>
          </a:xfrm>
          <a:prstGeom prst="roundRect">
            <a:avLst>
              <a:gd name="adj" fmla="val 12000"/>
            </a:avLst>
          </a:prstGeom>
          <a:solidFill>
            <a:srgbClr val="77494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0.62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3" name="Rounded Rectangle 1090"/>
          <p:cNvSpPr/>
          <p:nvPr/>
        </p:nvSpPr>
        <p:spPr>
          <a:xfrm>
            <a:off x="3076200" y="4542840"/>
            <a:ext cx="441000" cy="184680"/>
          </a:xfrm>
          <a:prstGeom prst="roundRect">
            <a:avLst>
              <a:gd name="adj" fmla="val 12000"/>
            </a:avLst>
          </a:prstGeom>
          <a:solidFill>
            <a:srgbClr val="404D6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-0.31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4" name="Rounded Rectangle 1091"/>
          <p:cNvSpPr/>
          <p:nvPr/>
        </p:nvSpPr>
        <p:spPr>
          <a:xfrm>
            <a:off x="3552840" y="4542840"/>
            <a:ext cx="441000" cy="184680"/>
          </a:xfrm>
          <a:prstGeom prst="roundRect">
            <a:avLst>
              <a:gd name="adj" fmla="val 12000"/>
            </a:avLst>
          </a:prstGeom>
          <a:solidFill>
            <a:srgbClr val="624C4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0.41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5" name="Rounded Rectangle 1092"/>
          <p:cNvSpPr/>
          <p:nvPr/>
        </p:nvSpPr>
        <p:spPr>
          <a:xfrm>
            <a:off x="4029480" y="4542840"/>
            <a:ext cx="441000" cy="184680"/>
          </a:xfrm>
          <a:prstGeom prst="roundRect">
            <a:avLst>
              <a:gd name="adj" fmla="val 12000"/>
            </a:avLst>
          </a:prstGeom>
          <a:solidFill>
            <a:srgbClr val="3E3E4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0.14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6" name="Rounded Rectangle 1093"/>
          <p:cNvSpPr/>
          <p:nvPr/>
        </p:nvSpPr>
        <p:spPr>
          <a:xfrm>
            <a:off x="4506480" y="4542840"/>
            <a:ext cx="441000" cy="184680"/>
          </a:xfrm>
          <a:prstGeom prst="roundRect">
            <a:avLst>
              <a:gd name="adj" fmla="val 12000"/>
            </a:avLst>
          </a:prstGeom>
          <a:solidFill>
            <a:srgbClr val="80232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0.93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7" name="Rounded Rectangle 1094"/>
          <p:cNvSpPr/>
          <p:nvPr/>
        </p:nvSpPr>
        <p:spPr>
          <a:xfrm>
            <a:off x="4983120" y="4542840"/>
            <a:ext cx="441000" cy="184680"/>
          </a:xfrm>
          <a:prstGeom prst="roundRect">
            <a:avLst>
              <a:gd name="adj" fmla="val 12000"/>
            </a:avLst>
          </a:prstGeom>
          <a:solidFill>
            <a:srgbClr val="3D519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-0.75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8" name="Rounded Rectangle 1095"/>
          <p:cNvSpPr/>
          <p:nvPr/>
        </p:nvSpPr>
        <p:spPr>
          <a:xfrm>
            <a:off x="5459760" y="4542840"/>
            <a:ext cx="441000" cy="184680"/>
          </a:xfrm>
          <a:prstGeom prst="roundRect">
            <a:avLst>
              <a:gd name="adj" fmla="val 12000"/>
            </a:avLst>
          </a:prstGeom>
          <a:solidFill>
            <a:srgbClr val="7F3E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0.76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9" name="Rounded Rectangle 1096"/>
          <p:cNvSpPr/>
          <p:nvPr/>
        </p:nvSpPr>
        <p:spPr>
          <a:xfrm>
            <a:off x="5936400" y="4542840"/>
            <a:ext cx="441000" cy="184680"/>
          </a:xfrm>
          <a:prstGeom prst="roundRect">
            <a:avLst>
              <a:gd name="adj" fmla="val 12000"/>
            </a:avLst>
          </a:prstGeom>
          <a:solidFill>
            <a:srgbClr val="812F3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0.87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10" name="Rounded Rectangle 1097"/>
          <p:cNvSpPr/>
          <p:nvPr/>
        </p:nvSpPr>
        <p:spPr>
          <a:xfrm>
            <a:off x="6413400" y="4542840"/>
            <a:ext cx="441000" cy="184680"/>
          </a:xfrm>
          <a:prstGeom prst="roundRect">
            <a:avLst>
              <a:gd name="adj" fmla="val 12000"/>
            </a:avLst>
          </a:prstGeom>
          <a:solidFill>
            <a:srgbClr val="7F0B2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1.00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11" name="TextBox 1098"/>
          <p:cNvSpPr/>
          <p:nvPr/>
        </p:nvSpPr>
        <p:spPr>
          <a:xfrm rot="18000000">
            <a:off x="1588320" y="4965480"/>
            <a:ext cx="439920" cy="12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DCE0EB"/>
                </a:solidFill>
                <a:effectLst/>
                <a:uFillTx/>
                <a:latin typeface="Calibri"/>
              </a:rPr>
              <a:t>Snowfall</a:t>
            </a:r>
            <a:endParaRPr lang="fr-F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2" name="TextBox 1099"/>
          <p:cNvSpPr/>
          <p:nvPr/>
        </p:nvSpPr>
        <p:spPr>
          <a:xfrm rot="18000000">
            <a:off x="2065320" y="4965480"/>
            <a:ext cx="439920" cy="12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DCE0EB"/>
                </a:solidFill>
                <a:effectLst/>
                <a:uFillTx/>
                <a:latin typeface="Calibri"/>
              </a:rPr>
              <a:t>Rainfall</a:t>
            </a:r>
            <a:endParaRPr lang="fr-F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3" name="TextBox 1100"/>
          <p:cNvSpPr/>
          <p:nvPr/>
        </p:nvSpPr>
        <p:spPr>
          <a:xfrm rot="18000000">
            <a:off x="2541960" y="4965480"/>
            <a:ext cx="439920" cy="12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DCE0EB"/>
                </a:solidFill>
                <a:effectLst/>
                <a:uFillTx/>
                <a:latin typeface="Calibri"/>
              </a:rPr>
              <a:t>Avg Temp</a:t>
            </a:r>
            <a:endParaRPr lang="fr-F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4" name="TextBox 1101"/>
          <p:cNvSpPr/>
          <p:nvPr/>
        </p:nvSpPr>
        <p:spPr>
          <a:xfrm rot="18000000">
            <a:off x="2943720" y="5008680"/>
            <a:ext cx="539640" cy="12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DCE0EB"/>
                </a:solidFill>
                <a:effectLst/>
                <a:uFillTx/>
                <a:latin typeface="Calibri"/>
              </a:rPr>
              <a:t>Wind Speed</a:t>
            </a:r>
            <a:endParaRPr lang="fr-F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5" name="TextBox 1102"/>
          <p:cNvSpPr/>
          <p:nvPr/>
        </p:nvSpPr>
        <p:spPr>
          <a:xfrm rot="18000000">
            <a:off x="3271320" y="5094720"/>
            <a:ext cx="738360" cy="12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DCE0EB"/>
                </a:solidFill>
                <a:effectLst/>
                <a:uFillTx/>
                <a:latin typeface="Calibri"/>
              </a:rPr>
              <a:t>Spec. Humidity</a:t>
            </a:r>
            <a:endParaRPr lang="fr-F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6" name="TextBox 1103"/>
          <p:cNvSpPr/>
          <p:nvPr/>
        </p:nvSpPr>
        <p:spPr>
          <a:xfrm rot="18000000">
            <a:off x="3747960" y="5094720"/>
            <a:ext cx="738360" cy="12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DCE0EB"/>
                </a:solidFill>
                <a:effectLst/>
                <a:uFillTx/>
                <a:latin typeface="Calibri"/>
              </a:rPr>
              <a:t>Atm. Radiation</a:t>
            </a:r>
            <a:endParaRPr lang="fr-F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7" name="TextBox 1104"/>
          <p:cNvSpPr/>
          <p:nvPr/>
        </p:nvSpPr>
        <p:spPr>
          <a:xfrm rot="18000000">
            <a:off x="4299480" y="5050800"/>
            <a:ext cx="639000" cy="12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DCE0EB"/>
                </a:solidFill>
                <a:effectLst/>
                <a:uFillTx/>
                <a:latin typeface="Calibri"/>
              </a:rPr>
              <a:t>Visible Rad.</a:t>
            </a:r>
            <a:endParaRPr lang="fr-F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8" name="TextBox 1105"/>
          <p:cNvSpPr/>
          <p:nvPr/>
        </p:nvSpPr>
        <p:spPr>
          <a:xfrm rot="18000000">
            <a:off x="4738680" y="5072760"/>
            <a:ext cx="688680" cy="12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DCE0EB"/>
                </a:solidFill>
                <a:effectLst/>
                <a:uFillTx/>
                <a:latin typeface="Calibri"/>
              </a:rPr>
              <a:t>Rel. Humidity</a:t>
            </a:r>
            <a:endParaRPr lang="fr-F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9" name="TextBox 1106"/>
          <p:cNvSpPr/>
          <p:nvPr/>
        </p:nvSpPr>
        <p:spPr>
          <a:xfrm rot="18000000">
            <a:off x="5402520" y="4965480"/>
            <a:ext cx="439920" cy="12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DCE0EB"/>
                </a:solidFill>
                <a:effectLst/>
                <a:uFillTx/>
                <a:latin typeface="Calibri"/>
              </a:rPr>
              <a:t>Total ET</a:t>
            </a:r>
            <a:endParaRPr lang="fr-F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0" name="TextBox 1107"/>
          <p:cNvSpPr/>
          <p:nvPr/>
        </p:nvSpPr>
        <p:spPr>
          <a:xfrm rot="18000000">
            <a:off x="5729400" y="5050800"/>
            <a:ext cx="639000" cy="12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DCE0EB"/>
                </a:solidFill>
                <a:effectLst/>
                <a:uFillTx/>
                <a:latin typeface="Calibri"/>
              </a:rPr>
              <a:t>Potential ET</a:t>
            </a:r>
            <a:endParaRPr lang="fr-F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1" name="TextBox 1108"/>
          <p:cNvSpPr/>
          <p:nvPr/>
        </p:nvSpPr>
        <p:spPr>
          <a:xfrm rot="18000000">
            <a:off x="6094440" y="5115600"/>
            <a:ext cx="788400" cy="12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DCE0EB"/>
                </a:solidFill>
                <a:effectLst/>
                <a:uFillTx/>
                <a:latin typeface="Calibri"/>
              </a:rPr>
              <a:t>Prod / Capacity</a:t>
            </a:r>
            <a:endParaRPr lang="fr-F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2" name="Rectangle 1"/>
          <p:cNvSpPr/>
          <p:nvPr/>
        </p:nvSpPr>
        <p:spPr>
          <a:xfrm>
            <a:off x="0" y="0"/>
            <a:ext cx="12188520" cy="6854400"/>
          </a:xfrm>
          <a:prstGeom prst="rect">
            <a:avLst/>
          </a:prstGeom>
          <a:solidFill>
            <a:srgbClr val="0A0E1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cxnSp>
        <p:nvCxnSpPr>
          <p:cNvPr id="1423" name="GridV901"/>
          <p:cNvCxnSpPr/>
          <p:nvPr/>
        </p:nvCxnSpPr>
        <p:spPr>
          <a:xfrm>
            <a:off x="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24" name="GridV902"/>
          <p:cNvCxnSpPr/>
          <p:nvPr/>
        </p:nvCxnSpPr>
        <p:spPr>
          <a:xfrm>
            <a:off x="3045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25" name="GridV903"/>
          <p:cNvCxnSpPr/>
          <p:nvPr/>
        </p:nvCxnSpPr>
        <p:spPr>
          <a:xfrm>
            <a:off x="6094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26" name="GridV904"/>
          <p:cNvCxnSpPr/>
          <p:nvPr/>
        </p:nvCxnSpPr>
        <p:spPr>
          <a:xfrm>
            <a:off x="9144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27" name="GridV905"/>
          <p:cNvCxnSpPr/>
          <p:nvPr/>
        </p:nvCxnSpPr>
        <p:spPr>
          <a:xfrm>
            <a:off x="12189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28" name="GridV906"/>
          <p:cNvCxnSpPr/>
          <p:nvPr/>
        </p:nvCxnSpPr>
        <p:spPr>
          <a:xfrm>
            <a:off x="15238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29" name="GridV907"/>
          <p:cNvCxnSpPr/>
          <p:nvPr/>
        </p:nvCxnSpPr>
        <p:spPr>
          <a:xfrm>
            <a:off x="18288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30" name="GridV908"/>
          <p:cNvCxnSpPr/>
          <p:nvPr/>
        </p:nvCxnSpPr>
        <p:spPr>
          <a:xfrm>
            <a:off x="21333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31" name="GridV909"/>
          <p:cNvCxnSpPr/>
          <p:nvPr/>
        </p:nvCxnSpPr>
        <p:spPr>
          <a:xfrm>
            <a:off x="24382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32" name="GridV910"/>
          <p:cNvCxnSpPr/>
          <p:nvPr/>
        </p:nvCxnSpPr>
        <p:spPr>
          <a:xfrm>
            <a:off x="27432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33" name="GridV911"/>
          <p:cNvCxnSpPr/>
          <p:nvPr/>
        </p:nvCxnSpPr>
        <p:spPr>
          <a:xfrm>
            <a:off x="30477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34" name="GridV912"/>
          <p:cNvCxnSpPr/>
          <p:nvPr/>
        </p:nvCxnSpPr>
        <p:spPr>
          <a:xfrm>
            <a:off x="33526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35" name="GridV913"/>
          <p:cNvCxnSpPr/>
          <p:nvPr/>
        </p:nvCxnSpPr>
        <p:spPr>
          <a:xfrm>
            <a:off x="36576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36" name="GridV914"/>
          <p:cNvCxnSpPr/>
          <p:nvPr/>
        </p:nvCxnSpPr>
        <p:spPr>
          <a:xfrm>
            <a:off x="39621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37" name="GridV915"/>
          <p:cNvCxnSpPr/>
          <p:nvPr/>
        </p:nvCxnSpPr>
        <p:spPr>
          <a:xfrm>
            <a:off x="42670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38" name="GridV916"/>
          <p:cNvCxnSpPr/>
          <p:nvPr/>
        </p:nvCxnSpPr>
        <p:spPr>
          <a:xfrm>
            <a:off x="45720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39" name="GridV917"/>
          <p:cNvCxnSpPr/>
          <p:nvPr/>
        </p:nvCxnSpPr>
        <p:spPr>
          <a:xfrm>
            <a:off x="48765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40" name="GridV918"/>
          <p:cNvCxnSpPr/>
          <p:nvPr/>
        </p:nvCxnSpPr>
        <p:spPr>
          <a:xfrm>
            <a:off x="51814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41" name="GridV919"/>
          <p:cNvCxnSpPr/>
          <p:nvPr/>
        </p:nvCxnSpPr>
        <p:spPr>
          <a:xfrm>
            <a:off x="54864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42" name="GridV920"/>
          <p:cNvCxnSpPr/>
          <p:nvPr/>
        </p:nvCxnSpPr>
        <p:spPr>
          <a:xfrm>
            <a:off x="57909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43" name="GridV921"/>
          <p:cNvCxnSpPr/>
          <p:nvPr/>
        </p:nvCxnSpPr>
        <p:spPr>
          <a:xfrm>
            <a:off x="60958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44" name="GridV922"/>
          <p:cNvCxnSpPr/>
          <p:nvPr/>
        </p:nvCxnSpPr>
        <p:spPr>
          <a:xfrm>
            <a:off x="64008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45" name="GridV923"/>
          <p:cNvCxnSpPr/>
          <p:nvPr/>
        </p:nvCxnSpPr>
        <p:spPr>
          <a:xfrm>
            <a:off x="67053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46" name="GridV924"/>
          <p:cNvCxnSpPr/>
          <p:nvPr/>
        </p:nvCxnSpPr>
        <p:spPr>
          <a:xfrm>
            <a:off x="70102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47" name="GridV925"/>
          <p:cNvCxnSpPr/>
          <p:nvPr/>
        </p:nvCxnSpPr>
        <p:spPr>
          <a:xfrm>
            <a:off x="73152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48" name="GridV926"/>
          <p:cNvCxnSpPr/>
          <p:nvPr/>
        </p:nvCxnSpPr>
        <p:spPr>
          <a:xfrm>
            <a:off x="76197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49" name="GridV927"/>
          <p:cNvCxnSpPr/>
          <p:nvPr/>
        </p:nvCxnSpPr>
        <p:spPr>
          <a:xfrm>
            <a:off x="79246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50" name="GridV928"/>
          <p:cNvCxnSpPr/>
          <p:nvPr/>
        </p:nvCxnSpPr>
        <p:spPr>
          <a:xfrm>
            <a:off x="82296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51" name="GridV929"/>
          <p:cNvCxnSpPr/>
          <p:nvPr/>
        </p:nvCxnSpPr>
        <p:spPr>
          <a:xfrm>
            <a:off x="85341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52" name="GridV930"/>
          <p:cNvCxnSpPr/>
          <p:nvPr/>
        </p:nvCxnSpPr>
        <p:spPr>
          <a:xfrm>
            <a:off x="88390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53" name="GridV931"/>
          <p:cNvCxnSpPr/>
          <p:nvPr/>
        </p:nvCxnSpPr>
        <p:spPr>
          <a:xfrm>
            <a:off x="91440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54" name="GridV932"/>
          <p:cNvCxnSpPr/>
          <p:nvPr/>
        </p:nvCxnSpPr>
        <p:spPr>
          <a:xfrm>
            <a:off x="94485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55" name="GridV933"/>
          <p:cNvCxnSpPr/>
          <p:nvPr/>
        </p:nvCxnSpPr>
        <p:spPr>
          <a:xfrm>
            <a:off x="97534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56" name="GridV934"/>
          <p:cNvCxnSpPr/>
          <p:nvPr/>
        </p:nvCxnSpPr>
        <p:spPr>
          <a:xfrm>
            <a:off x="100584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57" name="GridV935"/>
          <p:cNvCxnSpPr/>
          <p:nvPr/>
        </p:nvCxnSpPr>
        <p:spPr>
          <a:xfrm>
            <a:off x="103629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58" name="GridV936"/>
          <p:cNvCxnSpPr/>
          <p:nvPr/>
        </p:nvCxnSpPr>
        <p:spPr>
          <a:xfrm>
            <a:off x="106678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59" name="GridV937"/>
          <p:cNvCxnSpPr/>
          <p:nvPr/>
        </p:nvCxnSpPr>
        <p:spPr>
          <a:xfrm>
            <a:off x="109728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60" name="GridV938"/>
          <p:cNvCxnSpPr/>
          <p:nvPr/>
        </p:nvCxnSpPr>
        <p:spPr>
          <a:xfrm>
            <a:off x="112773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61" name="GridV939"/>
          <p:cNvCxnSpPr/>
          <p:nvPr/>
        </p:nvCxnSpPr>
        <p:spPr>
          <a:xfrm>
            <a:off x="115822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62" name="GridV940"/>
          <p:cNvCxnSpPr/>
          <p:nvPr/>
        </p:nvCxnSpPr>
        <p:spPr>
          <a:xfrm>
            <a:off x="118872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63" name="GridV941"/>
          <p:cNvCxnSpPr/>
          <p:nvPr/>
        </p:nvCxnSpPr>
        <p:spPr>
          <a:xfrm>
            <a:off x="121917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64" name="GridH942"/>
          <p:cNvCxnSpPr/>
          <p:nvPr/>
        </p:nvCxnSpPr>
        <p:spPr>
          <a:xfrm>
            <a:off x="0" y="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65" name="GridH943"/>
          <p:cNvCxnSpPr/>
          <p:nvPr/>
        </p:nvCxnSpPr>
        <p:spPr>
          <a:xfrm>
            <a:off x="0" y="3045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66" name="GridH944"/>
          <p:cNvCxnSpPr/>
          <p:nvPr/>
        </p:nvCxnSpPr>
        <p:spPr>
          <a:xfrm>
            <a:off x="0" y="60948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67" name="GridH945"/>
          <p:cNvCxnSpPr/>
          <p:nvPr/>
        </p:nvCxnSpPr>
        <p:spPr>
          <a:xfrm>
            <a:off x="0" y="91440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68" name="GridH946"/>
          <p:cNvCxnSpPr/>
          <p:nvPr/>
        </p:nvCxnSpPr>
        <p:spPr>
          <a:xfrm>
            <a:off x="0" y="12189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69" name="GridH947"/>
          <p:cNvCxnSpPr/>
          <p:nvPr/>
        </p:nvCxnSpPr>
        <p:spPr>
          <a:xfrm>
            <a:off x="0" y="152388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70" name="GridH948"/>
          <p:cNvCxnSpPr/>
          <p:nvPr/>
        </p:nvCxnSpPr>
        <p:spPr>
          <a:xfrm>
            <a:off x="0" y="182880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71" name="GridH949"/>
          <p:cNvCxnSpPr/>
          <p:nvPr/>
        </p:nvCxnSpPr>
        <p:spPr>
          <a:xfrm>
            <a:off x="0" y="21333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72" name="GridH950"/>
          <p:cNvCxnSpPr/>
          <p:nvPr/>
        </p:nvCxnSpPr>
        <p:spPr>
          <a:xfrm>
            <a:off x="0" y="243828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73" name="GridH951"/>
          <p:cNvCxnSpPr/>
          <p:nvPr/>
        </p:nvCxnSpPr>
        <p:spPr>
          <a:xfrm>
            <a:off x="0" y="274320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74" name="GridH952"/>
          <p:cNvCxnSpPr/>
          <p:nvPr/>
        </p:nvCxnSpPr>
        <p:spPr>
          <a:xfrm>
            <a:off x="0" y="30477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75" name="GridH953"/>
          <p:cNvCxnSpPr/>
          <p:nvPr/>
        </p:nvCxnSpPr>
        <p:spPr>
          <a:xfrm>
            <a:off x="0" y="335268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76" name="GridH954"/>
          <p:cNvCxnSpPr/>
          <p:nvPr/>
        </p:nvCxnSpPr>
        <p:spPr>
          <a:xfrm>
            <a:off x="0" y="365760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77" name="GridH955"/>
          <p:cNvCxnSpPr/>
          <p:nvPr/>
        </p:nvCxnSpPr>
        <p:spPr>
          <a:xfrm>
            <a:off x="0" y="39621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78" name="GridH956"/>
          <p:cNvCxnSpPr/>
          <p:nvPr/>
        </p:nvCxnSpPr>
        <p:spPr>
          <a:xfrm>
            <a:off x="0" y="426708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79" name="GridH957"/>
          <p:cNvCxnSpPr/>
          <p:nvPr/>
        </p:nvCxnSpPr>
        <p:spPr>
          <a:xfrm>
            <a:off x="0" y="457200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80" name="GridH958"/>
          <p:cNvCxnSpPr/>
          <p:nvPr/>
        </p:nvCxnSpPr>
        <p:spPr>
          <a:xfrm>
            <a:off x="0" y="48765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81" name="GridH959"/>
          <p:cNvCxnSpPr/>
          <p:nvPr/>
        </p:nvCxnSpPr>
        <p:spPr>
          <a:xfrm>
            <a:off x="0" y="518148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82" name="GridH960"/>
          <p:cNvCxnSpPr/>
          <p:nvPr/>
        </p:nvCxnSpPr>
        <p:spPr>
          <a:xfrm>
            <a:off x="0" y="548640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83" name="GridH961"/>
          <p:cNvCxnSpPr/>
          <p:nvPr/>
        </p:nvCxnSpPr>
        <p:spPr>
          <a:xfrm>
            <a:off x="0" y="57909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84" name="GridH962"/>
          <p:cNvCxnSpPr/>
          <p:nvPr/>
        </p:nvCxnSpPr>
        <p:spPr>
          <a:xfrm>
            <a:off x="0" y="609588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85" name="GridH963"/>
          <p:cNvCxnSpPr/>
          <p:nvPr/>
        </p:nvCxnSpPr>
        <p:spPr>
          <a:xfrm>
            <a:off x="0" y="640080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86" name="GridH964"/>
          <p:cNvCxnSpPr/>
          <p:nvPr/>
        </p:nvCxnSpPr>
        <p:spPr>
          <a:xfrm>
            <a:off x="0" y="67053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sp>
        <p:nvSpPr>
          <p:cNvPr id="1487" name="TextBox 2"/>
          <p:cNvSpPr/>
          <p:nvPr/>
        </p:nvSpPr>
        <p:spPr>
          <a:xfrm>
            <a:off x="502920" y="411480"/>
            <a:ext cx="7996320" cy="26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pc="201" strike="noStrike">
                <a:solidFill>
                  <a:srgbClr val="818CF8"/>
                </a:solidFill>
                <a:effectLst/>
                <a:uFillTx/>
                <a:latin typeface="Roboto"/>
              </a:rPr>
              <a:t>04 · MODELING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8" name="TextBox 3"/>
          <p:cNvSpPr/>
          <p:nvPr/>
        </p:nvSpPr>
        <p:spPr>
          <a:xfrm>
            <a:off x="502920" y="658440"/>
            <a:ext cx="10995480" cy="68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Why lags matter: ACF &amp; PACF</a:t>
            </a:r>
            <a:endParaRPr lang="fr-F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9" name="TextBox 4"/>
          <p:cNvSpPr/>
          <p:nvPr/>
        </p:nvSpPr>
        <p:spPr>
          <a:xfrm>
            <a:off x="502920" y="1404000"/>
            <a:ext cx="1099656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Today's radiation strongly explains tomorrow's, but most of the signal is already captured by J-1.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0" name="Rounded Rectangle 5"/>
          <p:cNvSpPr/>
          <p:nvPr/>
        </p:nvSpPr>
        <p:spPr>
          <a:xfrm>
            <a:off x="502920" y="1828800"/>
            <a:ext cx="5584320" cy="3928320"/>
          </a:xfrm>
          <a:prstGeom prst="roundRect">
            <a:avLst>
              <a:gd name="adj" fmla="val 1860"/>
            </a:avLst>
          </a:prstGeom>
          <a:solidFill>
            <a:srgbClr val="2635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91" name="Rounded Rectangle 7"/>
          <p:cNvSpPr/>
          <p:nvPr/>
        </p:nvSpPr>
        <p:spPr>
          <a:xfrm>
            <a:off x="6319440" y="1828800"/>
            <a:ext cx="5584320" cy="3928320"/>
          </a:xfrm>
          <a:prstGeom prst="roundRect">
            <a:avLst>
              <a:gd name="adj" fmla="val 1860"/>
            </a:avLst>
          </a:prstGeom>
          <a:solidFill>
            <a:srgbClr val="2635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cxnSp>
        <p:nvCxnSpPr>
          <p:cNvPr id="1492" name="Connector 9"/>
          <p:cNvCxnSpPr/>
          <p:nvPr/>
        </p:nvCxnSpPr>
        <p:spPr>
          <a:xfrm>
            <a:off x="548640" y="5943600"/>
            <a:ext cx="10976400" cy="3600"/>
          </a:xfrm>
          <a:prstGeom prst="straightConnector1">
            <a:avLst/>
          </a:prstGeom>
          <a:ln w="9525">
            <a:solidFill>
              <a:srgbClr val="3D4B72"/>
            </a:solidFill>
            <a:round/>
          </a:ln>
        </p:spPr>
      </p:cxnSp>
      <p:sp>
        <p:nvSpPr>
          <p:cNvPr id="1493" name="TextBox 10"/>
          <p:cNvSpPr/>
          <p:nvPr/>
        </p:nvSpPr>
        <p:spPr>
          <a:xfrm>
            <a:off x="457200" y="6172200"/>
            <a:ext cx="8224920" cy="26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Solar Production Forecasting · Machine Learning · Streamlit Dashboard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4" name="TextBox 11"/>
          <p:cNvSpPr/>
          <p:nvPr/>
        </p:nvSpPr>
        <p:spPr>
          <a:xfrm>
            <a:off x="11274480" y="6172200"/>
            <a:ext cx="452520" cy="26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06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95" name=""/>
          <p:cNvPicPr/>
          <p:nvPr/>
        </p:nvPicPr>
        <p:blipFill>
          <a:blip r:embed="rId1"/>
          <a:stretch/>
        </p:blipFill>
        <p:spPr>
          <a:xfrm>
            <a:off x="538920" y="1866600"/>
            <a:ext cx="5506560" cy="3868560"/>
          </a:xfrm>
          <a:prstGeom prst="rect">
            <a:avLst/>
          </a:prstGeom>
          <a:noFill/>
          <a:ln w="38160">
            <a:noFill/>
          </a:ln>
        </p:spPr>
      </p:pic>
      <p:pic>
        <p:nvPicPr>
          <p:cNvPr id="1496" name=""/>
          <p:cNvPicPr/>
          <p:nvPr/>
        </p:nvPicPr>
        <p:blipFill>
          <a:blip r:embed="rId2"/>
          <a:stretch/>
        </p:blipFill>
        <p:spPr>
          <a:xfrm>
            <a:off x="6354000" y="1868400"/>
            <a:ext cx="5506560" cy="3864960"/>
          </a:xfrm>
          <a:prstGeom prst="rect">
            <a:avLst/>
          </a:prstGeom>
          <a:noFill/>
          <a:ln w="3816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7" name="Rectangle 1"/>
          <p:cNvSpPr/>
          <p:nvPr/>
        </p:nvSpPr>
        <p:spPr>
          <a:xfrm>
            <a:off x="0" y="0"/>
            <a:ext cx="12188520" cy="6854400"/>
          </a:xfrm>
          <a:prstGeom prst="rect">
            <a:avLst/>
          </a:prstGeom>
          <a:solidFill>
            <a:srgbClr val="0A0E1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cxnSp>
        <p:nvCxnSpPr>
          <p:cNvPr id="1498" name="GridV901"/>
          <p:cNvCxnSpPr/>
          <p:nvPr/>
        </p:nvCxnSpPr>
        <p:spPr>
          <a:xfrm>
            <a:off x="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99" name="GridV902"/>
          <p:cNvCxnSpPr/>
          <p:nvPr/>
        </p:nvCxnSpPr>
        <p:spPr>
          <a:xfrm>
            <a:off x="3045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00" name="GridV903"/>
          <p:cNvCxnSpPr/>
          <p:nvPr/>
        </p:nvCxnSpPr>
        <p:spPr>
          <a:xfrm>
            <a:off x="6094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01" name="GridV904"/>
          <p:cNvCxnSpPr/>
          <p:nvPr/>
        </p:nvCxnSpPr>
        <p:spPr>
          <a:xfrm>
            <a:off x="9144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02" name="GridV905"/>
          <p:cNvCxnSpPr/>
          <p:nvPr/>
        </p:nvCxnSpPr>
        <p:spPr>
          <a:xfrm>
            <a:off x="12189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03" name="GridV906"/>
          <p:cNvCxnSpPr/>
          <p:nvPr/>
        </p:nvCxnSpPr>
        <p:spPr>
          <a:xfrm>
            <a:off x="15238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04" name="GridV907"/>
          <p:cNvCxnSpPr/>
          <p:nvPr/>
        </p:nvCxnSpPr>
        <p:spPr>
          <a:xfrm>
            <a:off x="18288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05" name="GridV908"/>
          <p:cNvCxnSpPr/>
          <p:nvPr/>
        </p:nvCxnSpPr>
        <p:spPr>
          <a:xfrm>
            <a:off x="21333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06" name="GridV909"/>
          <p:cNvCxnSpPr/>
          <p:nvPr/>
        </p:nvCxnSpPr>
        <p:spPr>
          <a:xfrm>
            <a:off x="24382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07" name="GridV910"/>
          <p:cNvCxnSpPr/>
          <p:nvPr/>
        </p:nvCxnSpPr>
        <p:spPr>
          <a:xfrm>
            <a:off x="27432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08" name="GridV911"/>
          <p:cNvCxnSpPr/>
          <p:nvPr/>
        </p:nvCxnSpPr>
        <p:spPr>
          <a:xfrm>
            <a:off x="30477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09" name="GridV912"/>
          <p:cNvCxnSpPr/>
          <p:nvPr/>
        </p:nvCxnSpPr>
        <p:spPr>
          <a:xfrm>
            <a:off x="33526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10" name="GridV913"/>
          <p:cNvCxnSpPr/>
          <p:nvPr/>
        </p:nvCxnSpPr>
        <p:spPr>
          <a:xfrm>
            <a:off x="36576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11" name="GridV914"/>
          <p:cNvCxnSpPr/>
          <p:nvPr/>
        </p:nvCxnSpPr>
        <p:spPr>
          <a:xfrm>
            <a:off x="39621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12" name="GridV915"/>
          <p:cNvCxnSpPr/>
          <p:nvPr/>
        </p:nvCxnSpPr>
        <p:spPr>
          <a:xfrm>
            <a:off x="42670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13" name="GridV916"/>
          <p:cNvCxnSpPr/>
          <p:nvPr/>
        </p:nvCxnSpPr>
        <p:spPr>
          <a:xfrm>
            <a:off x="45720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14" name="GridV917"/>
          <p:cNvCxnSpPr/>
          <p:nvPr/>
        </p:nvCxnSpPr>
        <p:spPr>
          <a:xfrm>
            <a:off x="48765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15" name="GridV918"/>
          <p:cNvCxnSpPr/>
          <p:nvPr/>
        </p:nvCxnSpPr>
        <p:spPr>
          <a:xfrm>
            <a:off x="51814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16" name="GridV919"/>
          <p:cNvCxnSpPr/>
          <p:nvPr/>
        </p:nvCxnSpPr>
        <p:spPr>
          <a:xfrm>
            <a:off x="54864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17" name="GridV920"/>
          <p:cNvCxnSpPr/>
          <p:nvPr/>
        </p:nvCxnSpPr>
        <p:spPr>
          <a:xfrm>
            <a:off x="57909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18" name="GridV921"/>
          <p:cNvCxnSpPr/>
          <p:nvPr/>
        </p:nvCxnSpPr>
        <p:spPr>
          <a:xfrm>
            <a:off x="60958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19" name="GridV922"/>
          <p:cNvCxnSpPr/>
          <p:nvPr/>
        </p:nvCxnSpPr>
        <p:spPr>
          <a:xfrm>
            <a:off x="64008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20" name="GridV923"/>
          <p:cNvCxnSpPr/>
          <p:nvPr/>
        </p:nvCxnSpPr>
        <p:spPr>
          <a:xfrm>
            <a:off x="67053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21" name="GridV924"/>
          <p:cNvCxnSpPr/>
          <p:nvPr/>
        </p:nvCxnSpPr>
        <p:spPr>
          <a:xfrm>
            <a:off x="70102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22" name="GridV925"/>
          <p:cNvCxnSpPr/>
          <p:nvPr/>
        </p:nvCxnSpPr>
        <p:spPr>
          <a:xfrm>
            <a:off x="73152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23" name="GridV926"/>
          <p:cNvCxnSpPr/>
          <p:nvPr/>
        </p:nvCxnSpPr>
        <p:spPr>
          <a:xfrm>
            <a:off x="76197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24" name="GridV927"/>
          <p:cNvCxnSpPr/>
          <p:nvPr/>
        </p:nvCxnSpPr>
        <p:spPr>
          <a:xfrm>
            <a:off x="79246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25" name="GridV928"/>
          <p:cNvCxnSpPr/>
          <p:nvPr/>
        </p:nvCxnSpPr>
        <p:spPr>
          <a:xfrm>
            <a:off x="82296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26" name="GridV929"/>
          <p:cNvCxnSpPr/>
          <p:nvPr/>
        </p:nvCxnSpPr>
        <p:spPr>
          <a:xfrm>
            <a:off x="85341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27" name="GridV930"/>
          <p:cNvCxnSpPr/>
          <p:nvPr/>
        </p:nvCxnSpPr>
        <p:spPr>
          <a:xfrm>
            <a:off x="88390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28" name="GridV931"/>
          <p:cNvCxnSpPr/>
          <p:nvPr/>
        </p:nvCxnSpPr>
        <p:spPr>
          <a:xfrm>
            <a:off x="91440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29" name="GridV932"/>
          <p:cNvCxnSpPr/>
          <p:nvPr/>
        </p:nvCxnSpPr>
        <p:spPr>
          <a:xfrm>
            <a:off x="94485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30" name="GridV933"/>
          <p:cNvCxnSpPr/>
          <p:nvPr/>
        </p:nvCxnSpPr>
        <p:spPr>
          <a:xfrm>
            <a:off x="97534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31" name="GridV934"/>
          <p:cNvCxnSpPr/>
          <p:nvPr/>
        </p:nvCxnSpPr>
        <p:spPr>
          <a:xfrm>
            <a:off x="100584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32" name="GridV935"/>
          <p:cNvCxnSpPr/>
          <p:nvPr/>
        </p:nvCxnSpPr>
        <p:spPr>
          <a:xfrm>
            <a:off x="103629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33" name="GridV936"/>
          <p:cNvCxnSpPr/>
          <p:nvPr/>
        </p:nvCxnSpPr>
        <p:spPr>
          <a:xfrm>
            <a:off x="106678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34" name="GridV937"/>
          <p:cNvCxnSpPr/>
          <p:nvPr/>
        </p:nvCxnSpPr>
        <p:spPr>
          <a:xfrm>
            <a:off x="109728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35" name="GridV938"/>
          <p:cNvCxnSpPr/>
          <p:nvPr/>
        </p:nvCxnSpPr>
        <p:spPr>
          <a:xfrm>
            <a:off x="112773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36" name="GridV939"/>
          <p:cNvCxnSpPr/>
          <p:nvPr/>
        </p:nvCxnSpPr>
        <p:spPr>
          <a:xfrm>
            <a:off x="115822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37" name="GridV940"/>
          <p:cNvCxnSpPr/>
          <p:nvPr/>
        </p:nvCxnSpPr>
        <p:spPr>
          <a:xfrm>
            <a:off x="118872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38" name="GridV941"/>
          <p:cNvCxnSpPr/>
          <p:nvPr/>
        </p:nvCxnSpPr>
        <p:spPr>
          <a:xfrm>
            <a:off x="121917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39" name="GridH942"/>
          <p:cNvCxnSpPr/>
          <p:nvPr/>
        </p:nvCxnSpPr>
        <p:spPr>
          <a:xfrm>
            <a:off x="0" y="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40" name="GridH943"/>
          <p:cNvCxnSpPr/>
          <p:nvPr/>
        </p:nvCxnSpPr>
        <p:spPr>
          <a:xfrm>
            <a:off x="0" y="3045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41" name="GridH944"/>
          <p:cNvCxnSpPr/>
          <p:nvPr/>
        </p:nvCxnSpPr>
        <p:spPr>
          <a:xfrm>
            <a:off x="0" y="60948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42" name="GridH945"/>
          <p:cNvCxnSpPr/>
          <p:nvPr/>
        </p:nvCxnSpPr>
        <p:spPr>
          <a:xfrm>
            <a:off x="0" y="91440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43" name="GridH946"/>
          <p:cNvCxnSpPr/>
          <p:nvPr/>
        </p:nvCxnSpPr>
        <p:spPr>
          <a:xfrm>
            <a:off x="0" y="12189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44" name="GridH947"/>
          <p:cNvCxnSpPr/>
          <p:nvPr/>
        </p:nvCxnSpPr>
        <p:spPr>
          <a:xfrm>
            <a:off x="0" y="152388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45" name="GridH948"/>
          <p:cNvCxnSpPr/>
          <p:nvPr/>
        </p:nvCxnSpPr>
        <p:spPr>
          <a:xfrm>
            <a:off x="0" y="182880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46" name="GridH949"/>
          <p:cNvCxnSpPr/>
          <p:nvPr/>
        </p:nvCxnSpPr>
        <p:spPr>
          <a:xfrm>
            <a:off x="0" y="21333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47" name="GridH950"/>
          <p:cNvCxnSpPr/>
          <p:nvPr/>
        </p:nvCxnSpPr>
        <p:spPr>
          <a:xfrm>
            <a:off x="0" y="243828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48" name="GridH951"/>
          <p:cNvCxnSpPr/>
          <p:nvPr/>
        </p:nvCxnSpPr>
        <p:spPr>
          <a:xfrm>
            <a:off x="0" y="274320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49" name="GridH952"/>
          <p:cNvCxnSpPr/>
          <p:nvPr/>
        </p:nvCxnSpPr>
        <p:spPr>
          <a:xfrm>
            <a:off x="0" y="30477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50" name="GridH953"/>
          <p:cNvCxnSpPr/>
          <p:nvPr/>
        </p:nvCxnSpPr>
        <p:spPr>
          <a:xfrm>
            <a:off x="0" y="335268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51" name="GridH954"/>
          <p:cNvCxnSpPr/>
          <p:nvPr/>
        </p:nvCxnSpPr>
        <p:spPr>
          <a:xfrm>
            <a:off x="0" y="365760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52" name="GridH955"/>
          <p:cNvCxnSpPr/>
          <p:nvPr/>
        </p:nvCxnSpPr>
        <p:spPr>
          <a:xfrm>
            <a:off x="0" y="39621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53" name="GridH956"/>
          <p:cNvCxnSpPr/>
          <p:nvPr/>
        </p:nvCxnSpPr>
        <p:spPr>
          <a:xfrm>
            <a:off x="0" y="426708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54" name="GridH957"/>
          <p:cNvCxnSpPr/>
          <p:nvPr/>
        </p:nvCxnSpPr>
        <p:spPr>
          <a:xfrm>
            <a:off x="0" y="457200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55" name="GridH958"/>
          <p:cNvCxnSpPr/>
          <p:nvPr/>
        </p:nvCxnSpPr>
        <p:spPr>
          <a:xfrm>
            <a:off x="0" y="48765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56" name="GridH959"/>
          <p:cNvCxnSpPr/>
          <p:nvPr/>
        </p:nvCxnSpPr>
        <p:spPr>
          <a:xfrm>
            <a:off x="0" y="518148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57" name="GridH960"/>
          <p:cNvCxnSpPr/>
          <p:nvPr/>
        </p:nvCxnSpPr>
        <p:spPr>
          <a:xfrm>
            <a:off x="0" y="548640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58" name="GridH961"/>
          <p:cNvCxnSpPr/>
          <p:nvPr/>
        </p:nvCxnSpPr>
        <p:spPr>
          <a:xfrm>
            <a:off x="0" y="57909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59" name="GridH962"/>
          <p:cNvCxnSpPr/>
          <p:nvPr/>
        </p:nvCxnSpPr>
        <p:spPr>
          <a:xfrm>
            <a:off x="0" y="609588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60" name="GridH963"/>
          <p:cNvCxnSpPr/>
          <p:nvPr/>
        </p:nvCxnSpPr>
        <p:spPr>
          <a:xfrm>
            <a:off x="0" y="640080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61" name="GridH964"/>
          <p:cNvCxnSpPr/>
          <p:nvPr/>
        </p:nvCxnSpPr>
        <p:spPr>
          <a:xfrm>
            <a:off x="0" y="67053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sp>
        <p:nvSpPr>
          <p:cNvPr id="1562" name="TextBox 2"/>
          <p:cNvSpPr/>
          <p:nvPr/>
        </p:nvSpPr>
        <p:spPr>
          <a:xfrm>
            <a:off x="502920" y="411480"/>
            <a:ext cx="7996320" cy="26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pc="201" strike="noStrike">
                <a:solidFill>
                  <a:srgbClr val="818CF8"/>
                </a:solidFill>
                <a:effectLst/>
                <a:uFillTx/>
                <a:latin typeface="Roboto"/>
              </a:rPr>
              <a:t>05 · MODEL CHOICE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3" name="TextBox 3"/>
          <p:cNvSpPr/>
          <p:nvPr/>
        </p:nvSpPr>
        <p:spPr>
          <a:xfrm>
            <a:off x="502920" y="658440"/>
            <a:ext cx="10995480" cy="68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Fr</a:t>
            </a: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o</a:t>
            </a: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m </a:t>
            </a: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ba</a:t>
            </a: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se</a:t>
            </a: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lin</a:t>
            </a: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e </a:t>
            </a: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to </a:t>
            </a: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fin</a:t>
            </a: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al </a:t>
            </a: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m</a:t>
            </a: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od</a:t>
            </a: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el</a:t>
            </a:r>
            <a:endParaRPr lang="fr-F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4" name="TextBox 4"/>
          <p:cNvSpPr/>
          <p:nvPr/>
        </p:nvSpPr>
        <p:spPr>
          <a:xfrm>
            <a:off x="502920" y="1404000"/>
            <a:ext cx="1099656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8 models evaluated, from the naive baseline to XGBoost, scored on unseen 2024–2026 data. Ridge chosen as final model.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565" name="Connector 5"/>
          <p:cNvCxnSpPr/>
          <p:nvPr/>
        </p:nvCxnSpPr>
        <p:spPr>
          <a:xfrm>
            <a:off x="708480" y="2221920"/>
            <a:ext cx="3600" cy="3148920"/>
          </a:xfrm>
          <a:prstGeom prst="straightConnector1">
            <a:avLst/>
          </a:prstGeom>
          <a:ln w="15875">
            <a:solidFill>
              <a:srgbClr val="3D4B72"/>
            </a:solidFill>
            <a:round/>
          </a:ln>
        </p:spPr>
      </p:cxnSp>
      <p:sp>
        <p:nvSpPr>
          <p:cNvPr id="1566" name="Oval 6"/>
          <p:cNvSpPr/>
          <p:nvPr/>
        </p:nvSpPr>
        <p:spPr>
          <a:xfrm>
            <a:off x="502920" y="2016360"/>
            <a:ext cx="407880" cy="407880"/>
          </a:xfrm>
          <a:prstGeom prst="ellipse">
            <a:avLst/>
          </a:prstGeom>
          <a:solidFill>
            <a:srgbClr val="4338C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67" name="TextBox 7"/>
          <p:cNvSpPr/>
          <p:nvPr/>
        </p:nvSpPr>
        <p:spPr>
          <a:xfrm>
            <a:off x="502920" y="2016360"/>
            <a:ext cx="40788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1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8" name="TextBox 8"/>
          <p:cNvSpPr/>
          <p:nvPr/>
        </p:nvSpPr>
        <p:spPr>
          <a:xfrm>
            <a:off x="1097280" y="1957680"/>
            <a:ext cx="3801960" cy="26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Linear regression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9" name="TextBox 9"/>
          <p:cNvSpPr/>
          <p:nvPr/>
        </p:nvSpPr>
        <p:spPr>
          <a:xfrm>
            <a:off x="1097280" y="2250000"/>
            <a:ext cx="3801960" cy="15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lang="en-US" sz="1000" b="0" u="none" strike="noStrike">
                <a:solidFill>
                  <a:srgbClr val="9AA5C0"/>
                </a:solidFill>
                <a:effectLst/>
                <a:uFillTx/>
                <a:latin typeface="Roboto"/>
                <a:ea typeface="Noto Sans CJK SC"/>
              </a:rPr>
              <a:t>Baseline run, no feature engineering. R² = 0.761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0" name="Oval 10"/>
          <p:cNvSpPr/>
          <p:nvPr/>
        </p:nvSpPr>
        <p:spPr>
          <a:xfrm>
            <a:off x="502920" y="2802600"/>
            <a:ext cx="407880" cy="407880"/>
          </a:xfrm>
          <a:prstGeom prst="ellipse">
            <a:avLst/>
          </a:prstGeom>
          <a:solidFill>
            <a:srgbClr val="4338C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71" name="TextBox 11"/>
          <p:cNvSpPr/>
          <p:nvPr/>
        </p:nvSpPr>
        <p:spPr>
          <a:xfrm>
            <a:off x="502920" y="2802600"/>
            <a:ext cx="40788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2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2" name="TextBox 12"/>
          <p:cNvSpPr/>
          <p:nvPr/>
        </p:nvSpPr>
        <p:spPr>
          <a:xfrm>
            <a:off x="1097280" y="2744280"/>
            <a:ext cx="3801960" cy="26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Add lags &amp; rolling means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3" name="TextBox 13"/>
          <p:cNvSpPr/>
          <p:nvPr/>
        </p:nvSpPr>
        <p:spPr>
          <a:xfrm>
            <a:off x="1097280" y="3036240"/>
            <a:ext cx="3801960" cy="15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lang="en-US" sz="1000" b="0" u="none" strike="noStrike">
                <a:solidFill>
                  <a:srgbClr val="9AA5C0"/>
                </a:solidFill>
                <a:effectLst/>
                <a:uFillTx/>
                <a:latin typeface="Roboto"/>
                <a:ea typeface="Noto Sans CJK SC"/>
              </a:rPr>
              <a:t>J-1, J-2, </a:t>
            </a:r>
            <a:r>
              <a:rPr lang="en-US" sz="1000" b="0" u="none" strike="noStrike">
                <a:solidFill>
                  <a:srgbClr val="9AA5C0"/>
                </a:solidFill>
                <a:effectLst/>
                <a:uFillTx/>
                <a:latin typeface="Roboto"/>
                <a:ea typeface="Noto Sans CJK SC"/>
              </a:rPr>
              <a:t>J-3 </a:t>
            </a:r>
            <a:r>
              <a:rPr lang="en-US" sz="1000" b="0" u="none" strike="noStrike">
                <a:solidFill>
                  <a:srgbClr val="9AA5C0"/>
                </a:solidFill>
                <a:effectLst/>
                <a:uFillTx/>
                <a:latin typeface="Roboto"/>
                <a:ea typeface="Noto Sans CJK SC"/>
              </a:rPr>
              <a:t>plus </a:t>
            </a:r>
            <a:r>
              <a:rPr lang="en-US" sz="1000" b="0" u="none" strike="noStrike">
                <a:solidFill>
                  <a:srgbClr val="9AA5C0"/>
                </a:solidFill>
                <a:effectLst/>
                <a:uFillTx/>
                <a:latin typeface="Roboto"/>
                <a:ea typeface="Noto Sans CJK SC"/>
              </a:rPr>
              <a:t>rolling </a:t>
            </a:r>
            <a:r>
              <a:rPr lang="en-US" sz="1000" b="0" u="none" strike="noStrike">
                <a:solidFill>
                  <a:srgbClr val="9AA5C0"/>
                </a:solidFill>
                <a:effectLst/>
                <a:uFillTx/>
                <a:latin typeface="Roboto"/>
                <a:ea typeface="Noto Sans CJK SC"/>
              </a:rPr>
              <a:t>means. </a:t>
            </a:r>
            <a:r>
              <a:rPr lang="en-US" sz="1000" b="0" u="none" strike="noStrike">
                <a:solidFill>
                  <a:srgbClr val="9AA5C0"/>
                </a:solidFill>
                <a:effectLst/>
                <a:uFillTx/>
                <a:latin typeface="Roboto"/>
                <a:ea typeface="Noto Sans CJK SC"/>
              </a:rPr>
              <a:t>R² = </a:t>
            </a:r>
            <a:r>
              <a:rPr lang="en-US" sz="1000" b="0" u="none" strike="noStrike">
                <a:solidFill>
                  <a:srgbClr val="9AA5C0"/>
                </a:solidFill>
                <a:effectLst/>
                <a:uFillTx/>
                <a:latin typeface="Roboto"/>
                <a:ea typeface="Noto Sans CJK SC"/>
              </a:rPr>
              <a:t>0.778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4" name="Oval 14"/>
          <p:cNvSpPr/>
          <p:nvPr/>
        </p:nvSpPr>
        <p:spPr>
          <a:xfrm>
            <a:off x="502920" y="3589200"/>
            <a:ext cx="407880" cy="407880"/>
          </a:xfrm>
          <a:prstGeom prst="ellipse">
            <a:avLst/>
          </a:prstGeom>
          <a:solidFill>
            <a:srgbClr val="4338C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75" name="TextBox 15"/>
          <p:cNvSpPr/>
          <p:nvPr/>
        </p:nvSpPr>
        <p:spPr>
          <a:xfrm>
            <a:off x="502920" y="3589200"/>
            <a:ext cx="40788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3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6" name="TextBox 16"/>
          <p:cNvSpPr/>
          <p:nvPr/>
        </p:nvSpPr>
        <p:spPr>
          <a:xfrm>
            <a:off x="1097280" y="3530520"/>
            <a:ext cx="380196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Add </a:t>
            </a: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seas</a:t>
            </a: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onalit</a:t>
            </a: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y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7" name="TextBox 17"/>
          <p:cNvSpPr/>
          <p:nvPr/>
        </p:nvSpPr>
        <p:spPr>
          <a:xfrm>
            <a:off x="1097280" y="3822840"/>
            <a:ext cx="3801960" cy="15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lang="en-US" sz="10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Calendar encodings (sin/cos of day of year). R² = 0.792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8" name="Oval 18"/>
          <p:cNvSpPr/>
          <p:nvPr/>
        </p:nvSpPr>
        <p:spPr>
          <a:xfrm>
            <a:off x="502920" y="4375440"/>
            <a:ext cx="407880" cy="407880"/>
          </a:xfrm>
          <a:prstGeom prst="ellipse">
            <a:avLst/>
          </a:prstGeom>
          <a:solidFill>
            <a:srgbClr val="4338C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79" name="TextBox 19"/>
          <p:cNvSpPr/>
          <p:nvPr/>
        </p:nvSpPr>
        <p:spPr>
          <a:xfrm>
            <a:off x="502920" y="4375440"/>
            <a:ext cx="40788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4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0" name="TextBox 20"/>
          <p:cNvSpPr/>
          <p:nvPr/>
        </p:nvSpPr>
        <p:spPr>
          <a:xfrm>
            <a:off x="1097280" y="4317120"/>
            <a:ext cx="3801960" cy="26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GridSearchCV x TimeSeriesSplit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1" name="TextBox 21"/>
          <p:cNvSpPr/>
          <p:nvPr/>
        </p:nvSpPr>
        <p:spPr>
          <a:xfrm>
            <a:off x="1097280" y="4609080"/>
            <a:ext cx="3801960" cy="51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lang="en-US" sz="10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Lasso, Ridge, RF, XGBoost tuned on 5 expanding-window folds.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2" name="Oval 22"/>
          <p:cNvSpPr/>
          <p:nvPr/>
        </p:nvSpPr>
        <p:spPr>
          <a:xfrm>
            <a:off x="502920" y="5161680"/>
            <a:ext cx="407880" cy="407880"/>
          </a:xfrm>
          <a:prstGeom prst="ellipse">
            <a:avLst/>
          </a:prstGeom>
          <a:solidFill>
            <a:srgbClr val="818C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83" name="TextBox 23"/>
          <p:cNvSpPr/>
          <p:nvPr/>
        </p:nvSpPr>
        <p:spPr>
          <a:xfrm>
            <a:off x="502920" y="5161680"/>
            <a:ext cx="40788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5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4" name="TextBox 24"/>
          <p:cNvSpPr/>
          <p:nvPr/>
        </p:nvSpPr>
        <p:spPr>
          <a:xfrm>
            <a:off x="1097280" y="5103360"/>
            <a:ext cx="3801960" cy="26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818CF8"/>
                </a:solidFill>
                <a:effectLst/>
                <a:uFillTx/>
                <a:latin typeface="Roboto"/>
              </a:rPr>
              <a:t>Ridge (L2) selected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5" name="TextBox 25"/>
          <p:cNvSpPr/>
          <p:nvPr/>
        </p:nvSpPr>
        <p:spPr>
          <a:xfrm>
            <a:off x="1097280" y="5395320"/>
            <a:ext cx="3801960" cy="32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5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0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−15% error vs baseline (RMSE 437 → 371), with a far smaller train-test gap than RF/XGBoost.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586" name="Table 26"/>
          <p:cNvGraphicFramePr/>
          <p:nvPr/>
        </p:nvGraphicFramePr>
        <p:xfrm>
          <a:off x="5222880" y="1828800"/>
          <a:ext cx="6465600" cy="3981240"/>
        </p:xfrm>
        <a:graphic>
          <a:graphicData uri="http://schemas.openxmlformats.org/drawingml/2006/table">
            <a:tbl>
              <a:tblPr/>
              <a:tblGrid>
                <a:gridCol w="2974320"/>
                <a:gridCol w="1163880"/>
                <a:gridCol w="1163880"/>
                <a:gridCol w="1163880"/>
              </a:tblGrid>
              <a:tr h="436680">
                <a:tc>
                  <a:txBody>
                    <a:bodyPr lIns="137160" tIns="68400" rIns="137160" bIns="684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150" b="1" u="none" strike="noStrike">
                          <a:solidFill>
                            <a:srgbClr val="818CF8"/>
                          </a:solidFill>
                          <a:effectLst/>
                          <a:uFillTx/>
                          <a:latin typeface="Roboto"/>
                        </a:rPr>
                        <a:t>Model</a:t>
                      </a:r>
                      <a:endParaRPr lang="fr-FR" sz="11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82240"/>
                    </a:solidFill>
                  </a:tcPr>
                </a:tc>
                <a:tc>
                  <a:txBody>
                    <a:bodyPr lIns="137160" tIns="68400" rIns="137160" bIns="684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150" b="1" u="none" strike="noStrike">
                          <a:solidFill>
                            <a:srgbClr val="818CF8"/>
                          </a:solidFill>
                          <a:effectLst/>
                          <a:uFillTx/>
                          <a:latin typeface="Roboto"/>
                        </a:rPr>
                        <a:t>R²</a:t>
                      </a:r>
                      <a:endParaRPr lang="fr-FR" sz="11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82240"/>
                    </a:solidFill>
                  </a:tcPr>
                </a:tc>
                <a:tc>
                  <a:txBody>
                    <a:bodyPr lIns="137160" tIns="68400" rIns="137160" bIns="684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  <a:spcBef>
                          <a:spcPts val="1191"/>
                        </a:spcBef>
                        <a:spcAft>
                          <a:spcPts val="992"/>
                        </a:spcAft>
                      </a:pPr>
                      <a:r>
                        <a:rPr lang="en-US" sz="1150" b="1" u="none" strike="noStrike">
                          <a:solidFill>
                            <a:srgbClr val="818CF8"/>
                          </a:solidFill>
                          <a:effectLst/>
                          <a:uFillTx/>
                          <a:latin typeface="Roboto"/>
                        </a:rPr>
                        <a:t>MAE</a:t>
                      </a:r>
                      <a:br>
                        <a:rPr sz="1150"/>
                      </a:br>
                      <a:r>
                        <a:rPr lang="en-US" sz="1150" b="1" u="none" strike="noStrike">
                          <a:solidFill>
                            <a:srgbClr val="818CF8"/>
                          </a:solidFill>
                          <a:effectLst/>
                          <a:uFillTx/>
                          <a:latin typeface="Roboto"/>
                        </a:rPr>
                        <a:t>(J/cm²)</a:t>
                      </a:r>
                      <a:endParaRPr lang="fr-FR" sz="11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82240"/>
                    </a:solidFill>
                  </a:tcPr>
                </a:tc>
                <a:tc>
                  <a:txBody>
                    <a:bodyPr lIns="137160" tIns="68400" rIns="137160" bIns="684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  <a:spcBef>
                          <a:spcPts val="1191"/>
                        </a:spcBef>
                        <a:spcAft>
                          <a:spcPts val="992"/>
                        </a:spcAft>
                      </a:pPr>
                      <a:r>
                        <a:rPr lang="en-US" sz="1150" b="1" u="none" strike="noStrike">
                          <a:solidFill>
                            <a:srgbClr val="818CF8"/>
                          </a:solidFill>
                          <a:effectLst/>
                          <a:uFillTx/>
                          <a:latin typeface="Roboto"/>
                          <a:ea typeface="Noto Sans CJK SC"/>
                        </a:rPr>
                        <a:t>RMSE (J/cm²)</a:t>
                      </a:r>
                      <a:endParaRPr lang="fr-FR" sz="11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82240"/>
                    </a:solidFill>
                  </a:tcPr>
                </a:tc>
              </a:tr>
              <a:tr h="436680">
                <a:tc>
                  <a:txBody>
                    <a:bodyPr lIns="137160" tIns="68400" rIns="137160" bIns="684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Roboto"/>
                        </a:rPr>
                        <a:t>Naive baseline (persistence)</a:t>
                      </a:r>
                      <a:endParaRPr lang="fr-FR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63659"/>
                    </a:solidFill>
                  </a:tcPr>
                </a:tc>
                <a:tc>
                  <a:txBody>
                    <a:bodyPr lIns="137160" tIns="68400" rIns="137160" bIns="684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9AA5C0"/>
                          </a:solidFill>
                          <a:effectLst/>
                          <a:uFillTx/>
                          <a:latin typeface="Roboto"/>
                        </a:rPr>
                        <a:t>0.708</a:t>
                      </a:r>
                      <a:endParaRPr lang="fr-FR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63659"/>
                    </a:solidFill>
                  </a:tcPr>
                </a:tc>
                <a:tc>
                  <a:txBody>
                    <a:bodyPr lIns="137160" tIns="68400" rIns="137160" bIns="684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9AA5C0"/>
                          </a:solidFill>
                          <a:effectLst/>
                          <a:uFillTx/>
                          <a:latin typeface="Roboto"/>
                        </a:rPr>
                        <a:t>316</a:t>
                      </a:r>
                      <a:endParaRPr lang="fr-FR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63659"/>
                    </a:solidFill>
                  </a:tcPr>
                </a:tc>
                <a:tc>
                  <a:txBody>
                    <a:bodyPr lIns="137160" tIns="68400" rIns="137160" bIns="684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9AA5C0"/>
                          </a:solidFill>
                          <a:effectLst/>
                          <a:uFillTx/>
                          <a:latin typeface="Roboto"/>
                        </a:rPr>
                        <a:t>437</a:t>
                      </a:r>
                      <a:endParaRPr lang="fr-FR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63659"/>
                    </a:solidFill>
                  </a:tcPr>
                </a:tc>
              </a:tr>
              <a:tr h="436680">
                <a:tc>
                  <a:txBody>
                    <a:bodyPr lIns="137160" tIns="68400" rIns="137160" bIns="684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Roboto"/>
                        </a:rPr>
                        <a:t>LR, no feature engineering</a:t>
                      </a:r>
                      <a:endParaRPr lang="fr-FR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02C4D"/>
                    </a:solidFill>
                  </a:tcPr>
                </a:tc>
                <a:tc>
                  <a:txBody>
                    <a:bodyPr lIns="137160" tIns="68400" rIns="137160" bIns="684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9AA5C0"/>
                          </a:solidFill>
                          <a:effectLst/>
                          <a:uFillTx/>
                          <a:latin typeface="Roboto"/>
                        </a:rPr>
                        <a:t>0.761</a:t>
                      </a:r>
                      <a:endParaRPr lang="fr-FR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02C4D"/>
                    </a:solidFill>
                  </a:tcPr>
                </a:tc>
                <a:tc>
                  <a:txBody>
                    <a:bodyPr lIns="137160" tIns="68400" rIns="137160" bIns="684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9AA5C0"/>
                          </a:solidFill>
                          <a:effectLst/>
                          <a:uFillTx/>
                          <a:latin typeface="Roboto"/>
                        </a:rPr>
                        <a:t>301</a:t>
                      </a:r>
                      <a:endParaRPr lang="fr-FR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02C4D"/>
                    </a:solidFill>
                  </a:tcPr>
                </a:tc>
                <a:tc>
                  <a:txBody>
                    <a:bodyPr lIns="137160" tIns="68400" rIns="137160" bIns="684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9AA5C0"/>
                          </a:solidFill>
                          <a:effectLst/>
                          <a:uFillTx/>
                          <a:latin typeface="Roboto"/>
                        </a:rPr>
                        <a:t>395</a:t>
                      </a:r>
                      <a:endParaRPr lang="fr-FR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02C4D"/>
                    </a:solidFill>
                  </a:tcPr>
                </a:tc>
              </a:tr>
              <a:tr h="436680">
                <a:tc>
                  <a:txBody>
                    <a:bodyPr lIns="137160" tIns="68400" rIns="137160" bIns="684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Roboto"/>
                        </a:rPr>
                        <a:t>LR, with lags (J-1/J-2/J-3)</a:t>
                      </a:r>
                      <a:endParaRPr lang="fr-FR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63659"/>
                    </a:solidFill>
                  </a:tcPr>
                </a:tc>
                <a:tc>
                  <a:txBody>
                    <a:bodyPr lIns="137160" tIns="68400" rIns="137160" bIns="684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9AA5C0"/>
                          </a:solidFill>
                          <a:effectLst/>
                          <a:uFillTx/>
                          <a:latin typeface="Roboto"/>
                        </a:rPr>
                        <a:t>0.778</a:t>
                      </a:r>
                      <a:endParaRPr lang="fr-FR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63659"/>
                    </a:solidFill>
                  </a:tcPr>
                </a:tc>
                <a:tc>
                  <a:txBody>
                    <a:bodyPr lIns="137160" tIns="68400" rIns="137160" bIns="684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9AA5C0"/>
                          </a:solidFill>
                          <a:effectLst/>
                          <a:uFillTx/>
                          <a:latin typeface="Roboto"/>
                        </a:rPr>
                        <a:t>288</a:t>
                      </a:r>
                      <a:endParaRPr lang="fr-FR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63659"/>
                    </a:solidFill>
                  </a:tcPr>
                </a:tc>
                <a:tc>
                  <a:txBody>
                    <a:bodyPr lIns="137160" tIns="68400" rIns="137160" bIns="684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9AA5C0"/>
                          </a:solidFill>
                          <a:effectLst/>
                          <a:uFillTx/>
                          <a:latin typeface="Roboto"/>
                        </a:rPr>
                        <a:t>381</a:t>
                      </a:r>
                      <a:endParaRPr lang="fr-FR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63659"/>
                    </a:solidFill>
                  </a:tcPr>
                </a:tc>
              </a:tr>
              <a:tr h="436680">
                <a:tc>
                  <a:txBody>
                    <a:bodyPr lIns="137160" tIns="68400" rIns="137160" bIns="684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Roboto"/>
                        </a:rPr>
                        <a:t>LR, lags + seasonality</a:t>
                      </a:r>
                      <a:endParaRPr lang="fr-FR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02C4D"/>
                    </a:solidFill>
                  </a:tcPr>
                </a:tc>
                <a:tc>
                  <a:txBody>
                    <a:bodyPr lIns="137160" tIns="68400" rIns="137160" bIns="684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9AA5C0"/>
                          </a:solidFill>
                          <a:effectLst/>
                          <a:uFillTx/>
                          <a:latin typeface="Roboto"/>
                        </a:rPr>
                        <a:t>0.792</a:t>
                      </a:r>
                      <a:endParaRPr lang="fr-FR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02C4D"/>
                    </a:solidFill>
                  </a:tcPr>
                </a:tc>
                <a:tc>
                  <a:txBody>
                    <a:bodyPr lIns="137160" tIns="68400" rIns="137160" bIns="684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9AA5C0"/>
                          </a:solidFill>
                          <a:effectLst/>
                          <a:uFillTx/>
                          <a:latin typeface="Roboto"/>
                        </a:rPr>
                        <a:t>279</a:t>
                      </a:r>
                      <a:endParaRPr lang="fr-FR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02C4D"/>
                    </a:solidFill>
                  </a:tcPr>
                </a:tc>
                <a:tc>
                  <a:txBody>
                    <a:bodyPr lIns="137160" tIns="68400" rIns="137160" bIns="684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9AA5C0"/>
                          </a:solidFill>
                          <a:effectLst/>
                          <a:uFillTx/>
                          <a:latin typeface="Roboto"/>
                        </a:rPr>
                        <a:t>368</a:t>
                      </a:r>
                      <a:endParaRPr lang="fr-FR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02C4D"/>
                    </a:solidFill>
                  </a:tcPr>
                </a:tc>
              </a:tr>
              <a:tr h="436680">
                <a:tc>
                  <a:txBody>
                    <a:bodyPr lIns="137160" tIns="68400" rIns="137160" bIns="684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Roboto"/>
                        </a:rPr>
                        <a:t>Lasso (L1)</a:t>
                      </a:r>
                      <a:endParaRPr lang="fr-FR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63659"/>
                    </a:solidFill>
                  </a:tcPr>
                </a:tc>
                <a:tc>
                  <a:txBody>
                    <a:bodyPr lIns="137160" tIns="68400" rIns="137160" bIns="684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9AA5C0"/>
                          </a:solidFill>
                          <a:effectLst/>
                          <a:uFillTx/>
                          <a:latin typeface="Roboto"/>
                        </a:rPr>
                        <a:t>0.788</a:t>
                      </a:r>
                      <a:endParaRPr lang="fr-FR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63659"/>
                    </a:solidFill>
                  </a:tcPr>
                </a:tc>
                <a:tc>
                  <a:txBody>
                    <a:bodyPr lIns="137160" tIns="68400" rIns="137160" bIns="684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9AA5C0"/>
                          </a:solidFill>
                          <a:effectLst/>
                          <a:uFillTx/>
                          <a:latin typeface="Roboto"/>
                        </a:rPr>
                        <a:t>282</a:t>
                      </a:r>
                      <a:endParaRPr lang="fr-FR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63659"/>
                    </a:solidFill>
                  </a:tcPr>
                </a:tc>
                <a:tc>
                  <a:txBody>
                    <a:bodyPr lIns="137160" tIns="68400" rIns="137160" bIns="684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9AA5C0"/>
                          </a:solidFill>
                          <a:effectLst/>
                          <a:uFillTx/>
                          <a:latin typeface="Roboto"/>
                        </a:rPr>
                        <a:t>372</a:t>
                      </a:r>
                      <a:endParaRPr lang="fr-FR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63659"/>
                    </a:solidFill>
                  </a:tcPr>
                </a:tc>
              </a:tr>
              <a:tr h="436680">
                <a:tc>
                  <a:txBody>
                    <a:bodyPr lIns="137160" tIns="68400" rIns="137160" bIns="684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0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Roboto"/>
                        </a:rPr>
                        <a:t>Ridge (L2), FINAL MODEL</a:t>
                      </a:r>
                      <a:endParaRPr lang="fr-FR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303F70"/>
                    </a:solidFill>
                  </a:tcPr>
                </a:tc>
                <a:tc>
                  <a:txBody>
                    <a:bodyPr lIns="137160" tIns="68400" rIns="137160" bIns="684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50" b="1" u="none" strike="noStrike">
                          <a:solidFill>
                            <a:srgbClr val="818CF8"/>
                          </a:solidFill>
                          <a:effectLst/>
                          <a:uFillTx/>
                          <a:latin typeface="Roboto"/>
                        </a:rPr>
                        <a:t>0.789</a:t>
                      </a:r>
                      <a:endParaRPr lang="fr-FR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303F70"/>
                    </a:solidFill>
                  </a:tcPr>
                </a:tc>
                <a:tc>
                  <a:txBody>
                    <a:bodyPr lIns="137160" tIns="68400" rIns="137160" bIns="684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50" b="1" u="none" strike="noStrike">
                          <a:solidFill>
                            <a:srgbClr val="818CF8"/>
                          </a:solidFill>
                          <a:effectLst/>
                          <a:uFillTx/>
                          <a:latin typeface="Roboto"/>
                        </a:rPr>
                        <a:t>282</a:t>
                      </a:r>
                      <a:endParaRPr lang="fr-FR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303F70"/>
                    </a:solidFill>
                  </a:tcPr>
                </a:tc>
                <a:tc>
                  <a:txBody>
                    <a:bodyPr lIns="137160" tIns="68400" rIns="137160" bIns="684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50" b="1" u="none" strike="noStrike">
                          <a:solidFill>
                            <a:srgbClr val="818CF8"/>
                          </a:solidFill>
                          <a:effectLst/>
                          <a:uFillTx/>
                          <a:latin typeface="Roboto"/>
                        </a:rPr>
                        <a:t>371</a:t>
                      </a:r>
                      <a:endParaRPr lang="fr-FR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303F70"/>
                    </a:solidFill>
                  </a:tcPr>
                </a:tc>
              </a:tr>
              <a:tr h="436680">
                <a:tc>
                  <a:txBody>
                    <a:bodyPr lIns="137160" tIns="68400" rIns="137160" bIns="684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Roboto"/>
                        </a:rPr>
                        <a:t>Random Forest</a:t>
                      </a:r>
                      <a:endParaRPr lang="fr-FR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63659"/>
                    </a:solidFill>
                  </a:tcPr>
                </a:tc>
                <a:tc>
                  <a:txBody>
                    <a:bodyPr lIns="137160" tIns="68400" rIns="137160" bIns="684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9AA5C0"/>
                          </a:solidFill>
                          <a:effectLst/>
                          <a:uFillTx/>
                          <a:latin typeface="Roboto"/>
                        </a:rPr>
                        <a:t>0.800</a:t>
                      </a:r>
                      <a:endParaRPr lang="fr-FR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63659"/>
                    </a:solidFill>
                  </a:tcPr>
                </a:tc>
                <a:tc>
                  <a:txBody>
                    <a:bodyPr lIns="137160" tIns="68400" rIns="137160" bIns="684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9AA5C0"/>
                          </a:solidFill>
                          <a:effectLst/>
                          <a:uFillTx/>
                          <a:latin typeface="Roboto"/>
                        </a:rPr>
                        <a:t>274</a:t>
                      </a:r>
                      <a:endParaRPr lang="fr-FR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63659"/>
                    </a:solidFill>
                  </a:tcPr>
                </a:tc>
                <a:tc>
                  <a:txBody>
                    <a:bodyPr lIns="137160" tIns="68400" rIns="137160" bIns="684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9AA5C0"/>
                          </a:solidFill>
                          <a:effectLst/>
                          <a:uFillTx/>
                          <a:latin typeface="Roboto"/>
                        </a:rPr>
                        <a:t>362</a:t>
                      </a:r>
                      <a:endParaRPr lang="fr-FR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63659"/>
                    </a:solidFill>
                  </a:tcPr>
                </a:tc>
              </a:tr>
              <a:tr h="436680">
                <a:tc>
                  <a:txBody>
                    <a:bodyPr lIns="137160" tIns="68400" rIns="137160" bIns="684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Roboto"/>
                        </a:rPr>
                        <a:t>XGBoost</a:t>
                      </a:r>
                      <a:endParaRPr lang="fr-FR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02C4D"/>
                    </a:solidFill>
                  </a:tcPr>
                </a:tc>
                <a:tc>
                  <a:txBody>
                    <a:bodyPr lIns="137160" tIns="68400" rIns="137160" bIns="684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9AA5C0"/>
                          </a:solidFill>
                          <a:effectLst/>
                          <a:uFillTx/>
                          <a:latin typeface="Roboto"/>
                        </a:rPr>
                        <a:t>0.801</a:t>
                      </a:r>
                      <a:endParaRPr lang="fr-FR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02C4D"/>
                    </a:solidFill>
                  </a:tcPr>
                </a:tc>
                <a:tc>
                  <a:txBody>
                    <a:bodyPr lIns="137160" tIns="68400" rIns="137160" bIns="684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9AA5C0"/>
                          </a:solidFill>
                          <a:effectLst/>
                          <a:uFillTx/>
                          <a:latin typeface="Roboto"/>
                        </a:rPr>
                        <a:t>272</a:t>
                      </a:r>
                      <a:endParaRPr lang="fr-FR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02C4D"/>
                    </a:solidFill>
                  </a:tcPr>
                </a:tc>
                <a:tc>
                  <a:txBody>
                    <a:bodyPr lIns="137160" tIns="68400" rIns="137160" bIns="684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9AA5C0"/>
                          </a:solidFill>
                          <a:effectLst/>
                          <a:uFillTx/>
                          <a:latin typeface="Roboto"/>
                        </a:rPr>
                        <a:t>360</a:t>
                      </a:r>
                      <a:endParaRPr lang="fr-FR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02C4D"/>
                    </a:solidFill>
                  </a:tcPr>
                </a:tc>
              </a:tr>
            </a:tbl>
          </a:graphicData>
        </a:graphic>
      </p:graphicFrame>
      <p:cxnSp>
        <p:nvCxnSpPr>
          <p:cNvPr id="1587" name="Connector 27"/>
          <p:cNvCxnSpPr/>
          <p:nvPr/>
        </p:nvCxnSpPr>
        <p:spPr>
          <a:xfrm>
            <a:off x="548640" y="5943600"/>
            <a:ext cx="10976400" cy="3600"/>
          </a:xfrm>
          <a:prstGeom prst="straightConnector1">
            <a:avLst/>
          </a:prstGeom>
          <a:ln w="9525">
            <a:solidFill>
              <a:srgbClr val="3D4B72"/>
            </a:solidFill>
            <a:round/>
          </a:ln>
        </p:spPr>
      </p:cxnSp>
      <p:sp>
        <p:nvSpPr>
          <p:cNvPr id="1588" name="TextBox 28"/>
          <p:cNvSpPr/>
          <p:nvPr/>
        </p:nvSpPr>
        <p:spPr>
          <a:xfrm>
            <a:off x="457200" y="6172200"/>
            <a:ext cx="8224920" cy="26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Solar </a:t>
            </a: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Production </a:t>
            </a: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Forecasting </a:t>
            </a: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· Machine </a:t>
            </a: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Learning · </a:t>
            </a: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Streamlit </a:t>
            </a: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Dashboard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9" name="TextBox 29"/>
          <p:cNvSpPr/>
          <p:nvPr/>
        </p:nvSpPr>
        <p:spPr>
          <a:xfrm>
            <a:off x="11274480" y="6172200"/>
            <a:ext cx="452520" cy="26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07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0" name="Rectangle 1"/>
          <p:cNvSpPr/>
          <p:nvPr/>
        </p:nvSpPr>
        <p:spPr>
          <a:xfrm>
            <a:off x="0" y="0"/>
            <a:ext cx="12188520" cy="6854400"/>
          </a:xfrm>
          <a:prstGeom prst="rect">
            <a:avLst/>
          </a:prstGeom>
          <a:solidFill>
            <a:srgbClr val="0A0E1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cxnSp>
        <p:nvCxnSpPr>
          <p:cNvPr id="1591" name="GridV901"/>
          <p:cNvCxnSpPr/>
          <p:nvPr/>
        </p:nvCxnSpPr>
        <p:spPr>
          <a:xfrm>
            <a:off x="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92" name="GridV902"/>
          <p:cNvCxnSpPr/>
          <p:nvPr/>
        </p:nvCxnSpPr>
        <p:spPr>
          <a:xfrm>
            <a:off x="3045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93" name="GridV903"/>
          <p:cNvCxnSpPr/>
          <p:nvPr/>
        </p:nvCxnSpPr>
        <p:spPr>
          <a:xfrm>
            <a:off x="6094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94" name="GridV904"/>
          <p:cNvCxnSpPr/>
          <p:nvPr/>
        </p:nvCxnSpPr>
        <p:spPr>
          <a:xfrm>
            <a:off x="9144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95" name="GridV905"/>
          <p:cNvCxnSpPr/>
          <p:nvPr/>
        </p:nvCxnSpPr>
        <p:spPr>
          <a:xfrm>
            <a:off x="12189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96" name="GridV906"/>
          <p:cNvCxnSpPr/>
          <p:nvPr/>
        </p:nvCxnSpPr>
        <p:spPr>
          <a:xfrm>
            <a:off x="15238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97" name="GridV907"/>
          <p:cNvCxnSpPr/>
          <p:nvPr/>
        </p:nvCxnSpPr>
        <p:spPr>
          <a:xfrm>
            <a:off x="18288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98" name="GridV908"/>
          <p:cNvCxnSpPr/>
          <p:nvPr/>
        </p:nvCxnSpPr>
        <p:spPr>
          <a:xfrm>
            <a:off x="21333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99" name="GridV909"/>
          <p:cNvCxnSpPr/>
          <p:nvPr/>
        </p:nvCxnSpPr>
        <p:spPr>
          <a:xfrm>
            <a:off x="24382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00" name="GridV910"/>
          <p:cNvCxnSpPr/>
          <p:nvPr/>
        </p:nvCxnSpPr>
        <p:spPr>
          <a:xfrm>
            <a:off x="27432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01" name="GridV911"/>
          <p:cNvCxnSpPr/>
          <p:nvPr/>
        </p:nvCxnSpPr>
        <p:spPr>
          <a:xfrm>
            <a:off x="30477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02" name="GridV912"/>
          <p:cNvCxnSpPr/>
          <p:nvPr/>
        </p:nvCxnSpPr>
        <p:spPr>
          <a:xfrm>
            <a:off x="33526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03" name="GridV913"/>
          <p:cNvCxnSpPr/>
          <p:nvPr/>
        </p:nvCxnSpPr>
        <p:spPr>
          <a:xfrm>
            <a:off x="36576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04" name="GridV914"/>
          <p:cNvCxnSpPr/>
          <p:nvPr/>
        </p:nvCxnSpPr>
        <p:spPr>
          <a:xfrm>
            <a:off x="39621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05" name="GridV915"/>
          <p:cNvCxnSpPr/>
          <p:nvPr/>
        </p:nvCxnSpPr>
        <p:spPr>
          <a:xfrm>
            <a:off x="42670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06" name="GridV916"/>
          <p:cNvCxnSpPr/>
          <p:nvPr/>
        </p:nvCxnSpPr>
        <p:spPr>
          <a:xfrm>
            <a:off x="45720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07" name="GridV917"/>
          <p:cNvCxnSpPr/>
          <p:nvPr/>
        </p:nvCxnSpPr>
        <p:spPr>
          <a:xfrm>
            <a:off x="48765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08" name="GridV918"/>
          <p:cNvCxnSpPr/>
          <p:nvPr/>
        </p:nvCxnSpPr>
        <p:spPr>
          <a:xfrm>
            <a:off x="51814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09" name="GridV919"/>
          <p:cNvCxnSpPr/>
          <p:nvPr/>
        </p:nvCxnSpPr>
        <p:spPr>
          <a:xfrm>
            <a:off x="54864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10" name="GridV920"/>
          <p:cNvCxnSpPr/>
          <p:nvPr/>
        </p:nvCxnSpPr>
        <p:spPr>
          <a:xfrm>
            <a:off x="57909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11" name="GridV921"/>
          <p:cNvCxnSpPr/>
          <p:nvPr/>
        </p:nvCxnSpPr>
        <p:spPr>
          <a:xfrm>
            <a:off x="60958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12" name="GridV922"/>
          <p:cNvCxnSpPr/>
          <p:nvPr/>
        </p:nvCxnSpPr>
        <p:spPr>
          <a:xfrm>
            <a:off x="64008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13" name="GridV923"/>
          <p:cNvCxnSpPr/>
          <p:nvPr/>
        </p:nvCxnSpPr>
        <p:spPr>
          <a:xfrm>
            <a:off x="67053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14" name="GridV924"/>
          <p:cNvCxnSpPr/>
          <p:nvPr/>
        </p:nvCxnSpPr>
        <p:spPr>
          <a:xfrm>
            <a:off x="70102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15" name="GridV925"/>
          <p:cNvCxnSpPr/>
          <p:nvPr/>
        </p:nvCxnSpPr>
        <p:spPr>
          <a:xfrm>
            <a:off x="73152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16" name="GridV926"/>
          <p:cNvCxnSpPr/>
          <p:nvPr/>
        </p:nvCxnSpPr>
        <p:spPr>
          <a:xfrm>
            <a:off x="76197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17" name="GridV927"/>
          <p:cNvCxnSpPr/>
          <p:nvPr/>
        </p:nvCxnSpPr>
        <p:spPr>
          <a:xfrm>
            <a:off x="79246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18" name="GridV928"/>
          <p:cNvCxnSpPr/>
          <p:nvPr/>
        </p:nvCxnSpPr>
        <p:spPr>
          <a:xfrm>
            <a:off x="82296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19" name="GridV929"/>
          <p:cNvCxnSpPr/>
          <p:nvPr/>
        </p:nvCxnSpPr>
        <p:spPr>
          <a:xfrm>
            <a:off x="85341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20" name="GridV930"/>
          <p:cNvCxnSpPr/>
          <p:nvPr/>
        </p:nvCxnSpPr>
        <p:spPr>
          <a:xfrm>
            <a:off x="88390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21" name="GridV931"/>
          <p:cNvCxnSpPr/>
          <p:nvPr/>
        </p:nvCxnSpPr>
        <p:spPr>
          <a:xfrm>
            <a:off x="91440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22" name="GridV932"/>
          <p:cNvCxnSpPr/>
          <p:nvPr/>
        </p:nvCxnSpPr>
        <p:spPr>
          <a:xfrm>
            <a:off x="94485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23" name="GridV933"/>
          <p:cNvCxnSpPr/>
          <p:nvPr/>
        </p:nvCxnSpPr>
        <p:spPr>
          <a:xfrm>
            <a:off x="97534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24" name="GridV934"/>
          <p:cNvCxnSpPr/>
          <p:nvPr/>
        </p:nvCxnSpPr>
        <p:spPr>
          <a:xfrm>
            <a:off x="100584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25" name="GridV935"/>
          <p:cNvCxnSpPr/>
          <p:nvPr/>
        </p:nvCxnSpPr>
        <p:spPr>
          <a:xfrm>
            <a:off x="103629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26" name="GridV936"/>
          <p:cNvCxnSpPr/>
          <p:nvPr/>
        </p:nvCxnSpPr>
        <p:spPr>
          <a:xfrm>
            <a:off x="106678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27" name="GridV937"/>
          <p:cNvCxnSpPr/>
          <p:nvPr/>
        </p:nvCxnSpPr>
        <p:spPr>
          <a:xfrm>
            <a:off x="109728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28" name="GridV938"/>
          <p:cNvCxnSpPr/>
          <p:nvPr/>
        </p:nvCxnSpPr>
        <p:spPr>
          <a:xfrm>
            <a:off x="112773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29" name="GridV939"/>
          <p:cNvCxnSpPr/>
          <p:nvPr/>
        </p:nvCxnSpPr>
        <p:spPr>
          <a:xfrm>
            <a:off x="115822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30" name="GridV940"/>
          <p:cNvCxnSpPr/>
          <p:nvPr/>
        </p:nvCxnSpPr>
        <p:spPr>
          <a:xfrm>
            <a:off x="118872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31" name="GridV941"/>
          <p:cNvCxnSpPr/>
          <p:nvPr/>
        </p:nvCxnSpPr>
        <p:spPr>
          <a:xfrm>
            <a:off x="121917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32" name="GridH942"/>
          <p:cNvCxnSpPr/>
          <p:nvPr/>
        </p:nvCxnSpPr>
        <p:spPr>
          <a:xfrm>
            <a:off x="0" y="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33" name="GridH943"/>
          <p:cNvCxnSpPr/>
          <p:nvPr/>
        </p:nvCxnSpPr>
        <p:spPr>
          <a:xfrm>
            <a:off x="0" y="3045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34" name="GridH944"/>
          <p:cNvCxnSpPr/>
          <p:nvPr/>
        </p:nvCxnSpPr>
        <p:spPr>
          <a:xfrm>
            <a:off x="0" y="60948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35" name="GridH945"/>
          <p:cNvCxnSpPr/>
          <p:nvPr/>
        </p:nvCxnSpPr>
        <p:spPr>
          <a:xfrm>
            <a:off x="0" y="91440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36" name="GridH946"/>
          <p:cNvCxnSpPr/>
          <p:nvPr/>
        </p:nvCxnSpPr>
        <p:spPr>
          <a:xfrm>
            <a:off x="0" y="12189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37" name="GridH947"/>
          <p:cNvCxnSpPr/>
          <p:nvPr/>
        </p:nvCxnSpPr>
        <p:spPr>
          <a:xfrm>
            <a:off x="0" y="152388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38" name="GridH948"/>
          <p:cNvCxnSpPr/>
          <p:nvPr/>
        </p:nvCxnSpPr>
        <p:spPr>
          <a:xfrm>
            <a:off x="0" y="182880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39" name="GridH949"/>
          <p:cNvCxnSpPr/>
          <p:nvPr/>
        </p:nvCxnSpPr>
        <p:spPr>
          <a:xfrm>
            <a:off x="0" y="21333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40" name="GridH950"/>
          <p:cNvCxnSpPr/>
          <p:nvPr/>
        </p:nvCxnSpPr>
        <p:spPr>
          <a:xfrm>
            <a:off x="0" y="243828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41" name="GridH951"/>
          <p:cNvCxnSpPr/>
          <p:nvPr/>
        </p:nvCxnSpPr>
        <p:spPr>
          <a:xfrm>
            <a:off x="0" y="274320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42" name="GridH952"/>
          <p:cNvCxnSpPr/>
          <p:nvPr/>
        </p:nvCxnSpPr>
        <p:spPr>
          <a:xfrm>
            <a:off x="0" y="30477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43" name="GridH953"/>
          <p:cNvCxnSpPr/>
          <p:nvPr/>
        </p:nvCxnSpPr>
        <p:spPr>
          <a:xfrm>
            <a:off x="0" y="335268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44" name="GridH954"/>
          <p:cNvCxnSpPr/>
          <p:nvPr/>
        </p:nvCxnSpPr>
        <p:spPr>
          <a:xfrm>
            <a:off x="0" y="365760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45" name="GridH955"/>
          <p:cNvCxnSpPr/>
          <p:nvPr/>
        </p:nvCxnSpPr>
        <p:spPr>
          <a:xfrm>
            <a:off x="0" y="39621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46" name="GridH956"/>
          <p:cNvCxnSpPr/>
          <p:nvPr/>
        </p:nvCxnSpPr>
        <p:spPr>
          <a:xfrm>
            <a:off x="0" y="426708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47" name="GridH957"/>
          <p:cNvCxnSpPr/>
          <p:nvPr/>
        </p:nvCxnSpPr>
        <p:spPr>
          <a:xfrm>
            <a:off x="0" y="457200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48" name="GridH958"/>
          <p:cNvCxnSpPr/>
          <p:nvPr/>
        </p:nvCxnSpPr>
        <p:spPr>
          <a:xfrm>
            <a:off x="0" y="48765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49" name="GridH959"/>
          <p:cNvCxnSpPr/>
          <p:nvPr/>
        </p:nvCxnSpPr>
        <p:spPr>
          <a:xfrm>
            <a:off x="0" y="518148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50" name="GridH960"/>
          <p:cNvCxnSpPr/>
          <p:nvPr/>
        </p:nvCxnSpPr>
        <p:spPr>
          <a:xfrm>
            <a:off x="0" y="548640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51" name="GridH961"/>
          <p:cNvCxnSpPr/>
          <p:nvPr/>
        </p:nvCxnSpPr>
        <p:spPr>
          <a:xfrm>
            <a:off x="0" y="57909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52" name="GridH962"/>
          <p:cNvCxnSpPr/>
          <p:nvPr/>
        </p:nvCxnSpPr>
        <p:spPr>
          <a:xfrm>
            <a:off x="0" y="609588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53" name="GridH963"/>
          <p:cNvCxnSpPr/>
          <p:nvPr/>
        </p:nvCxnSpPr>
        <p:spPr>
          <a:xfrm>
            <a:off x="0" y="640080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54" name="GridH964"/>
          <p:cNvCxnSpPr/>
          <p:nvPr/>
        </p:nvCxnSpPr>
        <p:spPr>
          <a:xfrm>
            <a:off x="0" y="67053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sp>
        <p:nvSpPr>
          <p:cNvPr id="1655" name="TextBox 2"/>
          <p:cNvSpPr/>
          <p:nvPr/>
        </p:nvSpPr>
        <p:spPr>
          <a:xfrm>
            <a:off x="502920" y="411480"/>
            <a:ext cx="7996320" cy="26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pc="201" strike="noStrike">
                <a:solidFill>
                  <a:srgbClr val="818CF8"/>
                </a:solidFill>
                <a:effectLst/>
                <a:uFillTx/>
                <a:latin typeface="Roboto"/>
              </a:rPr>
              <a:t>05 · MODEL CHOICE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6" name="TextBox 3"/>
          <p:cNvSpPr/>
          <p:nvPr/>
        </p:nvSpPr>
        <p:spPr>
          <a:xfrm>
            <a:off x="502920" y="658440"/>
            <a:ext cx="10995480" cy="68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W</a:t>
            </a: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hy </a:t>
            </a: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Ri</a:t>
            </a: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dg</a:t>
            </a: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e, </a:t>
            </a: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no</a:t>
            </a: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t </a:t>
            </a: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Ra</a:t>
            </a: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nd</a:t>
            </a: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o</a:t>
            </a: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m </a:t>
            </a: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Fo</a:t>
            </a: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re</a:t>
            </a: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st </a:t>
            </a: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or </a:t>
            </a: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X</a:t>
            </a: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G</a:t>
            </a: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Bo</a:t>
            </a: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os</a:t>
            </a: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t?</a:t>
            </a:r>
            <a:endParaRPr lang="fr-F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7" name="TextBox 4"/>
          <p:cNvSpPr/>
          <p:nvPr/>
        </p:nvSpPr>
        <p:spPr>
          <a:xfrm>
            <a:off x="502920" y="1404000"/>
            <a:ext cx="10996560" cy="39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5-fold cross-validation inside the training period (2020–2023): RF and XGBoost score the same test R² as Ridge (within 0.01), with a much wider train/test gap.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658" name="Table 5"/>
          <p:cNvGraphicFramePr/>
          <p:nvPr/>
        </p:nvGraphicFramePr>
        <p:xfrm>
          <a:off x="502920" y="2011680"/>
          <a:ext cx="7314120" cy="1828800"/>
        </p:xfrm>
        <a:graphic>
          <a:graphicData uri="http://schemas.openxmlformats.org/drawingml/2006/table">
            <a:tbl>
              <a:tblPr/>
              <a:tblGrid>
                <a:gridCol w="2486880"/>
                <a:gridCol w="1609200"/>
                <a:gridCol w="1609200"/>
                <a:gridCol w="1609200"/>
              </a:tblGrid>
              <a:tr h="457200">
                <a:tc>
                  <a:txBody>
                    <a:bodyPr lIns="137160" tIns="68400" rIns="137160" bIns="684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818CF8"/>
                          </a:solidFill>
                          <a:effectLst/>
                          <a:uFillTx/>
                          <a:latin typeface="Roboto"/>
                        </a:rPr>
                        <a:t>Model</a:t>
                      </a:r>
                      <a:endParaRPr lang="fr-FR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82240"/>
                    </a:solidFill>
                  </a:tcPr>
                </a:tc>
                <a:tc>
                  <a:txBody>
                    <a:bodyPr lIns="137160" tIns="68400" rIns="137160" bIns="684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818CF8"/>
                          </a:solidFill>
                          <a:effectLst/>
                          <a:uFillTx/>
                          <a:latin typeface="Roboto"/>
                        </a:rPr>
                        <a:t>R² train (CV)</a:t>
                      </a:r>
                      <a:endParaRPr lang="fr-FR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82240"/>
                    </a:solidFill>
                  </a:tcPr>
                </a:tc>
                <a:tc>
                  <a:txBody>
                    <a:bodyPr lIns="137160" tIns="68400" rIns="137160" bIns="684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818CF8"/>
                          </a:solidFill>
                          <a:effectLst/>
                          <a:uFillTx/>
                          <a:latin typeface="Roboto"/>
                        </a:rPr>
                        <a:t>R² test (CV)</a:t>
                      </a:r>
                      <a:endParaRPr lang="fr-FR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82240"/>
                    </a:solidFill>
                  </a:tcPr>
                </a:tc>
                <a:tc>
                  <a:txBody>
                    <a:bodyPr lIns="137160" tIns="68400" rIns="137160" bIns="684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818CF8"/>
                          </a:solidFill>
                          <a:effectLst/>
                          <a:uFillTx/>
                          <a:latin typeface="Roboto"/>
                        </a:rPr>
                        <a:t>Train-test gap</a:t>
                      </a:r>
                      <a:endParaRPr lang="fr-FR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82240"/>
                    </a:solidFill>
                  </a:tcPr>
                </a:tc>
              </a:tr>
              <a:tr h="457200">
                <a:tc>
                  <a:txBody>
                    <a:bodyPr lIns="137160" tIns="68400" rIns="137160" bIns="684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1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Roboto"/>
                        </a:rPr>
                        <a:t>Ridge, chosen</a:t>
                      </a:r>
                      <a:endParaRPr lang="fr-FR" sz="11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303F70"/>
                    </a:solidFill>
                  </a:tcPr>
                </a:tc>
                <a:tc>
                  <a:txBody>
                    <a:bodyPr lIns="137160" tIns="68400" rIns="137160" bIns="684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150" b="1" u="none" strike="noStrike">
                          <a:solidFill>
                            <a:srgbClr val="818CF8"/>
                          </a:solidFill>
                          <a:effectLst/>
                          <a:uFillTx/>
                          <a:latin typeface="Roboto"/>
                        </a:rPr>
                        <a:t>0.767</a:t>
                      </a:r>
                      <a:endParaRPr lang="fr-FR" sz="11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303F70"/>
                    </a:solidFill>
                  </a:tcPr>
                </a:tc>
                <a:tc>
                  <a:txBody>
                    <a:bodyPr lIns="137160" tIns="68400" rIns="137160" bIns="684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150" b="1" u="none" strike="noStrike">
                          <a:solidFill>
                            <a:srgbClr val="818CF8"/>
                          </a:solidFill>
                          <a:effectLst/>
                          <a:uFillTx/>
                          <a:latin typeface="Roboto"/>
                        </a:rPr>
                        <a:t>0.742</a:t>
                      </a:r>
                      <a:endParaRPr lang="fr-FR" sz="11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303F70"/>
                    </a:solidFill>
                  </a:tcPr>
                </a:tc>
                <a:tc>
                  <a:txBody>
                    <a:bodyPr lIns="137160" tIns="68400" rIns="137160" bIns="684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150" b="1" u="none" strike="noStrike">
                          <a:solidFill>
                            <a:srgbClr val="818CF8"/>
                          </a:solidFill>
                          <a:effectLst/>
                          <a:uFillTx/>
                          <a:latin typeface="Roboto"/>
                        </a:rPr>
                        <a:t>0.025</a:t>
                      </a:r>
                      <a:endParaRPr lang="fr-FR" sz="11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303F70"/>
                    </a:solidFill>
                  </a:tcPr>
                </a:tc>
              </a:tr>
              <a:tr h="457200">
                <a:tc>
                  <a:txBody>
                    <a:bodyPr lIns="137160" tIns="68400" rIns="137160" bIns="684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15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Roboto"/>
                        </a:rPr>
                        <a:t>Random Forest</a:t>
                      </a:r>
                      <a:endParaRPr lang="fr-FR" sz="11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02C4D"/>
                    </a:solidFill>
                  </a:tcPr>
                </a:tc>
                <a:tc>
                  <a:txBody>
                    <a:bodyPr lIns="137160" tIns="68400" rIns="137160" bIns="684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150" b="0" u="none" strike="noStrike">
                          <a:solidFill>
                            <a:srgbClr val="9AA5C0"/>
                          </a:solidFill>
                          <a:effectLst/>
                          <a:uFillTx/>
                          <a:latin typeface="Roboto"/>
                        </a:rPr>
                        <a:t>0.855</a:t>
                      </a:r>
                      <a:endParaRPr lang="fr-FR" sz="11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02C4D"/>
                    </a:solidFill>
                  </a:tcPr>
                </a:tc>
                <a:tc>
                  <a:txBody>
                    <a:bodyPr lIns="137160" tIns="68400" rIns="137160" bIns="684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150" b="0" u="none" strike="noStrike">
                          <a:solidFill>
                            <a:srgbClr val="9AA5C0"/>
                          </a:solidFill>
                          <a:effectLst/>
                          <a:uFillTx/>
                          <a:latin typeface="Roboto"/>
                        </a:rPr>
                        <a:t>0.740</a:t>
                      </a:r>
                      <a:endParaRPr lang="fr-FR" sz="11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02C4D"/>
                    </a:solidFill>
                  </a:tcPr>
                </a:tc>
                <a:tc>
                  <a:txBody>
                    <a:bodyPr lIns="137160" tIns="68400" rIns="137160" bIns="684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150" b="0" u="none" strike="noStrike">
                          <a:solidFill>
                            <a:srgbClr val="9AA5C0"/>
                          </a:solidFill>
                          <a:effectLst/>
                          <a:uFillTx/>
                          <a:latin typeface="Roboto"/>
                        </a:rPr>
                        <a:t>0.115</a:t>
                      </a:r>
                      <a:endParaRPr lang="fr-FR" sz="11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02C4D"/>
                    </a:solidFill>
                  </a:tcPr>
                </a:tc>
              </a:tr>
              <a:tr h="457200">
                <a:tc>
                  <a:txBody>
                    <a:bodyPr lIns="137160" tIns="68400" rIns="137160" bIns="684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15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Roboto"/>
                        </a:rPr>
                        <a:t>XGBoost</a:t>
                      </a:r>
                      <a:endParaRPr lang="fr-FR" sz="11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63659"/>
                    </a:solidFill>
                  </a:tcPr>
                </a:tc>
                <a:tc>
                  <a:txBody>
                    <a:bodyPr lIns="137160" tIns="68400" rIns="137160" bIns="684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150" b="0" u="none" strike="noStrike">
                          <a:solidFill>
                            <a:srgbClr val="9AA5C0"/>
                          </a:solidFill>
                          <a:effectLst/>
                          <a:uFillTx/>
                          <a:latin typeface="Roboto"/>
                        </a:rPr>
                        <a:t>0.818</a:t>
                      </a:r>
                      <a:endParaRPr lang="fr-FR" sz="11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63659"/>
                    </a:solidFill>
                  </a:tcPr>
                </a:tc>
                <a:tc>
                  <a:txBody>
                    <a:bodyPr lIns="137160" tIns="68400" rIns="137160" bIns="684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150" b="0" u="none" strike="noStrike">
                          <a:solidFill>
                            <a:srgbClr val="9AA5C0"/>
                          </a:solidFill>
                          <a:effectLst/>
                          <a:uFillTx/>
                          <a:latin typeface="Roboto"/>
                        </a:rPr>
                        <a:t>0.748</a:t>
                      </a:r>
                      <a:endParaRPr lang="fr-FR" sz="11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63659"/>
                    </a:solidFill>
                  </a:tcPr>
                </a:tc>
                <a:tc>
                  <a:txBody>
                    <a:bodyPr lIns="137160" tIns="68400" rIns="137160" bIns="684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150" b="0" u="none" strike="noStrike">
                          <a:solidFill>
                            <a:srgbClr val="9AA5C0"/>
                          </a:solidFill>
                          <a:effectLst/>
                          <a:uFillTx/>
                          <a:latin typeface="Roboto"/>
                        </a:rPr>
                        <a:t>0.069</a:t>
                      </a:r>
                      <a:endParaRPr lang="fr-FR" sz="11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63659"/>
                    </a:solidFill>
                  </a:tcPr>
                </a:tc>
              </a:tr>
            </a:tbl>
          </a:graphicData>
        </a:graphic>
      </p:graphicFrame>
      <p:sp>
        <p:nvSpPr>
          <p:cNvPr id="1659" name="Rounded Rectangle 6"/>
          <p:cNvSpPr/>
          <p:nvPr/>
        </p:nvSpPr>
        <p:spPr>
          <a:xfrm>
            <a:off x="8047800" y="2011680"/>
            <a:ext cx="3637800" cy="1825200"/>
          </a:xfrm>
          <a:prstGeom prst="roundRect">
            <a:avLst>
              <a:gd name="adj" fmla="val 4000"/>
            </a:avLst>
          </a:prstGeom>
          <a:solidFill>
            <a:srgbClr val="2636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60" name="TextBox 7"/>
          <p:cNvSpPr/>
          <p:nvPr/>
        </p:nvSpPr>
        <p:spPr>
          <a:xfrm>
            <a:off x="8276400" y="2240280"/>
            <a:ext cx="3180600" cy="139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30000"/>
              </a:lnSpc>
            </a:pPr>
            <a:r>
              <a:rPr lang="en-US" sz="1200" b="0" u="none" strike="noStrike">
                <a:solidFill>
                  <a:srgbClr val="F4F6FB"/>
                </a:solidFill>
                <a:effectLst/>
                <a:uFillTx/>
                <a:latin typeface="Roboto"/>
              </a:rPr>
              <a:t>Ridge stays stable fold to fold (gap of about 0.02). RF and XGBoost barely gain more in test for a 3 to 5x larger gap: we prioritize robustness.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1" name="Rounded Rectangle 8"/>
          <p:cNvSpPr/>
          <p:nvPr/>
        </p:nvSpPr>
        <p:spPr>
          <a:xfrm>
            <a:off x="502920" y="4023360"/>
            <a:ext cx="11182680" cy="1733760"/>
          </a:xfrm>
          <a:prstGeom prst="roundRect">
            <a:avLst>
              <a:gd name="adj" fmla="val 4211"/>
            </a:avLst>
          </a:prstGeom>
          <a:solidFill>
            <a:srgbClr val="2636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62" name="TextBox 9"/>
          <p:cNvSpPr/>
          <p:nvPr/>
        </p:nvSpPr>
        <p:spPr>
          <a:xfrm>
            <a:off x="731520" y="4206240"/>
            <a:ext cx="10725480" cy="39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A physical limit, corrected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3" name="TextBox 10"/>
          <p:cNvSpPr/>
          <p:nvPr/>
        </p:nvSpPr>
        <p:spPr>
          <a:xfrm>
            <a:off x="731520" y="4640760"/>
            <a:ext cx="10725480" cy="89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30000"/>
              </a:lnSpc>
            </a:pPr>
            <a:r>
              <a:rPr lang="en-US" sz="12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Ridge, like any linear model, has no awareness that radiation can't be negative: it can predict slightly below 0 on low-radiation winter days. Predictions are therefore clipped to 0 (np.clip) before display and export, a correction that can only reduce error, never increase it.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664" name="Connector 11"/>
          <p:cNvCxnSpPr/>
          <p:nvPr/>
        </p:nvCxnSpPr>
        <p:spPr>
          <a:xfrm>
            <a:off x="548640" y="5943600"/>
            <a:ext cx="10976400" cy="3600"/>
          </a:xfrm>
          <a:prstGeom prst="straightConnector1">
            <a:avLst/>
          </a:prstGeom>
          <a:ln w="9525">
            <a:solidFill>
              <a:srgbClr val="3D4B72"/>
            </a:solidFill>
            <a:round/>
          </a:ln>
        </p:spPr>
      </p:cxnSp>
      <p:sp>
        <p:nvSpPr>
          <p:cNvPr id="1665" name="TextBox 12"/>
          <p:cNvSpPr/>
          <p:nvPr/>
        </p:nvSpPr>
        <p:spPr>
          <a:xfrm>
            <a:off x="457200" y="6172200"/>
            <a:ext cx="8224920" cy="26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Solar </a:t>
            </a: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Produc</a:t>
            </a: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tion </a:t>
            </a: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Foreca</a:t>
            </a: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sting · </a:t>
            </a: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Machin</a:t>
            </a: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e </a:t>
            </a: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Learnin</a:t>
            </a: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g · </a:t>
            </a: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Streaml</a:t>
            </a: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it </a:t>
            </a: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Dashbo</a:t>
            </a: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ard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6" name="TextBox 13"/>
          <p:cNvSpPr/>
          <p:nvPr/>
        </p:nvSpPr>
        <p:spPr>
          <a:xfrm>
            <a:off x="11274480" y="6172200"/>
            <a:ext cx="452520" cy="26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08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7" name="Rectangle 1"/>
          <p:cNvSpPr/>
          <p:nvPr/>
        </p:nvSpPr>
        <p:spPr>
          <a:xfrm>
            <a:off x="0" y="0"/>
            <a:ext cx="12188520" cy="6854400"/>
          </a:xfrm>
          <a:prstGeom prst="rect">
            <a:avLst/>
          </a:prstGeom>
          <a:solidFill>
            <a:srgbClr val="0A0E1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cxnSp>
        <p:nvCxnSpPr>
          <p:cNvPr id="1668" name="GridV901"/>
          <p:cNvCxnSpPr/>
          <p:nvPr/>
        </p:nvCxnSpPr>
        <p:spPr>
          <a:xfrm>
            <a:off x="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69" name="GridV902"/>
          <p:cNvCxnSpPr/>
          <p:nvPr/>
        </p:nvCxnSpPr>
        <p:spPr>
          <a:xfrm>
            <a:off x="3045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70" name="GridV903"/>
          <p:cNvCxnSpPr/>
          <p:nvPr/>
        </p:nvCxnSpPr>
        <p:spPr>
          <a:xfrm>
            <a:off x="6094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71" name="GridV904"/>
          <p:cNvCxnSpPr/>
          <p:nvPr/>
        </p:nvCxnSpPr>
        <p:spPr>
          <a:xfrm>
            <a:off x="9144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72" name="GridV905"/>
          <p:cNvCxnSpPr/>
          <p:nvPr/>
        </p:nvCxnSpPr>
        <p:spPr>
          <a:xfrm>
            <a:off x="12189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73" name="GridV906"/>
          <p:cNvCxnSpPr/>
          <p:nvPr/>
        </p:nvCxnSpPr>
        <p:spPr>
          <a:xfrm>
            <a:off x="15238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74" name="GridV907"/>
          <p:cNvCxnSpPr/>
          <p:nvPr/>
        </p:nvCxnSpPr>
        <p:spPr>
          <a:xfrm>
            <a:off x="18288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75" name="GridV908"/>
          <p:cNvCxnSpPr/>
          <p:nvPr/>
        </p:nvCxnSpPr>
        <p:spPr>
          <a:xfrm>
            <a:off x="21333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76" name="GridV909"/>
          <p:cNvCxnSpPr/>
          <p:nvPr/>
        </p:nvCxnSpPr>
        <p:spPr>
          <a:xfrm>
            <a:off x="24382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77" name="GridV910"/>
          <p:cNvCxnSpPr/>
          <p:nvPr/>
        </p:nvCxnSpPr>
        <p:spPr>
          <a:xfrm>
            <a:off x="27432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78" name="GridV911"/>
          <p:cNvCxnSpPr/>
          <p:nvPr/>
        </p:nvCxnSpPr>
        <p:spPr>
          <a:xfrm>
            <a:off x="30477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79" name="GridV912"/>
          <p:cNvCxnSpPr/>
          <p:nvPr/>
        </p:nvCxnSpPr>
        <p:spPr>
          <a:xfrm>
            <a:off x="33526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80" name="GridV913"/>
          <p:cNvCxnSpPr/>
          <p:nvPr/>
        </p:nvCxnSpPr>
        <p:spPr>
          <a:xfrm>
            <a:off x="36576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81" name="GridV914"/>
          <p:cNvCxnSpPr/>
          <p:nvPr/>
        </p:nvCxnSpPr>
        <p:spPr>
          <a:xfrm>
            <a:off x="39621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82" name="GridV915"/>
          <p:cNvCxnSpPr/>
          <p:nvPr/>
        </p:nvCxnSpPr>
        <p:spPr>
          <a:xfrm>
            <a:off x="42670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83" name="GridV916"/>
          <p:cNvCxnSpPr/>
          <p:nvPr/>
        </p:nvCxnSpPr>
        <p:spPr>
          <a:xfrm>
            <a:off x="45720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84" name="GridV917"/>
          <p:cNvCxnSpPr/>
          <p:nvPr/>
        </p:nvCxnSpPr>
        <p:spPr>
          <a:xfrm>
            <a:off x="48765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85" name="GridV918"/>
          <p:cNvCxnSpPr/>
          <p:nvPr/>
        </p:nvCxnSpPr>
        <p:spPr>
          <a:xfrm>
            <a:off x="51814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86" name="GridV919"/>
          <p:cNvCxnSpPr/>
          <p:nvPr/>
        </p:nvCxnSpPr>
        <p:spPr>
          <a:xfrm>
            <a:off x="54864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87" name="GridV920"/>
          <p:cNvCxnSpPr/>
          <p:nvPr/>
        </p:nvCxnSpPr>
        <p:spPr>
          <a:xfrm>
            <a:off x="57909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88" name="GridV921"/>
          <p:cNvCxnSpPr/>
          <p:nvPr/>
        </p:nvCxnSpPr>
        <p:spPr>
          <a:xfrm>
            <a:off x="60958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89" name="GridV922"/>
          <p:cNvCxnSpPr/>
          <p:nvPr/>
        </p:nvCxnSpPr>
        <p:spPr>
          <a:xfrm>
            <a:off x="64008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90" name="GridV923"/>
          <p:cNvCxnSpPr/>
          <p:nvPr/>
        </p:nvCxnSpPr>
        <p:spPr>
          <a:xfrm>
            <a:off x="67053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91" name="GridV924"/>
          <p:cNvCxnSpPr/>
          <p:nvPr/>
        </p:nvCxnSpPr>
        <p:spPr>
          <a:xfrm>
            <a:off x="70102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92" name="GridV925"/>
          <p:cNvCxnSpPr/>
          <p:nvPr/>
        </p:nvCxnSpPr>
        <p:spPr>
          <a:xfrm>
            <a:off x="73152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93" name="GridV926"/>
          <p:cNvCxnSpPr/>
          <p:nvPr/>
        </p:nvCxnSpPr>
        <p:spPr>
          <a:xfrm>
            <a:off x="76197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94" name="GridV927"/>
          <p:cNvCxnSpPr/>
          <p:nvPr/>
        </p:nvCxnSpPr>
        <p:spPr>
          <a:xfrm>
            <a:off x="79246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95" name="GridV928"/>
          <p:cNvCxnSpPr/>
          <p:nvPr/>
        </p:nvCxnSpPr>
        <p:spPr>
          <a:xfrm>
            <a:off x="82296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96" name="GridV929"/>
          <p:cNvCxnSpPr/>
          <p:nvPr/>
        </p:nvCxnSpPr>
        <p:spPr>
          <a:xfrm>
            <a:off x="85341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97" name="GridV930"/>
          <p:cNvCxnSpPr/>
          <p:nvPr/>
        </p:nvCxnSpPr>
        <p:spPr>
          <a:xfrm>
            <a:off x="88390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98" name="GridV931"/>
          <p:cNvCxnSpPr/>
          <p:nvPr/>
        </p:nvCxnSpPr>
        <p:spPr>
          <a:xfrm>
            <a:off x="91440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99" name="GridV932"/>
          <p:cNvCxnSpPr/>
          <p:nvPr/>
        </p:nvCxnSpPr>
        <p:spPr>
          <a:xfrm>
            <a:off x="94485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00" name="GridV933"/>
          <p:cNvCxnSpPr/>
          <p:nvPr/>
        </p:nvCxnSpPr>
        <p:spPr>
          <a:xfrm>
            <a:off x="97534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01" name="GridV934"/>
          <p:cNvCxnSpPr/>
          <p:nvPr/>
        </p:nvCxnSpPr>
        <p:spPr>
          <a:xfrm>
            <a:off x="100584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02" name="GridV935"/>
          <p:cNvCxnSpPr/>
          <p:nvPr/>
        </p:nvCxnSpPr>
        <p:spPr>
          <a:xfrm>
            <a:off x="103629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03" name="GridV936"/>
          <p:cNvCxnSpPr/>
          <p:nvPr/>
        </p:nvCxnSpPr>
        <p:spPr>
          <a:xfrm>
            <a:off x="106678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04" name="GridV937"/>
          <p:cNvCxnSpPr/>
          <p:nvPr/>
        </p:nvCxnSpPr>
        <p:spPr>
          <a:xfrm>
            <a:off x="109728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05" name="GridV938"/>
          <p:cNvCxnSpPr/>
          <p:nvPr/>
        </p:nvCxnSpPr>
        <p:spPr>
          <a:xfrm>
            <a:off x="112773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06" name="GridV939"/>
          <p:cNvCxnSpPr/>
          <p:nvPr/>
        </p:nvCxnSpPr>
        <p:spPr>
          <a:xfrm>
            <a:off x="115822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07" name="GridV940"/>
          <p:cNvCxnSpPr/>
          <p:nvPr/>
        </p:nvCxnSpPr>
        <p:spPr>
          <a:xfrm>
            <a:off x="118872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08" name="GridV941"/>
          <p:cNvCxnSpPr/>
          <p:nvPr/>
        </p:nvCxnSpPr>
        <p:spPr>
          <a:xfrm>
            <a:off x="121917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09" name="GridH942"/>
          <p:cNvCxnSpPr/>
          <p:nvPr/>
        </p:nvCxnSpPr>
        <p:spPr>
          <a:xfrm>
            <a:off x="0" y="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10" name="GridH943"/>
          <p:cNvCxnSpPr/>
          <p:nvPr/>
        </p:nvCxnSpPr>
        <p:spPr>
          <a:xfrm>
            <a:off x="0" y="3045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11" name="GridH944"/>
          <p:cNvCxnSpPr/>
          <p:nvPr/>
        </p:nvCxnSpPr>
        <p:spPr>
          <a:xfrm>
            <a:off x="0" y="60948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12" name="GridH945"/>
          <p:cNvCxnSpPr/>
          <p:nvPr/>
        </p:nvCxnSpPr>
        <p:spPr>
          <a:xfrm>
            <a:off x="0" y="91440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13" name="GridH946"/>
          <p:cNvCxnSpPr/>
          <p:nvPr/>
        </p:nvCxnSpPr>
        <p:spPr>
          <a:xfrm>
            <a:off x="0" y="12189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14" name="GridH947"/>
          <p:cNvCxnSpPr/>
          <p:nvPr/>
        </p:nvCxnSpPr>
        <p:spPr>
          <a:xfrm>
            <a:off x="0" y="152388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15" name="GridH948"/>
          <p:cNvCxnSpPr/>
          <p:nvPr/>
        </p:nvCxnSpPr>
        <p:spPr>
          <a:xfrm>
            <a:off x="0" y="182880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16" name="GridH949"/>
          <p:cNvCxnSpPr/>
          <p:nvPr/>
        </p:nvCxnSpPr>
        <p:spPr>
          <a:xfrm>
            <a:off x="0" y="21333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17" name="GridH950"/>
          <p:cNvCxnSpPr/>
          <p:nvPr/>
        </p:nvCxnSpPr>
        <p:spPr>
          <a:xfrm>
            <a:off x="0" y="243828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18" name="GridH951"/>
          <p:cNvCxnSpPr/>
          <p:nvPr/>
        </p:nvCxnSpPr>
        <p:spPr>
          <a:xfrm>
            <a:off x="0" y="274320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19" name="GridH952"/>
          <p:cNvCxnSpPr/>
          <p:nvPr/>
        </p:nvCxnSpPr>
        <p:spPr>
          <a:xfrm>
            <a:off x="0" y="30477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20" name="GridH953"/>
          <p:cNvCxnSpPr/>
          <p:nvPr/>
        </p:nvCxnSpPr>
        <p:spPr>
          <a:xfrm>
            <a:off x="0" y="335268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21" name="GridH954"/>
          <p:cNvCxnSpPr/>
          <p:nvPr/>
        </p:nvCxnSpPr>
        <p:spPr>
          <a:xfrm>
            <a:off x="0" y="365760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22" name="GridH955"/>
          <p:cNvCxnSpPr/>
          <p:nvPr/>
        </p:nvCxnSpPr>
        <p:spPr>
          <a:xfrm>
            <a:off x="0" y="39621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23" name="GridH956"/>
          <p:cNvCxnSpPr/>
          <p:nvPr/>
        </p:nvCxnSpPr>
        <p:spPr>
          <a:xfrm>
            <a:off x="0" y="426708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24" name="GridH957"/>
          <p:cNvCxnSpPr/>
          <p:nvPr/>
        </p:nvCxnSpPr>
        <p:spPr>
          <a:xfrm>
            <a:off x="0" y="457200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25" name="GridH958"/>
          <p:cNvCxnSpPr/>
          <p:nvPr/>
        </p:nvCxnSpPr>
        <p:spPr>
          <a:xfrm>
            <a:off x="0" y="48765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26" name="GridH959"/>
          <p:cNvCxnSpPr/>
          <p:nvPr/>
        </p:nvCxnSpPr>
        <p:spPr>
          <a:xfrm>
            <a:off x="0" y="518148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27" name="GridH960"/>
          <p:cNvCxnSpPr/>
          <p:nvPr/>
        </p:nvCxnSpPr>
        <p:spPr>
          <a:xfrm>
            <a:off x="0" y="548640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28" name="GridH961"/>
          <p:cNvCxnSpPr/>
          <p:nvPr/>
        </p:nvCxnSpPr>
        <p:spPr>
          <a:xfrm>
            <a:off x="0" y="57909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29" name="GridH962"/>
          <p:cNvCxnSpPr/>
          <p:nvPr/>
        </p:nvCxnSpPr>
        <p:spPr>
          <a:xfrm>
            <a:off x="0" y="609588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30" name="GridH963"/>
          <p:cNvCxnSpPr/>
          <p:nvPr/>
        </p:nvCxnSpPr>
        <p:spPr>
          <a:xfrm>
            <a:off x="0" y="640080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31" name="GridH964"/>
          <p:cNvCxnSpPr/>
          <p:nvPr/>
        </p:nvCxnSpPr>
        <p:spPr>
          <a:xfrm>
            <a:off x="0" y="67053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sp>
        <p:nvSpPr>
          <p:cNvPr id="1732" name="TextBox 2"/>
          <p:cNvSpPr/>
          <p:nvPr/>
        </p:nvSpPr>
        <p:spPr>
          <a:xfrm>
            <a:off x="502920" y="411480"/>
            <a:ext cx="7996320" cy="26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pc="201" strike="noStrike">
                <a:solidFill>
                  <a:srgbClr val="818CF8"/>
                </a:solidFill>
                <a:effectLst/>
                <a:uFillTx/>
                <a:latin typeface="Roboto"/>
              </a:rPr>
              <a:t>06 · RESULTS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3" name="TextBox 3"/>
          <p:cNvSpPr/>
          <p:nvPr/>
        </p:nvSpPr>
        <p:spPr>
          <a:xfrm>
            <a:off x="502920" y="658440"/>
            <a:ext cx="10995480" cy="68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Forecast vs reality: final model (Ridge)</a:t>
            </a:r>
            <a:endParaRPr lang="fr-F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4" name="TextBox 4"/>
          <p:cNvSpPr/>
          <p:nvPr/>
        </p:nvSpPr>
        <p:spPr>
          <a:xfrm>
            <a:off x="502920" y="1404000"/>
            <a:ext cx="1099656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2025 </a:t>
            </a: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predicte</a:t>
            </a: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d vs. </a:t>
            </a: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actual </a:t>
            </a: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radiatio</a:t>
            </a: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n, a </a:t>
            </a: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represen</a:t>
            </a: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tative </a:t>
            </a: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year </a:t>
            </a: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from the </a:t>
            </a: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2021-</a:t>
            </a: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2026 </a:t>
            </a: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out-of-</a:t>
            </a: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fold </a:t>
            </a: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evaluati</a:t>
            </a: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on </a:t>
            </a: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(22,150 </a:t>
            </a: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predictio</a:t>
            </a: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ns).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735" name="Connector 9"/>
          <p:cNvCxnSpPr/>
          <p:nvPr/>
        </p:nvCxnSpPr>
        <p:spPr>
          <a:xfrm>
            <a:off x="548640" y="5943600"/>
            <a:ext cx="10976400" cy="3600"/>
          </a:xfrm>
          <a:prstGeom prst="straightConnector1">
            <a:avLst/>
          </a:prstGeom>
          <a:ln w="9525">
            <a:solidFill>
              <a:srgbClr val="3D4B72"/>
            </a:solidFill>
            <a:round/>
          </a:ln>
        </p:spPr>
      </p:cxnSp>
      <p:sp>
        <p:nvSpPr>
          <p:cNvPr id="1736" name="TextBox 10"/>
          <p:cNvSpPr/>
          <p:nvPr/>
        </p:nvSpPr>
        <p:spPr>
          <a:xfrm>
            <a:off x="457200" y="6230160"/>
            <a:ext cx="8224920" cy="15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Solar Production Forecasting · Machine </a:t>
            </a: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Learning · Streamlit Dashboard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7" name="TextBox 11"/>
          <p:cNvSpPr/>
          <p:nvPr/>
        </p:nvSpPr>
        <p:spPr>
          <a:xfrm>
            <a:off x="11274480" y="6172200"/>
            <a:ext cx="452520" cy="26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09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8" name="Rounded Rectangle 964"/>
          <p:cNvSpPr/>
          <p:nvPr/>
        </p:nvSpPr>
        <p:spPr>
          <a:xfrm>
            <a:off x="502920" y="1828800"/>
            <a:ext cx="11014200" cy="3928320"/>
          </a:xfrm>
          <a:prstGeom prst="roundRect">
            <a:avLst>
              <a:gd name="adj" fmla="val 1861"/>
            </a:avLst>
          </a:prstGeom>
          <a:solidFill>
            <a:srgbClr val="2636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739" name=""/>
          <p:cNvPicPr/>
          <p:nvPr/>
        </p:nvPicPr>
        <p:blipFill>
          <a:blip r:embed="rId1"/>
          <a:stretch/>
        </p:blipFill>
        <p:spPr>
          <a:xfrm>
            <a:off x="501840" y="1980000"/>
            <a:ext cx="11036160" cy="3597120"/>
          </a:xfrm>
          <a:prstGeom prst="rect">
            <a:avLst/>
          </a:prstGeom>
          <a:noFill/>
          <a:ln w="3816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" name="Rectangle 2"/>
          <p:cNvSpPr/>
          <p:nvPr/>
        </p:nvSpPr>
        <p:spPr>
          <a:xfrm>
            <a:off x="0" y="0"/>
            <a:ext cx="12188520" cy="6854400"/>
          </a:xfrm>
          <a:prstGeom prst="rect">
            <a:avLst/>
          </a:prstGeom>
          <a:solidFill>
            <a:srgbClr val="0A0E1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cxnSp>
        <p:nvCxnSpPr>
          <p:cNvPr id="1741" name="GridV901"/>
          <p:cNvCxnSpPr/>
          <p:nvPr/>
        </p:nvCxnSpPr>
        <p:spPr>
          <a:xfrm>
            <a:off x="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42" name="GridV902"/>
          <p:cNvCxnSpPr/>
          <p:nvPr/>
        </p:nvCxnSpPr>
        <p:spPr>
          <a:xfrm>
            <a:off x="3045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43" name="GridV903"/>
          <p:cNvCxnSpPr/>
          <p:nvPr/>
        </p:nvCxnSpPr>
        <p:spPr>
          <a:xfrm>
            <a:off x="6094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44" name="GridV904"/>
          <p:cNvCxnSpPr/>
          <p:nvPr/>
        </p:nvCxnSpPr>
        <p:spPr>
          <a:xfrm>
            <a:off x="9144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45" name="GridV905"/>
          <p:cNvCxnSpPr/>
          <p:nvPr/>
        </p:nvCxnSpPr>
        <p:spPr>
          <a:xfrm>
            <a:off x="12189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46" name="GridV906"/>
          <p:cNvCxnSpPr/>
          <p:nvPr/>
        </p:nvCxnSpPr>
        <p:spPr>
          <a:xfrm>
            <a:off x="15238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47" name="GridV907"/>
          <p:cNvCxnSpPr/>
          <p:nvPr/>
        </p:nvCxnSpPr>
        <p:spPr>
          <a:xfrm>
            <a:off x="18288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48" name="GridV908"/>
          <p:cNvCxnSpPr/>
          <p:nvPr/>
        </p:nvCxnSpPr>
        <p:spPr>
          <a:xfrm>
            <a:off x="21333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49" name="GridV909"/>
          <p:cNvCxnSpPr/>
          <p:nvPr/>
        </p:nvCxnSpPr>
        <p:spPr>
          <a:xfrm>
            <a:off x="24382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50" name="GridV910"/>
          <p:cNvCxnSpPr/>
          <p:nvPr/>
        </p:nvCxnSpPr>
        <p:spPr>
          <a:xfrm>
            <a:off x="27432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51" name="GridV911"/>
          <p:cNvCxnSpPr/>
          <p:nvPr/>
        </p:nvCxnSpPr>
        <p:spPr>
          <a:xfrm>
            <a:off x="30477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52" name="GridV912"/>
          <p:cNvCxnSpPr/>
          <p:nvPr/>
        </p:nvCxnSpPr>
        <p:spPr>
          <a:xfrm>
            <a:off x="33526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53" name="GridV913"/>
          <p:cNvCxnSpPr/>
          <p:nvPr/>
        </p:nvCxnSpPr>
        <p:spPr>
          <a:xfrm>
            <a:off x="36576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54" name="GridV914"/>
          <p:cNvCxnSpPr/>
          <p:nvPr/>
        </p:nvCxnSpPr>
        <p:spPr>
          <a:xfrm>
            <a:off x="39621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55" name="GridV915"/>
          <p:cNvCxnSpPr/>
          <p:nvPr/>
        </p:nvCxnSpPr>
        <p:spPr>
          <a:xfrm>
            <a:off x="42670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56" name="GridV916"/>
          <p:cNvCxnSpPr/>
          <p:nvPr/>
        </p:nvCxnSpPr>
        <p:spPr>
          <a:xfrm>
            <a:off x="45720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57" name="GridV917"/>
          <p:cNvCxnSpPr/>
          <p:nvPr/>
        </p:nvCxnSpPr>
        <p:spPr>
          <a:xfrm>
            <a:off x="48765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58" name="GridV918"/>
          <p:cNvCxnSpPr/>
          <p:nvPr/>
        </p:nvCxnSpPr>
        <p:spPr>
          <a:xfrm>
            <a:off x="51814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59" name="GridV919"/>
          <p:cNvCxnSpPr/>
          <p:nvPr/>
        </p:nvCxnSpPr>
        <p:spPr>
          <a:xfrm>
            <a:off x="54864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60" name="GridV920"/>
          <p:cNvCxnSpPr/>
          <p:nvPr/>
        </p:nvCxnSpPr>
        <p:spPr>
          <a:xfrm>
            <a:off x="57909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61" name="GridV921"/>
          <p:cNvCxnSpPr/>
          <p:nvPr/>
        </p:nvCxnSpPr>
        <p:spPr>
          <a:xfrm>
            <a:off x="60958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62" name="GridV922"/>
          <p:cNvCxnSpPr/>
          <p:nvPr/>
        </p:nvCxnSpPr>
        <p:spPr>
          <a:xfrm>
            <a:off x="64008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63" name="GridV923"/>
          <p:cNvCxnSpPr/>
          <p:nvPr/>
        </p:nvCxnSpPr>
        <p:spPr>
          <a:xfrm>
            <a:off x="67053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64" name="GridV924"/>
          <p:cNvCxnSpPr/>
          <p:nvPr/>
        </p:nvCxnSpPr>
        <p:spPr>
          <a:xfrm>
            <a:off x="70102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65" name="GridV925"/>
          <p:cNvCxnSpPr/>
          <p:nvPr/>
        </p:nvCxnSpPr>
        <p:spPr>
          <a:xfrm>
            <a:off x="73152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66" name="GridV926"/>
          <p:cNvCxnSpPr/>
          <p:nvPr/>
        </p:nvCxnSpPr>
        <p:spPr>
          <a:xfrm>
            <a:off x="76197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67" name="GridV927"/>
          <p:cNvCxnSpPr/>
          <p:nvPr/>
        </p:nvCxnSpPr>
        <p:spPr>
          <a:xfrm>
            <a:off x="79246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68" name="GridV928"/>
          <p:cNvCxnSpPr/>
          <p:nvPr/>
        </p:nvCxnSpPr>
        <p:spPr>
          <a:xfrm>
            <a:off x="82296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69" name="GridV929"/>
          <p:cNvCxnSpPr/>
          <p:nvPr/>
        </p:nvCxnSpPr>
        <p:spPr>
          <a:xfrm>
            <a:off x="85341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70" name="GridV930"/>
          <p:cNvCxnSpPr/>
          <p:nvPr/>
        </p:nvCxnSpPr>
        <p:spPr>
          <a:xfrm>
            <a:off x="88390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71" name="GridV931"/>
          <p:cNvCxnSpPr/>
          <p:nvPr/>
        </p:nvCxnSpPr>
        <p:spPr>
          <a:xfrm>
            <a:off x="91440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72" name="GridV932"/>
          <p:cNvCxnSpPr/>
          <p:nvPr/>
        </p:nvCxnSpPr>
        <p:spPr>
          <a:xfrm>
            <a:off x="94485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73" name="GridV933"/>
          <p:cNvCxnSpPr/>
          <p:nvPr/>
        </p:nvCxnSpPr>
        <p:spPr>
          <a:xfrm>
            <a:off x="97534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74" name="GridV934"/>
          <p:cNvCxnSpPr/>
          <p:nvPr/>
        </p:nvCxnSpPr>
        <p:spPr>
          <a:xfrm>
            <a:off x="100584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75" name="GridV935"/>
          <p:cNvCxnSpPr/>
          <p:nvPr/>
        </p:nvCxnSpPr>
        <p:spPr>
          <a:xfrm>
            <a:off x="103629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76" name="GridV936"/>
          <p:cNvCxnSpPr/>
          <p:nvPr/>
        </p:nvCxnSpPr>
        <p:spPr>
          <a:xfrm>
            <a:off x="106678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77" name="GridV937"/>
          <p:cNvCxnSpPr/>
          <p:nvPr/>
        </p:nvCxnSpPr>
        <p:spPr>
          <a:xfrm>
            <a:off x="109728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78" name="GridV938"/>
          <p:cNvCxnSpPr/>
          <p:nvPr/>
        </p:nvCxnSpPr>
        <p:spPr>
          <a:xfrm>
            <a:off x="112773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79" name="GridV939"/>
          <p:cNvCxnSpPr/>
          <p:nvPr/>
        </p:nvCxnSpPr>
        <p:spPr>
          <a:xfrm>
            <a:off x="115822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80" name="GridV940"/>
          <p:cNvCxnSpPr/>
          <p:nvPr/>
        </p:nvCxnSpPr>
        <p:spPr>
          <a:xfrm>
            <a:off x="118872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81" name="GridV941"/>
          <p:cNvCxnSpPr/>
          <p:nvPr/>
        </p:nvCxnSpPr>
        <p:spPr>
          <a:xfrm>
            <a:off x="121917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82" name="GridH942"/>
          <p:cNvCxnSpPr/>
          <p:nvPr/>
        </p:nvCxnSpPr>
        <p:spPr>
          <a:xfrm>
            <a:off x="0" y="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83" name="GridH943"/>
          <p:cNvCxnSpPr/>
          <p:nvPr/>
        </p:nvCxnSpPr>
        <p:spPr>
          <a:xfrm>
            <a:off x="0" y="3045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84" name="GridH944"/>
          <p:cNvCxnSpPr/>
          <p:nvPr/>
        </p:nvCxnSpPr>
        <p:spPr>
          <a:xfrm>
            <a:off x="0" y="60948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85" name="GridH945"/>
          <p:cNvCxnSpPr/>
          <p:nvPr/>
        </p:nvCxnSpPr>
        <p:spPr>
          <a:xfrm>
            <a:off x="0" y="91440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86" name="GridH946"/>
          <p:cNvCxnSpPr/>
          <p:nvPr/>
        </p:nvCxnSpPr>
        <p:spPr>
          <a:xfrm>
            <a:off x="0" y="12189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87" name="GridH947"/>
          <p:cNvCxnSpPr/>
          <p:nvPr/>
        </p:nvCxnSpPr>
        <p:spPr>
          <a:xfrm>
            <a:off x="0" y="152388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88" name="GridH948"/>
          <p:cNvCxnSpPr/>
          <p:nvPr/>
        </p:nvCxnSpPr>
        <p:spPr>
          <a:xfrm>
            <a:off x="0" y="182880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89" name="GridH949"/>
          <p:cNvCxnSpPr/>
          <p:nvPr/>
        </p:nvCxnSpPr>
        <p:spPr>
          <a:xfrm>
            <a:off x="0" y="21333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90" name="GridH950"/>
          <p:cNvCxnSpPr/>
          <p:nvPr/>
        </p:nvCxnSpPr>
        <p:spPr>
          <a:xfrm>
            <a:off x="0" y="243828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91" name="GridH951"/>
          <p:cNvCxnSpPr/>
          <p:nvPr/>
        </p:nvCxnSpPr>
        <p:spPr>
          <a:xfrm>
            <a:off x="0" y="274320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92" name="GridH952"/>
          <p:cNvCxnSpPr/>
          <p:nvPr/>
        </p:nvCxnSpPr>
        <p:spPr>
          <a:xfrm>
            <a:off x="0" y="30477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93" name="GridH953"/>
          <p:cNvCxnSpPr/>
          <p:nvPr/>
        </p:nvCxnSpPr>
        <p:spPr>
          <a:xfrm>
            <a:off x="0" y="335268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94" name="GridH954"/>
          <p:cNvCxnSpPr/>
          <p:nvPr/>
        </p:nvCxnSpPr>
        <p:spPr>
          <a:xfrm>
            <a:off x="0" y="365760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95" name="GridH955"/>
          <p:cNvCxnSpPr/>
          <p:nvPr/>
        </p:nvCxnSpPr>
        <p:spPr>
          <a:xfrm>
            <a:off x="0" y="39621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96" name="GridH956"/>
          <p:cNvCxnSpPr/>
          <p:nvPr/>
        </p:nvCxnSpPr>
        <p:spPr>
          <a:xfrm>
            <a:off x="0" y="426708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97" name="GridH957"/>
          <p:cNvCxnSpPr/>
          <p:nvPr/>
        </p:nvCxnSpPr>
        <p:spPr>
          <a:xfrm>
            <a:off x="0" y="457200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98" name="GridH958"/>
          <p:cNvCxnSpPr/>
          <p:nvPr/>
        </p:nvCxnSpPr>
        <p:spPr>
          <a:xfrm>
            <a:off x="0" y="48765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99" name="GridH959"/>
          <p:cNvCxnSpPr/>
          <p:nvPr/>
        </p:nvCxnSpPr>
        <p:spPr>
          <a:xfrm>
            <a:off x="0" y="518148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00" name="GridH960"/>
          <p:cNvCxnSpPr/>
          <p:nvPr/>
        </p:nvCxnSpPr>
        <p:spPr>
          <a:xfrm>
            <a:off x="0" y="548640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01" name="GridH961"/>
          <p:cNvCxnSpPr/>
          <p:nvPr/>
        </p:nvCxnSpPr>
        <p:spPr>
          <a:xfrm>
            <a:off x="0" y="57909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02" name="GridH962"/>
          <p:cNvCxnSpPr/>
          <p:nvPr/>
        </p:nvCxnSpPr>
        <p:spPr>
          <a:xfrm>
            <a:off x="0" y="609588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03" name="GridH963"/>
          <p:cNvCxnSpPr/>
          <p:nvPr/>
        </p:nvCxnSpPr>
        <p:spPr>
          <a:xfrm>
            <a:off x="0" y="640080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04" name="GridH964"/>
          <p:cNvCxnSpPr/>
          <p:nvPr/>
        </p:nvCxnSpPr>
        <p:spPr>
          <a:xfrm>
            <a:off x="0" y="67053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sp>
        <p:nvSpPr>
          <p:cNvPr id="1805" name="TextBox 2"/>
          <p:cNvSpPr/>
          <p:nvPr/>
        </p:nvSpPr>
        <p:spPr>
          <a:xfrm>
            <a:off x="502920" y="463320"/>
            <a:ext cx="7996320" cy="16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pc="201" strike="noStrike">
                <a:solidFill>
                  <a:srgbClr val="818CF8"/>
                </a:solidFill>
                <a:effectLst/>
                <a:uFillTx/>
                <a:latin typeface="Roboto"/>
              </a:rPr>
              <a:t>06 · RESULTS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6" name="TextBox 3"/>
          <p:cNvSpPr/>
          <p:nvPr/>
        </p:nvSpPr>
        <p:spPr>
          <a:xfrm>
            <a:off x="502920" y="658440"/>
            <a:ext cx="10995480" cy="42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Forecast vs reality: residual analysis</a:t>
            </a:r>
            <a:endParaRPr lang="fr-F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7" name="TextBox 4"/>
          <p:cNvSpPr/>
          <p:nvPr/>
        </p:nvSpPr>
        <p:spPr>
          <a:xfrm>
            <a:off x="502920" y="1404000"/>
            <a:ext cx="1099656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Residuals over the full 2021-2026 test period (predicted minus actual, national daily mean): errors stay centered near zero.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808" name="Connector 9"/>
          <p:cNvCxnSpPr/>
          <p:nvPr/>
        </p:nvCxnSpPr>
        <p:spPr>
          <a:xfrm>
            <a:off x="548640" y="5943600"/>
            <a:ext cx="10976400" cy="3600"/>
          </a:xfrm>
          <a:prstGeom prst="straightConnector1">
            <a:avLst/>
          </a:prstGeom>
          <a:ln w="9525">
            <a:solidFill>
              <a:srgbClr val="3D4B72"/>
            </a:solidFill>
            <a:round/>
          </a:ln>
        </p:spPr>
      </p:cxnSp>
      <p:sp>
        <p:nvSpPr>
          <p:cNvPr id="1809" name="TextBox 10"/>
          <p:cNvSpPr/>
          <p:nvPr/>
        </p:nvSpPr>
        <p:spPr>
          <a:xfrm>
            <a:off x="457200" y="6231600"/>
            <a:ext cx="822492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Solar Production Forecasting · Machine Learning · Streamlit Dashboard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0" name="TextBox 11"/>
          <p:cNvSpPr/>
          <p:nvPr/>
        </p:nvSpPr>
        <p:spPr>
          <a:xfrm>
            <a:off x="11274480" y="6231600"/>
            <a:ext cx="45252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10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1" name="Rounded Rectangle 964"/>
          <p:cNvSpPr/>
          <p:nvPr/>
        </p:nvSpPr>
        <p:spPr>
          <a:xfrm>
            <a:off x="502920" y="1828800"/>
            <a:ext cx="11077560" cy="3959280"/>
          </a:xfrm>
          <a:prstGeom prst="roundRect">
            <a:avLst>
              <a:gd name="adj" fmla="val 1846"/>
            </a:avLst>
          </a:prstGeom>
          <a:solidFill>
            <a:srgbClr val="2636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812" name=""/>
          <p:cNvPicPr/>
          <p:nvPr/>
        </p:nvPicPr>
        <p:blipFill>
          <a:blip r:embed="rId1"/>
          <a:stretch/>
        </p:blipFill>
        <p:spPr>
          <a:xfrm>
            <a:off x="646920" y="1901520"/>
            <a:ext cx="10771920" cy="3831480"/>
          </a:xfrm>
          <a:prstGeom prst="rect">
            <a:avLst/>
          </a:prstGeom>
          <a:noFill/>
          <a:ln w="3816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3" name="Rectangle 1"/>
          <p:cNvSpPr/>
          <p:nvPr/>
        </p:nvSpPr>
        <p:spPr>
          <a:xfrm>
            <a:off x="0" y="0"/>
            <a:ext cx="12188520" cy="6854400"/>
          </a:xfrm>
          <a:prstGeom prst="rect">
            <a:avLst/>
          </a:prstGeom>
          <a:solidFill>
            <a:srgbClr val="0A0E1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cxnSp>
        <p:nvCxnSpPr>
          <p:cNvPr id="1814" name="GridV901"/>
          <p:cNvCxnSpPr/>
          <p:nvPr/>
        </p:nvCxnSpPr>
        <p:spPr>
          <a:xfrm>
            <a:off x="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15" name="GridV902"/>
          <p:cNvCxnSpPr/>
          <p:nvPr/>
        </p:nvCxnSpPr>
        <p:spPr>
          <a:xfrm>
            <a:off x="3045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16" name="GridV903"/>
          <p:cNvCxnSpPr/>
          <p:nvPr/>
        </p:nvCxnSpPr>
        <p:spPr>
          <a:xfrm>
            <a:off x="6094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17" name="GridV904"/>
          <p:cNvCxnSpPr/>
          <p:nvPr/>
        </p:nvCxnSpPr>
        <p:spPr>
          <a:xfrm>
            <a:off x="9144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18" name="GridV905"/>
          <p:cNvCxnSpPr/>
          <p:nvPr/>
        </p:nvCxnSpPr>
        <p:spPr>
          <a:xfrm>
            <a:off x="12189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19" name="GridV906"/>
          <p:cNvCxnSpPr/>
          <p:nvPr/>
        </p:nvCxnSpPr>
        <p:spPr>
          <a:xfrm>
            <a:off x="15238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20" name="GridV907"/>
          <p:cNvCxnSpPr/>
          <p:nvPr/>
        </p:nvCxnSpPr>
        <p:spPr>
          <a:xfrm>
            <a:off x="18288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21" name="GridV908"/>
          <p:cNvCxnSpPr/>
          <p:nvPr/>
        </p:nvCxnSpPr>
        <p:spPr>
          <a:xfrm>
            <a:off x="21333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22" name="GridV909"/>
          <p:cNvCxnSpPr/>
          <p:nvPr/>
        </p:nvCxnSpPr>
        <p:spPr>
          <a:xfrm>
            <a:off x="24382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23" name="GridV910"/>
          <p:cNvCxnSpPr/>
          <p:nvPr/>
        </p:nvCxnSpPr>
        <p:spPr>
          <a:xfrm>
            <a:off x="27432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24" name="GridV911"/>
          <p:cNvCxnSpPr/>
          <p:nvPr/>
        </p:nvCxnSpPr>
        <p:spPr>
          <a:xfrm>
            <a:off x="30477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25" name="GridV912"/>
          <p:cNvCxnSpPr/>
          <p:nvPr/>
        </p:nvCxnSpPr>
        <p:spPr>
          <a:xfrm>
            <a:off x="33526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26" name="GridV913"/>
          <p:cNvCxnSpPr/>
          <p:nvPr/>
        </p:nvCxnSpPr>
        <p:spPr>
          <a:xfrm>
            <a:off x="36576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27" name="GridV914"/>
          <p:cNvCxnSpPr/>
          <p:nvPr/>
        </p:nvCxnSpPr>
        <p:spPr>
          <a:xfrm>
            <a:off x="39621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28" name="GridV915"/>
          <p:cNvCxnSpPr/>
          <p:nvPr/>
        </p:nvCxnSpPr>
        <p:spPr>
          <a:xfrm>
            <a:off x="42670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29" name="GridV916"/>
          <p:cNvCxnSpPr/>
          <p:nvPr/>
        </p:nvCxnSpPr>
        <p:spPr>
          <a:xfrm>
            <a:off x="45720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30" name="GridV917"/>
          <p:cNvCxnSpPr/>
          <p:nvPr/>
        </p:nvCxnSpPr>
        <p:spPr>
          <a:xfrm>
            <a:off x="48765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31" name="GridV918"/>
          <p:cNvCxnSpPr/>
          <p:nvPr/>
        </p:nvCxnSpPr>
        <p:spPr>
          <a:xfrm>
            <a:off x="51814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32" name="GridV919"/>
          <p:cNvCxnSpPr/>
          <p:nvPr/>
        </p:nvCxnSpPr>
        <p:spPr>
          <a:xfrm>
            <a:off x="54864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33" name="GridV920"/>
          <p:cNvCxnSpPr/>
          <p:nvPr/>
        </p:nvCxnSpPr>
        <p:spPr>
          <a:xfrm>
            <a:off x="57909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34" name="GridV921"/>
          <p:cNvCxnSpPr/>
          <p:nvPr/>
        </p:nvCxnSpPr>
        <p:spPr>
          <a:xfrm>
            <a:off x="60958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35" name="GridV922"/>
          <p:cNvCxnSpPr/>
          <p:nvPr/>
        </p:nvCxnSpPr>
        <p:spPr>
          <a:xfrm>
            <a:off x="64008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36" name="GridV923"/>
          <p:cNvCxnSpPr/>
          <p:nvPr/>
        </p:nvCxnSpPr>
        <p:spPr>
          <a:xfrm>
            <a:off x="67053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37" name="GridV924"/>
          <p:cNvCxnSpPr/>
          <p:nvPr/>
        </p:nvCxnSpPr>
        <p:spPr>
          <a:xfrm>
            <a:off x="70102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38" name="GridV925"/>
          <p:cNvCxnSpPr/>
          <p:nvPr/>
        </p:nvCxnSpPr>
        <p:spPr>
          <a:xfrm>
            <a:off x="73152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39" name="GridV926"/>
          <p:cNvCxnSpPr/>
          <p:nvPr/>
        </p:nvCxnSpPr>
        <p:spPr>
          <a:xfrm>
            <a:off x="76197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40" name="GridV927"/>
          <p:cNvCxnSpPr/>
          <p:nvPr/>
        </p:nvCxnSpPr>
        <p:spPr>
          <a:xfrm>
            <a:off x="79246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41" name="GridV928"/>
          <p:cNvCxnSpPr/>
          <p:nvPr/>
        </p:nvCxnSpPr>
        <p:spPr>
          <a:xfrm>
            <a:off x="82296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42" name="GridV929"/>
          <p:cNvCxnSpPr/>
          <p:nvPr/>
        </p:nvCxnSpPr>
        <p:spPr>
          <a:xfrm>
            <a:off x="85341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43" name="GridV930"/>
          <p:cNvCxnSpPr/>
          <p:nvPr/>
        </p:nvCxnSpPr>
        <p:spPr>
          <a:xfrm>
            <a:off x="88390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44" name="GridV931"/>
          <p:cNvCxnSpPr/>
          <p:nvPr/>
        </p:nvCxnSpPr>
        <p:spPr>
          <a:xfrm>
            <a:off x="91440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45" name="GridV932"/>
          <p:cNvCxnSpPr/>
          <p:nvPr/>
        </p:nvCxnSpPr>
        <p:spPr>
          <a:xfrm>
            <a:off x="94485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46" name="GridV933"/>
          <p:cNvCxnSpPr/>
          <p:nvPr/>
        </p:nvCxnSpPr>
        <p:spPr>
          <a:xfrm>
            <a:off x="97534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47" name="GridV934"/>
          <p:cNvCxnSpPr/>
          <p:nvPr/>
        </p:nvCxnSpPr>
        <p:spPr>
          <a:xfrm>
            <a:off x="100584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48" name="GridV935"/>
          <p:cNvCxnSpPr/>
          <p:nvPr/>
        </p:nvCxnSpPr>
        <p:spPr>
          <a:xfrm>
            <a:off x="103629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49" name="GridV936"/>
          <p:cNvCxnSpPr/>
          <p:nvPr/>
        </p:nvCxnSpPr>
        <p:spPr>
          <a:xfrm>
            <a:off x="106678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50" name="GridV937"/>
          <p:cNvCxnSpPr/>
          <p:nvPr/>
        </p:nvCxnSpPr>
        <p:spPr>
          <a:xfrm>
            <a:off x="109728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51" name="GridV938"/>
          <p:cNvCxnSpPr/>
          <p:nvPr/>
        </p:nvCxnSpPr>
        <p:spPr>
          <a:xfrm>
            <a:off x="112773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52" name="GridV939"/>
          <p:cNvCxnSpPr/>
          <p:nvPr/>
        </p:nvCxnSpPr>
        <p:spPr>
          <a:xfrm>
            <a:off x="115822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53" name="GridV940"/>
          <p:cNvCxnSpPr/>
          <p:nvPr/>
        </p:nvCxnSpPr>
        <p:spPr>
          <a:xfrm>
            <a:off x="118872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54" name="GridV941"/>
          <p:cNvCxnSpPr/>
          <p:nvPr/>
        </p:nvCxnSpPr>
        <p:spPr>
          <a:xfrm>
            <a:off x="121917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55" name="GridH942"/>
          <p:cNvCxnSpPr/>
          <p:nvPr/>
        </p:nvCxnSpPr>
        <p:spPr>
          <a:xfrm>
            <a:off x="0" y="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56" name="GridH943"/>
          <p:cNvCxnSpPr/>
          <p:nvPr/>
        </p:nvCxnSpPr>
        <p:spPr>
          <a:xfrm>
            <a:off x="0" y="3045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57" name="GridH944"/>
          <p:cNvCxnSpPr/>
          <p:nvPr/>
        </p:nvCxnSpPr>
        <p:spPr>
          <a:xfrm>
            <a:off x="0" y="60948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58" name="GridH945"/>
          <p:cNvCxnSpPr/>
          <p:nvPr/>
        </p:nvCxnSpPr>
        <p:spPr>
          <a:xfrm>
            <a:off x="0" y="91440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59" name="GridH946"/>
          <p:cNvCxnSpPr/>
          <p:nvPr/>
        </p:nvCxnSpPr>
        <p:spPr>
          <a:xfrm>
            <a:off x="0" y="12189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60" name="GridH947"/>
          <p:cNvCxnSpPr/>
          <p:nvPr/>
        </p:nvCxnSpPr>
        <p:spPr>
          <a:xfrm>
            <a:off x="0" y="152388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61" name="GridH948"/>
          <p:cNvCxnSpPr/>
          <p:nvPr/>
        </p:nvCxnSpPr>
        <p:spPr>
          <a:xfrm>
            <a:off x="0" y="182880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62" name="GridH949"/>
          <p:cNvCxnSpPr/>
          <p:nvPr/>
        </p:nvCxnSpPr>
        <p:spPr>
          <a:xfrm>
            <a:off x="0" y="21333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63" name="GridH950"/>
          <p:cNvCxnSpPr/>
          <p:nvPr/>
        </p:nvCxnSpPr>
        <p:spPr>
          <a:xfrm>
            <a:off x="0" y="243828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64" name="GridH951"/>
          <p:cNvCxnSpPr/>
          <p:nvPr/>
        </p:nvCxnSpPr>
        <p:spPr>
          <a:xfrm>
            <a:off x="0" y="274320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65" name="GridH952"/>
          <p:cNvCxnSpPr/>
          <p:nvPr/>
        </p:nvCxnSpPr>
        <p:spPr>
          <a:xfrm>
            <a:off x="0" y="30477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66" name="GridH953"/>
          <p:cNvCxnSpPr/>
          <p:nvPr/>
        </p:nvCxnSpPr>
        <p:spPr>
          <a:xfrm>
            <a:off x="0" y="335268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67" name="GridH954"/>
          <p:cNvCxnSpPr/>
          <p:nvPr/>
        </p:nvCxnSpPr>
        <p:spPr>
          <a:xfrm>
            <a:off x="0" y="365760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68" name="GridH955"/>
          <p:cNvCxnSpPr/>
          <p:nvPr/>
        </p:nvCxnSpPr>
        <p:spPr>
          <a:xfrm>
            <a:off x="0" y="39621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69" name="GridH956"/>
          <p:cNvCxnSpPr/>
          <p:nvPr/>
        </p:nvCxnSpPr>
        <p:spPr>
          <a:xfrm>
            <a:off x="0" y="426708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70" name="GridH957"/>
          <p:cNvCxnSpPr/>
          <p:nvPr/>
        </p:nvCxnSpPr>
        <p:spPr>
          <a:xfrm>
            <a:off x="0" y="457200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71" name="GridH958"/>
          <p:cNvCxnSpPr/>
          <p:nvPr/>
        </p:nvCxnSpPr>
        <p:spPr>
          <a:xfrm>
            <a:off x="0" y="48765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72" name="GridH959"/>
          <p:cNvCxnSpPr/>
          <p:nvPr/>
        </p:nvCxnSpPr>
        <p:spPr>
          <a:xfrm>
            <a:off x="0" y="518148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73" name="GridH960"/>
          <p:cNvCxnSpPr/>
          <p:nvPr/>
        </p:nvCxnSpPr>
        <p:spPr>
          <a:xfrm>
            <a:off x="0" y="548640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74" name="GridH961"/>
          <p:cNvCxnSpPr/>
          <p:nvPr/>
        </p:nvCxnSpPr>
        <p:spPr>
          <a:xfrm>
            <a:off x="0" y="57909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75" name="GridH962"/>
          <p:cNvCxnSpPr/>
          <p:nvPr/>
        </p:nvCxnSpPr>
        <p:spPr>
          <a:xfrm>
            <a:off x="0" y="609588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76" name="GridH963"/>
          <p:cNvCxnSpPr/>
          <p:nvPr/>
        </p:nvCxnSpPr>
        <p:spPr>
          <a:xfrm>
            <a:off x="0" y="640080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77" name="GridH964"/>
          <p:cNvCxnSpPr/>
          <p:nvPr/>
        </p:nvCxnSpPr>
        <p:spPr>
          <a:xfrm>
            <a:off x="0" y="67053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sp>
        <p:nvSpPr>
          <p:cNvPr id="1878" name="TextBox 2"/>
          <p:cNvSpPr/>
          <p:nvPr/>
        </p:nvSpPr>
        <p:spPr>
          <a:xfrm>
            <a:off x="502920" y="411480"/>
            <a:ext cx="7996320" cy="26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pc="201" strike="noStrike">
                <a:solidFill>
                  <a:srgbClr val="818CF8"/>
                </a:solidFill>
                <a:effectLst/>
                <a:uFillTx/>
                <a:latin typeface="Roboto"/>
              </a:rPr>
              <a:t>07 · LIMITATIONS &amp; NEXT STEPS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9" name="TextBox 3"/>
          <p:cNvSpPr/>
          <p:nvPr/>
        </p:nvSpPr>
        <p:spPr>
          <a:xfrm>
            <a:off x="502920" y="658440"/>
            <a:ext cx="10995480" cy="68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What's left to improve</a:t>
            </a:r>
            <a:endParaRPr lang="fr-F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0" name="TextBox 4"/>
          <p:cNvSpPr/>
          <p:nvPr/>
        </p:nvSpPr>
        <p:spPr>
          <a:xfrm>
            <a:off x="502920" y="1404000"/>
            <a:ext cx="1099656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The current </a:t>
            </a: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model's known </a:t>
            </a: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limitations, and </a:t>
            </a: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the paths </a:t>
            </a: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considered to go </a:t>
            </a: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further.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1" name="TextBox 5"/>
          <p:cNvSpPr/>
          <p:nvPr/>
        </p:nvSpPr>
        <p:spPr>
          <a:xfrm>
            <a:off x="502920" y="1737360"/>
            <a:ext cx="5497920" cy="26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1" u="none" spc="99" strike="noStrike">
                <a:solidFill>
                  <a:srgbClr val="F4F6FB"/>
                </a:solidFill>
                <a:effectLst/>
                <a:uFillTx/>
                <a:latin typeface="Roboto"/>
              </a:rPr>
              <a:t>LIMITATIONS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2" name="TextBox 6"/>
          <p:cNvSpPr/>
          <p:nvPr/>
        </p:nvSpPr>
        <p:spPr>
          <a:xfrm>
            <a:off x="6187320" y="1737360"/>
            <a:ext cx="5497920" cy="26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1" u="none" spc="99" strike="noStrike">
                <a:solidFill>
                  <a:srgbClr val="F4F6FB"/>
                </a:solidFill>
                <a:effectLst/>
                <a:uFillTx/>
                <a:latin typeface="Roboto"/>
              </a:rPr>
              <a:t>NEXT STEPS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3" name="Rounded Rectangle 7"/>
          <p:cNvSpPr/>
          <p:nvPr/>
        </p:nvSpPr>
        <p:spPr>
          <a:xfrm>
            <a:off x="502920" y="2194560"/>
            <a:ext cx="5497920" cy="1046520"/>
          </a:xfrm>
          <a:prstGeom prst="roundRect">
            <a:avLst>
              <a:gd name="adj" fmla="val 6000"/>
            </a:avLst>
          </a:prstGeom>
          <a:solidFill>
            <a:srgbClr val="2636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84" name="TextBox 8"/>
          <p:cNvSpPr/>
          <p:nvPr/>
        </p:nvSpPr>
        <p:spPr>
          <a:xfrm>
            <a:off x="685800" y="2331720"/>
            <a:ext cx="513216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A single horizon (J+1)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5" name="TextBox 9"/>
          <p:cNvSpPr/>
          <p:nvPr/>
        </p:nvSpPr>
        <p:spPr>
          <a:xfrm>
            <a:off x="685800" y="2674800"/>
            <a:ext cx="5132160" cy="49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02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No J+2/J+7 forecast for longer-term planning.</a:t>
            </a:r>
            <a:endParaRPr lang="fr-FR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6" name="Rounded Rectangle 10"/>
          <p:cNvSpPr/>
          <p:nvPr/>
        </p:nvSpPr>
        <p:spPr>
          <a:xfrm>
            <a:off x="502920" y="3381840"/>
            <a:ext cx="5497920" cy="1046520"/>
          </a:xfrm>
          <a:prstGeom prst="roundRect">
            <a:avLst>
              <a:gd name="adj" fmla="val 6000"/>
            </a:avLst>
          </a:prstGeom>
          <a:solidFill>
            <a:srgbClr val="2636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87" name="TextBox 11"/>
          <p:cNvSpPr/>
          <p:nvPr/>
        </p:nvSpPr>
        <p:spPr>
          <a:xfrm>
            <a:off x="685800" y="3519000"/>
            <a:ext cx="513216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Observed weather, not forecasts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8" name="TextBox 12"/>
          <p:cNvSpPr/>
          <p:nvPr/>
        </p:nvSpPr>
        <p:spPr>
          <a:xfrm>
            <a:off x="685800" y="3861720"/>
            <a:ext cx="5132160" cy="35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5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02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The model uses measured weather for today; a real J+1 forecast would need Météo-France forecast data.</a:t>
            </a:r>
            <a:endParaRPr lang="fr-FR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9" name="Rounded Rectangle 13"/>
          <p:cNvSpPr/>
          <p:nvPr/>
        </p:nvSpPr>
        <p:spPr>
          <a:xfrm>
            <a:off x="502920" y="4568760"/>
            <a:ext cx="5497920" cy="1046520"/>
          </a:xfrm>
          <a:prstGeom prst="roundRect">
            <a:avLst>
              <a:gd name="adj" fmla="val 6000"/>
            </a:avLst>
          </a:prstGeom>
          <a:solidFill>
            <a:srgbClr val="2636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90" name="TextBox 14"/>
          <p:cNvSpPr/>
          <p:nvPr/>
        </p:nvSpPr>
        <p:spPr>
          <a:xfrm>
            <a:off x="685800" y="4705920"/>
            <a:ext cx="513216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Radiation as a proxy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1" name="TextBox 15"/>
          <p:cNvSpPr/>
          <p:nvPr/>
        </p:nvSpPr>
        <p:spPr>
          <a:xfrm>
            <a:off x="685800" y="5049000"/>
            <a:ext cx="5132160" cy="17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5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02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Production is a theoretical 20% conversion per m², not RTE's actual output.</a:t>
            </a:r>
            <a:endParaRPr lang="fr-FR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2" name="Rounded Rectangle 16"/>
          <p:cNvSpPr/>
          <p:nvPr/>
        </p:nvSpPr>
        <p:spPr>
          <a:xfrm>
            <a:off x="6187320" y="2194560"/>
            <a:ext cx="5497920" cy="1046520"/>
          </a:xfrm>
          <a:prstGeom prst="roundRect">
            <a:avLst>
              <a:gd name="adj" fmla="val 6000"/>
            </a:avLst>
          </a:prstGeom>
          <a:solidFill>
            <a:srgbClr val="2636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93" name="TextBox 17"/>
          <p:cNvSpPr/>
          <p:nvPr/>
        </p:nvSpPr>
        <p:spPr>
          <a:xfrm>
            <a:off x="6370200" y="2331720"/>
            <a:ext cx="513216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Extended forecasts, J+2/J+3/J+7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4" name="TextBox 18"/>
          <p:cNvSpPr/>
          <p:nvPr/>
        </p:nvSpPr>
        <p:spPr>
          <a:xfrm>
            <a:off x="6370200" y="2674800"/>
            <a:ext cx="5132160" cy="49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02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For longer-term energy planning.</a:t>
            </a:r>
            <a:endParaRPr lang="fr-FR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5" name="Rounded Rectangle 19"/>
          <p:cNvSpPr/>
          <p:nvPr/>
        </p:nvSpPr>
        <p:spPr>
          <a:xfrm>
            <a:off x="6187320" y="3381840"/>
            <a:ext cx="5497920" cy="1046520"/>
          </a:xfrm>
          <a:prstGeom prst="roundRect">
            <a:avLst>
              <a:gd name="adj" fmla="val 6000"/>
            </a:avLst>
          </a:prstGeom>
          <a:solidFill>
            <a:srgbClr val="2636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96" name="TextBox 20"/>
          <p:cNvSpPr/>
          <p:nvPr/>
        </p:nvSpPr>
        <p:spPr>
          <a:xfrm>
            <a:off x="6370200" y="3519000"/>
            <a:ext cx="513216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Use weather forecasts as inputs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7" name="TextBox 21"/>
          <p:cNvSpPr/>
          <p:nvPr/>
        </p:nvSpPr>
        <p:spPr>
          <a:xfrm>
            <a:off x="6370200" y="3861720"/>
            <a:ext cx="5132160" cy="17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5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02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Move from a retrospective model to an operational forecast.</a:t>
            </a:r>
            <a:endParaRPr lang="fr-FR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8" name="Rounded Rectangle 22"/>
          <p:cNvSpPr/>
          <p:nvPr/>
        </p:nvSpPr>
        <p:spPr>
          <a:xfrm>
            <a:off x="6187320" y="4568760"/>
            <a:ext cx="5497920" cy="1046520"/>
          </a:xfrm>
          <a:prstGeom prst="roundRect">
            <a:avLst>
              <a:gd name="adj" fmla="val 6000"/>
            </a:avLst>
          </a:prstGeom>
          <a:solidFill>
            <a:srgbClr val="2636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99" name="TextBox 23"/>
          <p:cNvSpPr/>
          <p:nvPr/>
        </p:nvSpPr>
        <p:spPr>
          <a:xfrm>
            <a:off x="6370200" y="4705920"/>
            <a:ext cx="513216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Predict actual production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0" name="TextBox 24"/>
          <p:cNvSpPr/>
          <p:nvPr/>
        </p:nvSpPr>
        <p:spPr>
          <a:xfrm>
            <a:off x="6370200" y="5049000"/>
            <a:ext cx="5132160" cy="17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5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02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Target RTE output (TWh or capacity factor) directly. This also enables anomaly detection.</a:t>
            </a:r>
            <a:endParaRPr lang="fr-FR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901" name="Connector 25"/>
          <p:cNvCxnSpPr/>
          <p:nvPr/>
        </p:nvCxnSpPr>
        <p:spPr>
          <a:xfrm>
            <a:off x="548640" y="5943600"/>
            <a:ext cx="10976400" cy="3600"/>
          </a:xfrm>
          <a:prstGeom prst="straightConnector1">
            <a:avLst/>
          </a:prstGeom>
          <a:ln w="9525">
            <a:solidFill>
              <a:srgbClr val="3D4B72"/>
            </a:solidFill>
            <a:round/>
          </a:ln>
        </p:spPr>
      </p:cxnSp>
      <p:sp>
        <p:nvSpPr>
          <p:cNvPr id="1902" name="TextBox 26"/>
          <p:cNvSpPr/>
          <p:nvPr/>
        </p:nvSpPr>
        <p:spPr>
          <a:xfrm>
            <a:off x="457200" y="6230160"/>
            <a:ext cx="8224920" cy="15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Solar Production Forecasting · Machine Learning · Streamlit Dashboard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3" name="TextBox 27"/>
          <p:cNvSpPr/>
          <p:nvPr/>
        </p:nvSpPr>
        <p:spPr>
          <a:xfrm>
            <a:off x="11274480" y="6172200"/>
            <a:ext cx="452520" cy="26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11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4" name="Rectangle 1"/>
          <p:cNvSpPr/>
          <p:nvPr/>
        </p:nvSpPr>
        <p:spPr>
          <a:xfrm>
            <a:off x="0" y="0"/>
            <a:ext cx="12188520" cy="6854400"/>
          </a:xfrm>
          <a:prstGeom prst="rect">
            <a:avLst/>
          </a:prstGeom>
          <a:solidFill>
            <a:srgbClr val="0A0E1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cxnSp>
        <p:nvCxnSpPr>
          <p:cNvPr id="1905" name="GridV901"/>
          <p:cNvCxnSpPr/>
          <p:nvPr/>
        </p:nvCxnSpPr>
        <p:spPr>
          <a:xfrm>
            <a:off x="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06" name="GridV902"/>
          <p:cNvCxnSpPr/>
          <p:nvPr/>
        </p:nvCxnSpPr>
        <p:spPr>
          <a:xfrm>
            <a:off x="3045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07" name="GridV903"/>
          <p:cNvCxnSpPr/>
          <p:nvPr/>
        </p:nvCxnSpPr>
        <p:spPr>
          <a:xfrm>
            <a:off x="6094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08" name="GridV904"/>
          <p:cNvCxnSpPr/>
          <p:nvPr/>
        </p:nvCxnSpPr>
        <p:spPr>
          <a:xfrm>
            <a:off x="9144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09" name="GridV905"/>
          <p:cNvCxnSpPr/>
          <p:nvPr/>
        </p:nvCxnSpPr>
        <p:spPr>
          <a:xfrm>
            <a:off x="12189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10" name="GridV906"/>
          <p:cNvCxnSpPr/>
          <p:nvPr/>
        </p:nvCxnSpPr>
        <p:spPr>
          <a:xfrm>
            <a:off x="15238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11" name="GridV907"/>
          <p:cNvCxnSpPr/>
          <p:nvPr/>
        </p:nvCxnSpPr>
        <p:spPr>
          <a:xfrm>
            <a:off x="18288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12" name="GridV908"/>
          <p:cNvCxnSpPr/>
          <p:nvPr/>
        </p:nvCxnSpPr>
        <p:spPr>
          <a:xfrm>
            <a:off x="21333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13" name="GridV909"/>
          <p:cNvCxnSpPr/>
          <p:nvPr/>
        </p:nvCxnSpPr>
        <p:spPr>
          <a:xfrm>
            <a:off x="24382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14" name="GridV910"/>
          <p:cNvCxnSpPr/>
          <p:nvPr/>
        </p:nvCxnSpPr>
        <p:spPr>
          <a:xfrm>
            <a:off x="27432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15" name="GridV911"/>
          <p:cNvCxnSpPr/>
          <p:nvPr/>
        </p:nvCxnSpPr>
        <p:spPr>
          <a:xfrm>
            <a:off x="30477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16" name="GridV912"/>
          <p:cNvCxnSpPr/>
          <p:nvPr/>
        </p:nvCxnSpPr>
        <p:spPr>
          <a:xfrm>
            <a:off x="33526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17" name="GridV913"/>
          <p:cNvCxnSpPr/>
          <p:nvPr/>
        </p:nvCxnSpPr>
        <p:spPr>
          <a:xfrm>
            <a:off x="36576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18" name="GridV914"/>
          <p:cNvCxnSpPr/>
          <p:nvPr/>
        </p:nvCxnSpPr>
        <p:spPr>
          <a:xfrm>
            <a:off x="39621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19" name="GridV915"/>
          <p:cNvCxnSpPr/>
          <p:nvPr/>
        </p:nvCxnSpPr>
        <p:spPr>
          <a:xfrm>
            <a:off x="42670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20" name="GridV916"/>
          <p:cNvCxnSpPr/>
          <p:nvPr/>
        </p:nvCxnSpPr>
        <p:spPr>
          <a:xfrm>
            <a:off x="45720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21" name="GridV917"/>
          <p:cNvCxnSpPr/>
          <p:nvPr/>
        </p:nvCxnSpPr>
        <p:spPr>
          <a:xfrm>
            <a:off x="48765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22" name="GridV918"/>
          <p:cNvCxnSpPr/>
          <p:nvPr/>
        </p:nvCxnSpPr>
        <p:spPr>
          <a:xfrm>
            <a:off x="51814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23" name="GridV919"/>
          <p:cNvCxnSpPr/>
          <p:nvPr/>
        </p:nvCxnSpPr>
        <p:spPr>
          <a:xfrm>
            <a:off x="54864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24" name="GridV920"/>
          <p:cNvCxnSpPr/>
          <p:nvPr/>
        </p:nvCxnSpPr>
        <p:spPr>
          <a:xfrm>
            <a:off x="57909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25" name="GridV921"/>
          <p:cNvCxnSpPr/>
          <p:nvPr/>
        </p:nvCxnSpPr>
        <p:spPr>
          <a:xfrm>
            <a:off x="60958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26" name="GridV922"/>
          <p:cNvCxnSpPr/>
          <p:nvPr/>
        </p:nvCxnSpPr>
        <p:spPr>
          <a:xfrm>
            <a:off x="64008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27" name="GridV923"/>
          <p:cNvCxnSpPr/>
          <p:nvPr/>
        </p:nvCxnSpPr>
        <p:spPr>
          <a:xfrm>
            <a:off x="67053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28" name="GridV924"/>
          <p:cNvCxnSpPr/>
          <p:nvPr/>
        </p:nvCxnSpPr>
        <p:spPr>
          <a:xfrm>
            <a:off x="70102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29" name="GridV925"/>
          <p:cNvCxnSpPr/>
          <p:nvPr/>
        </p:nvCxnSpPr>
        <p:spPr>
          <a:xfrm>
            <a:off x="73152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30" name="GridV926"/>
          <p:cNvCxnSpPr/>
          <p:nvPr/>
        </p:nvCxnSpPr>
        <p:spPr>
          <a:xfrm>
            <a:off x="76197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31" name="GridV927"/>
          <p:cNvCxnSpPr/>
          <p:nvPr/>
        </p:nvCxnSpPr>
        <p:spPr>
          <a:xfrm>
            <a:off x="79246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32" name="GridV928"/>
          <p:cNvCxnSpPr/>
          <p:nvPr/>
        </p:nvCxnSpPr>
        <p:spPr>
          <a:xfrm>
            <a:off x="82296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33" name="GridV929"/>
          <p:cNvCxnSpPr/>
          <p:nvPr/>
        </p:nvCxnSpPr>
        <p:spPr>
          <a:xfrm>
            <a:off x="85341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34" name="GridV930"/>
          <p:cNvCxnSpPr/>
          <p:nvPr/>
        </p:nvCxnSpPr>
        <p:spPr>
          <a:xfrm>
            <a:off x="88390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35" name="GridV931"/>
          <p:cNvCxnSpPr/>
          <p:nvPr/>
        </p:nvCxnSpPr>
        <p:spPr>
          <a:xfrm>
            <a:off x="91440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36" name="GridV932"/>
          <p:cNvCxnSpPr/>
          <p:nvPr/>
        </p:nvCxnSpPr>
        <p:spPr>
          <a:xfrm>
            <a:off x="94485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37" name="GridV933"/>
          <p:cNvCxnSpPr/>
          <p:nvPr/>
        </p:nvCxnSpPr>
        <p:spPr>
          <a:xfrm>
            <a:off x="97534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38" name="GridV934"/>
          <p:cNvCxnSpPr/>
          <p:nvPr/>
        </p:nvCxnSpPr>
        <p:spPr>
          <a:xfrm>
            <a:off x="100584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39" name="GridV935"/>
          <p:cNvCxnSpPr/>
          <p:nvPr/>
        </p:nvCxnSpPr>
        <p:spPr>
          <a:xfrm>
            <a:off x="103629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40" name="GridV936"/>
          <p:cNvCxnSpPr/>
          <p:nvPr/>
        </p:nvCxnSpPr>
        <p:spPr>
          <a:xfrm>
            <a:off x="106678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41" name="GridV937"/>
          <p:cNvCxnSpPr/>
          <p:nvPr/>
        </p:nvCxnSpPr>
        <p:spPr>
          <a:xfrm>
            <a:off x="109728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42" name="GridV938"/>
          <p:cNvCxnSpPr/>
          <p:nvPr/>
        </p:nvCxnSpPr>
        <p:spPr>
          <a:xfrm>
            <a:off x="112773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43" name="GridV939"/>
          <p:cNvCxnSpPr/>
          <p:nvPr/>
        </p:nvCxnSpPr>
        <p:spPr>
          <a:xfrm>
            <a:off x="1158228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44" name="GridV940"/>
          <p:cNvCxnSpPr/>
          <p:nvPr/>
        </p:nvCxnSpPr>
        <p:spPr>
          <a:xfrm>
            <a:off x="1188720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45" name="GridV941"/>
          <p:cNvCxnSpPr/>
          <p:nvPr/>
        </p:nvCxnSpPr>
        <p:spPr>
          <a:xfrm>
            <a:off x="12191760" y="0"/>
            <a:ext cx="3600" cy="6861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46" name="GridH942"/>
          <p:cNvCxnSpPr/>
          <p:nvPr/>
        </p:nvCxnSpPr>
        <p:spPr>
          <a:xfrm>
            <a:off x="0" y="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47" name="GridH943"/>
          <p:cNvCxnSpPr/>
          <p:nvPr/>
        </p:nvCxnSpPr>
        <p:spPr>
          <a:xfrm>
            <a:off x="0" y="3045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48" name="GridH944"/>
          <p:cNvCxnSpPr/>
          <p:nvPr/>
        </p:nvCxnSpPr>
        <p:spPr>
          <a:xfrm>
            <a:off x="0" y="60948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49" name="GridH945"/>
          <p:cNvCxnSpPr/>
          <p:nvPr/>
        </p:nvCxnSpPr>
        <p:spPr>
          <a:xfrm>
            <a:off x="0" y="91440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50" name="GridH946"/>
          <p:cNvCxnSpPr/>
          <p:nvPr/>
        </p:nvCxnSpPr>
        <p:spPr>
          <a:xfrm>
            <a:off x="0" y="12189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51" name="GridH947"/>
          <p:cNvCxnSpPr/>
          <p:nvPr/>
        </p:nvCxnSpPr>
        <p:spPr>
          <a:xfrm>
            <a:off x="0" y="152388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52" name="GridH948"/>
          <p:cNvCxnSpPr/>
          <p:nvPr/>
        </p:nvCxnSpPr>
        <p:spPr>
          <a:xfrm>
            <a:off x="0" y="182880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53" name="GridH949"/>
          <p:cNvCxnSpPr/>
          <p:nvPr/>
        </p:nvCxnSpPr>
        <p:spPr>
          <a:xfrm>
            <a:off x="0" y="21333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54" name="GridH950"/>
          <p:cNvCxnSpPr/>
          <p:nvPr/>
        </p:nvCxnSpPr>
        <p:spPr>
          <a:xfrm>
            <a:off x="0" y="243828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55" name="GridH951"/>
          <p:cNvCxnSpPr/>
          <p:nvPr/>
        </p:nvCxnSpPr>
        <p:spPr>
          <a:xfrm>
            <a:off x="0" y="274320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56" name="GridH952"/>
          <p:cNvCxnSpPr/>
          <p:nvPr/>
        </p:nvCxnSpPr>
        <p:spPr>
          <a:xfrm>
            <a:off x="0" y="30477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57" name="GridH953"/>
          <p:cNvCxnSpPr/>
          <p:nvPr/>
        </p:nvCxnSpPr>
        <p:spPr>
          <a:xfrm>
            <a:off x="0" y="335268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58" name="GridH954"/>
          <p:cNvCxnSpPr/>
          <p:nvPr/>
        </p:nvCxnSpPr>
        <p:spPr>
          <a:xfrm>
            <a:off x="0" y="365760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59" name="GridH955"/>
          <p:cNvCxnSpPr/>
          <p:nvPr/>
        </p:nvCxnSpPr>
        <p:spPr>
          <a:xfrm>
            <a:off x="0" y="39621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60" name="GridH956"/>
          <p:cNvCxnSpPr/>
          <p:nvPr/>
        </p:nvCxnSpPr>
        <p:spPr>
          <a:xfrm>
            <a:off x="0" y="426708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61" name="GridH957"/>
          <p:cNvCxnSpPr/>
          <p:nvPr/>
        </p:nvCxnSpPr>
        <p:spPr>
          <a:xfrm>
            <a:off x="0" y="457200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62" name="GridH958"/>
          <p:cNvCxnSpPr/>
          <p:nvPr/>
        </p:nvCxnSpPr>
        <p:spPr>
          <a:xfrm>
            <a:off x="0" y="48765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63" name="GridH959"/>
          <p:cNvCxnSpPr/>
          <p:nvPr/>
        </p:nvCxnSpPr>
        <p:spPr>
          <a:xfrm>
            <a:off x="0" y="518148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64" name="GridH960"/>
          <p:cNvCxnSpPr/>
          <p:nvPr/>
        </p:nvCxnSpPr>
        <p:spPr>
          <a:xfrm>
            <a:off x="0" y="548640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65" name="GridH961"/>
          <p:cNvCxnSpPr/>
          <p:nvPr/>
        </p:nvCxnSpPr>
        <p:spPr>
          <a:xfrm>
            <a:off x="0" y="57909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66" name="GridH962"/>
          <p:cNvCxnSpPr/>
          <p:nvPr/>
        </p:nvCxnSpPr>
        <p:spPr>
          <a:xfrm>
            <a:off x="0" y="609588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67" name="GridH963"/>
          <p:cNvCxnSpPr/>
          <p:nvPr/>
        </p:nvCxnSpPr>
        <p:spPr>
          <a:xfrm>
            <a:off x="0" y="640080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68" name="GridH964"/>
          <p:cNvCxnSpPr/>
          <p:nvPr/>
        </p:nvCxnSpPr>
        <p:spPr>
          <a:xfrm>
            <a:off x="0" y="6705360"/>
            <a:ext cx="12195360" cy="360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sp>
        <p:nvSpPr>
          <p:cNvPr id="1969" name="TextBox 2"/>
          <p:cNvSpPr/>
          <p:nvPr/>
        </p:nvSpPr>
        <p:spPr>
          <a:xfrm>
            <a:off x="502920" y="411480"/>
            <a:ext cx="7996320" cy="26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pc="201" strike="noStrike">
                <a:solidFill>
                  <a:srgbClr val="818CF8"/>
                </a:solidFill>
                <a:effectLst/>
                <a:uFillTx/>
                <a:latin typeface="Roboto"/>
              </a:rPr>
              <a:t>SUMMARY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0" name="TextBox 3"/>
          <p:cNvSpPr/>
          <p:nvPr/>
        </p:nvSpPr>
        <p:spPr>
          <a:xfrm>
            <a:off x="502920" y="658440"/>
            <a:ext cx="10995480" cy="99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lang="en-US" sz="30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From raw data to a production forecasting dashboard</a:t>
            </a:r>
            <a:endParaRPr lang="fr-F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1" name="Oval 4"/>
          <p:cNvSpPr/>
          <p:nvPr/>
        </p:nvSpPr>
        <p:spPr>
          <a:xfrm>
            <a:off x="502920" y="1929960"/>
            <a:ext cx="133560" cy="133560"/>
          </a:xfrm>
          <a:prstGeom prst="ellipse">
            <a:avLst/>
          </a:prstGeom>
          <a:solidFill>
            <a:srgbClr val="818C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6960" tIns="45000" rIns="6696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72" name="TextBox 5"/>
          <p:cNvSpPr/>
          <p:nvPr/>
        </p:nvSpPr>
        <p:spPr>
          <a:xfrm>
            <a:off x="822960" y="1900080"/>
            <a:ext cx="10496520" cy="49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20000"/>
              </a:lnSpc>
            </a:pPr>
            <a:r>
              <a:rPr lang="en-US" sz="1350" b="0" u="none" strike="noStrike">
                <a:solidFill>
                  <a:srgbClr val="F4F6FB"/>
                </a:solidFill>
                <a:effectLst/>
                <a:uFillTx/>
                <a:latin typeface="Roboto"/>
              </a:rPr>
              <a:t>26,676 observations, 12 regions, 6 years of Meteo-France x RTE x SDES data</a:t>
            </a:r>
            <a:endParaRPr lang="fr-FR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3" name="Oval 6"/>
          <p:cNvSpPr/>
          <p:nvPr/>
        </p:nvSpPr>
        <p:spPr>
          <a:xfrm>
            <a:off x="502920" y="2549880"/>
            <a:ext cx="133560" cy="133560"/>
          </a:xfrm>
          <a:prstGeom prst="ellipse">
            <a:avLst/>
          </a:prstGeom>
          <a:solidFill>
            <a:srgbClr val="818C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6960" tIns="45000" rIns="6696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74" name="TextBox 7"/>
          <p:cNvSpPr/>
          <p:nvPr/>
        </p:nvSpPr>
        <p:spPr>
          <a:xfrm>
            <a:off x="822960" y="2520000"/>
            <a:ext cx="10496520" cy="24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20000"/>
              </a:lnSpc>
            </a:pPr>
            <a:r>
              <a:rPr lang="en-US" sz="1350" b="0" u="none" strike="noStrike">
                <a:solidFill>
                  <a:srgbClr val="F4F6FB"/>
                </a:solidFill>
                <a:effectLst/>
                <a:uFillTx/>
                <a:latin typeface="Roboto"/>
              </a:rPr>
              <a:t>Time-respecting validation (TimeSeriesSplit + GridSearchCV). Ridge chosen for its stability: −15% error vs "tomorrow = today" (R² ≈ 0.79)</a:t>
            </a:r>
            <a:endParaRPr lang="fr-FR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5" name="Oval 8"/>
          <p:cNvSpPr/>
          <p:nvPr/>
        </p:nvSpPr>
        <p:spPr>
          <a:xfrm>
            <a:off x="502920" y="3170160"/>
            <a:ext cx="133560" cy="133560"/>
          </a:xfrm>
          <a:prstGeom prst="ellipse">
            <a:avLst/>
          </a:prstGeom>
          <a:solidFill>
            <a:srgbClr val="818C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6960" tIns="45000" rIns="6696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76" name="TextBox 9"/>
          <p:cNvSpPr/>
          <p:nvPr/>
        </p:nvSpPr>
        <p:spPr>
          <a:xfrm>
            <a:off x="822960" y="3139920"/>
            <a:ext cx="10496520" cy="24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20000"/>
              </a:lnSpc>
            </a:pPr>
            <a:r>
              <a:rPr lang="en-US" sz="1350" b="0" u="none" strike="noStrike">
                <a:solidFill>
                  <a:srgbClr val="F4F6FB"/>
                </a:solidFill>
                <a:effectLst/>
                <a:uFillTx/>
                <a:latin typeface="Roboto"/>
              </a:rPr>
              <a:t>Streamlit dashboard in production: interactive EDA and next-day forecasts</a:t>
            </a:r>
            <a:endParaRPr lang="fr-FR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977" name="Connector 10"/>
          <p:cNvCxnSpPr/>
          <p:nvPr/>
        </p:nvCxnSpPr>
        <p:spPr>
          <a:xfrm>
            <a:off x="502920" y="4199760"/>
            <a:ext cx="11189520" cy="3600"/>
          </a:xfrm>
          <a:prstGeom prst="straightConnector1">
            <a:avLst/>
          </a:prstGeom>
          <a:ln w="9525">
            <a:solidFill>
              <a:srgbClr val="3D4B72"/>
            </a:solidFill>
            <a:round/>
          </a:ln>
        </p:spPr>
      </p:cxnSp>
      <p:sp>
        <p:nvSpPr>
          <p:cNvPr id="1978" name="TextBox 11"/>
          <p:cNvSpPr/>
          <p:nvPr/>
        </p:nvSpPr>
        <p:spPr>
          <a:xfrm>
            <a:off x="502920" y="4700160"/>
            <a:ext cx="11182680" cy="69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6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Thank you for your attention.</a:t>
            </a:r>
            <a:endParaRPr lang="fr-F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9" name="TextBox 12"/>
          <p:cNvSpPr/>
          <p:nvPr/>
        </p:nvSpPr>
        <p:spPr>
          <a:xfrm>
            <a:off x="502920" y="5400000"/>
            <a:ext cx="11182680" cy="49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Now, a walkthrough of the Streamlit dashboard, followed by questions.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980" name="Connector 13"/>
          <p:cNvCxnSpPr/>
          <p:nvPr/>
        </p:nvCxnSpPr>
        <p:spPr>
          <a:xfrm>
            <a:off x="548640" y="5943600"/>
            <a:ext cx="10976400" cy="3600"/>
          </a:xfrm>
          <a:prstGeom prst="straightConnector1">
            <a:avLst/>
          </a:prstGeom>
          <a:ln w="9525">
            <a:solidFill>
              <a:srgbClr val="3D4B72"/>
            </a:solidFill>
            <a:round/>
          </a:ln>
        </p:spPr>
      </p:cxnSp>
      <p:sp>
        <p:nvSpPr>
          <p:cNvPr id="1981" name="TextBox 14"/>
          <p:cNvSpPr/>
          <p:nvPr/>
        </p:nvSpPr>
        <p:spPr>
          <a:xfrm>
            <a:off x="457200" y="6172200"/>
            <a:ext cx="8224920" cy="26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Solar Production Forecasting · Machine Learning · Streamlit Dashboard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2" name="TextBox 15"/>
          <p:cNvSpPr/>
          <p:nvPr/>
        </p:nvSpPr>
        <p:spPr>
          <a:xfrm>
            <a:off x="11274480" y="6172200"/>
            <a:ext cx="452520" cy="26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12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itchFamily="0" charset="1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216</TotalTime>
  <Application>LibreOffice/26.8.1.1$Linux_X86_64 LibreOffice_project/bf6ef2662401c7d6dce671ab4deb26ee0af3a7c1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fr-FR</dc:language>
  <cp:lastModifiedBy/>
  <dcterms:modified xsi:type="dcterms:W3CDTF">2026-10-27T11:59:47Z</dcterms:modified>
  <cp:revision>41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