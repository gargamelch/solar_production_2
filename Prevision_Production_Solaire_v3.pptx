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3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7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4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1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8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5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2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9880" cy="135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9880" cy="149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14D3092-FDC0-45D0-8627-081AF44839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6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3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4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1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2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3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0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1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2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3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4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1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2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3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4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5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6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7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8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9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6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7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8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9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30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31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32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33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34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596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596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ECE915E-976B-497C-86FD-6D16C37FE4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2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8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9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6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7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8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5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6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3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0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1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8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9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0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6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7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8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9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0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1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2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3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04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7760" cy="63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7760" cy="39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200" cy="63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200" cy="39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0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6DF3441-8652-492E-9B3E-DE5EB0904B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3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4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5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6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7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8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19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0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1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2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3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4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5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6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7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8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29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0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1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2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3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4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5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6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7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8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39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0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1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2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3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4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5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6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7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8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49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0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1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2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3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4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5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6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7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8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59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0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1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2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3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4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5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6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7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8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69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70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71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72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73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74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75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76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948F0B1-8393-427D-B2B1-5157CC9EB2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1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2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3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4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5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6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7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8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89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0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1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2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3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4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5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6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7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8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299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0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1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2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3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4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5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6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7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8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09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0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1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2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3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4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5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6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7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8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19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0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1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2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3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4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5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6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7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8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29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0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1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2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3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4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5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6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7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8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39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40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41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42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43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44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34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966BE14-8586-44D9-A762-5C82F64D5D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0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1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2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3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4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5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6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7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8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59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0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1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2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3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4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5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6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7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8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69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0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1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2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3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4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5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6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7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8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79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0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1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2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3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4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5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6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7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8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89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0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1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2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3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4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5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6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7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8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399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0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1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2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3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4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5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6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7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8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09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10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11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12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13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5640" cy="11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12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5640" cy="468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8838AEF-127A-4100-BC75-DA3A3DE270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0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1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2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3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4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5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6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7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8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29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0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1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2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3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4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5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6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7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8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39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0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1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2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3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4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5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6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7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8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49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0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1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2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3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4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5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6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7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8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59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0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1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2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3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4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5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6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7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8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69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0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1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2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3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4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5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6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7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8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79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80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81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82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83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3880" cy="56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</a:t>
            </a: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e-</a:t>
            </a: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add </a:t>
            </a: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</a:t>
            </a: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3880" cy="80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7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894DC6F-F9C3-45A6-AF4F-7EB0BB75AD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0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1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2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3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4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5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6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7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8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499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0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1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2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3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4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5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6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7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8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09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0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1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2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3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4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5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6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7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8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19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0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1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2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3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4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5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6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7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8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29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0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1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2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3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4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5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6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7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8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39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0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1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2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3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4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5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6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7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8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49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50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51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52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53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9880" cy="146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447F80E-A2AE-4324-B333-2120AC4D4B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8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59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0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1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2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3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4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5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6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7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8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69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0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1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2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3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4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5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6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7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8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79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0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1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2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3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4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5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6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7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8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89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0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1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2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3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4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5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6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7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8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599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0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1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2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3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4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5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6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7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8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09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0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1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2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3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4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5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6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7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8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19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20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21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FAF606E-80B7-468F-BF2E-45D48C3359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7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28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29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0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1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2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3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4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5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6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7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8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39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0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1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2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3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4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5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6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7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8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49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0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1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2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3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4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5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6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7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8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59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0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1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2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3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4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5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6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7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8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69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0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1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2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3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4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5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6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7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8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79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0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1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2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3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4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5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6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7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8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89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90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69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4880" cy="584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7400" cy="584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6F8DDA3-ECF9-4A37-8A82-B6F5894BF7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6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97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98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699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0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1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2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3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4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5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6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7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8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09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0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1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2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3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4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5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6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7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8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19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0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1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2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3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4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5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6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7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8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29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0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1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2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3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4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5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6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7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8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39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0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1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2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3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4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5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6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7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8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49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0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1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2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3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4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5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6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7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8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59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7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9B1B372-BD76-4BDD-B897-7254FCA82C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Rectangle 1"/>
          <p:cNvSpPr/>
          <p:nvPr/>
        </p:nvSpPr>
        <p:spPr>
          <a:xfrm>
            <a:off x="0" y="0"/>
            <a:ext cx="12189600" cy="68554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766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67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68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69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0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1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2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3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4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5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6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7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8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79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0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1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2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3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4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5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6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7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8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89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0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1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2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3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4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5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6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7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8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799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0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1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2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3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4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5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6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7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8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09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0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1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2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3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4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5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6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7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8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19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0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1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2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3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4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5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6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7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8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29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830" name="TextBox 2"/>
          <p:cNvSpPr/>
          <p:nvPr/>
        </p:nvSpPr>
        <p:spPr>
          <a:xfrm>
            <a:off x="502920" y="1737360"/>
            <a:ext cx="79974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DAT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A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ANA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LYST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CAP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STO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NE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PRO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JECT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Box 3"/>
          <p:cNvSpPr/>
          <p:nvPr/>
        </p:nvSpPr>
        <p:spPr>
          <a:xfrm>
            <a:off x="502920" y="2085480"/>
            <a:ext cx="11183760" cy="14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ol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 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u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ct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io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n 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st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in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</a:t>
            </a:r>
            <a:endParaRPr lang="fr-F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w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it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h 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hi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n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 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L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ni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n</a:t>
            </a: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</a:t>
            </a:r>
            <a:endParaRPr lang="fr-FR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TextBox 4"/>
          <p:cNvSpPr/>
          <p:nvPr/>
        </p:nvSpPr>
        <p:spPr>
          <a:xfrm>
            <a:off x="502920" y="3449880"/>
            <a:ext cx="949752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From 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weat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her 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sign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al to 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next-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day 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forec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ast: 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mod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eling, 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temp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oral 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valid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ation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, and 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depl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oym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ent 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on a 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Strea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mlit 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dash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boar</a:t>
            </a: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Rounded Rectangle 5"/>
          <p:cNvSpPr/>
          <p:nvPr/>
        </p:nvSpPr>
        <p:spPr>
          <a:xfrm>
            <a:off x="502920" y="4267080"/>
            <a:ext cx="3604320" cy="114732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4" name="TextBox 6"/>
          <p:cNvSpPr/>
          <p:nvPr/>
        </p:nvSpPr>
        <p:spPr>
          <a:xfrm>
            <a:off x="731520" y="4405320"/>
            <a:ext cx="3147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2</a:t>
            </a: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6,</a:t>
            </a: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6</a:t>
            </a: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7</a:t>
            </a: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6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Box 7"/>
          <p:cNvSpPr/>
          <p:nvPr/>
        </p:nvSpPr>
        <p:spPr>
          <a:xfrm>
            <a:off x="731520" y="4888080"/>
            <a:ext cx="3147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daily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observ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ations,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2020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to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2026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Rounded Rectangle 8"/>
          <p:cNvSpPr/>
          <p:nvPr/>
        </p:nvSpPr>
        <p:spPr>
          <a:xfrm>
            <a:off x="4292640" y="4267080"/>
            <a:ext cx="3604320" cy="114732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7" name="TextBox 9"/>
          <p:cNvSpPr/>
          <p:nvPr/>
        </p:nvSpPr>
        <p:spPr>
          <a:xfrm>
            <a:off x="4521240" y="4405320"/>
            <a:ext cx="3147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1</a:t>
            </a: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2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Box 10"/>
          <p:cNvSpPr/>
          <p:nvPr/>
        </p:nvSpPr>
        <p:spPr>
          <a:xfrm>
            <a:off x="4521240" y="4888080"/>
            <a:ext cx="314712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Frenc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h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region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covere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Rounded Rectangle 11"/>
          <p:cNvSpPr/>
          <p:nvPr/>
        </p:nvSpPr>
        <p:spPr>
          <a:xfrm>
            <a:off x="8082360" y="4267080"/>
            <a:ext cx="3604320" cy="114732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0" name="TextBox 12"/>
          <p:cNvSpPr/>
          <p:nvPr/>
        </p:nvSpPr>
        <p:spPr>
          <a:xfrm>
            <a:off x="8310960" y="4405320"/>
            <a:ext cx="3147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3</a:t>
            </a:r>
            <a:r>
              <a:rPr lang="en-US" sz="3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6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Box 13"/>
          <p:cNvSpPr/>
          <p:nvPr/>
        </p:nvSpPr>
        <p:spPr>
          <a:xfrm>
            <a:off x="8310960" y="4888080"/>
            <a:ext cx="31471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Input features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2" name="Connector 14"/>
          <p:cNvCxnSpPr/>
          <p:nvPr/>
        </p:nvCxnSpPr>
        <p:spPr>
          <a:xfrm>
            <a:off x="548640" y="5943600"/>
            <a:ext cx="10975320" cy="25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843" name="TextBox 15"/>
          <p:cNvSpPr/>
          <p:nvPr/>
        </p:nvSpPr>
        <p:spPr>
          <a:xfrm>
            <a:off x="457200" y="6172200"/>
            <a:ext cx="82260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Box 16"/>
          <p:cNvSpPr/>
          <p:nvPr/>
        </p:nvSpPr>
        <p:spPr>
          <a:xfrm>
            <a:off x="11274480" y="6172200"/>
            <a:ext cx="453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01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Rectangle 1"/>
          <p:cNvSpPr/>
          <p:nvPr/>
        </p:nvSpPr>
        <p:spPr>
          <a:xfrm>
            <a:off x="0" y="0"/>
            <a:ext cx="12189600" cy="68554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846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47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48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49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0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1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2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3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4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5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6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7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8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59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0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1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2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3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4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5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6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7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8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69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0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1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2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3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4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5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6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7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8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79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0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1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2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3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4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5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6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7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8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89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0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1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2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3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4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5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6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7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8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899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0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1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2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3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4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5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6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7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8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09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910" name="TextBox 2"/>
          <p:cNvSpPr/>
          <p:nvPr/>
        </p:nvSpPr>
        <p:spPr>
          <a:xfrm>
            <a:off x="502920" y="411480"/>
            <a:ext cx="79974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01 ·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CON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TEXT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Box 3"/>
          <p:cNvSpPr/>
          <p:nvPr/>
        </p:nvSpPr>
        <p:spPr>
          <a:xfrm>
            <a:off x="502920" y="658440"/>
            <a:ext cx="1099656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Why forecast solar production?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TextBox 4"/>
          <p:cNvSpPr/>
          <p:nvPr/>
        </p:nvSpPr>
        <p:spPr>
          <a:xfrm>
            <a:off x="502920" y="1404000"/>
            <a:ext cx="109976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Solar output is entirely weather dependent: without a forecast, every gap between expected and actual production has a direct cost.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Rounded Rectangle 5"/>
          <p:cNvSpPr/>
          <p:nvPr/>
        </p:nvSpPr>
        <p:spPr>
          <a:xfrm>
            <a:off x="502920" y="1737360"/>
            <a:ext cx="5483880" cy="4012920"/>
          </a:xfrm>
          <a:prstGeom prst="roundRect">
            <a:avLst>
              <a:gd name="adj" fmla="val 1846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4" name="Oval 6"/>
          <p:cNvSpPr/>
          <p:nvPr/>
        </p:nvSpPr>
        <p:spPr>
          <a:xfrm>
            <a:off x="868680" y="2057400"/>
            <a:ext cx="454680" cy="454680"/>
          </a:xfrm>
          <a:prstGeom prst="ellipse">
            <a:avLst/>
          </a:prstGeom>
          <a:solidFill>
            <a:srgbClr val="4338C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5" name="TextBox 7"/>
          <p:cNvSpPr/>
          <p:nvPr/>
        </p:nvSpPr>
        <p:spPr>
          <a:xfrm>
            <a:off x="868680" y="205740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!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Box 8"/>
          <p:cNvSpPr/>
          <p:nvPr/>
        </p:nvSpPr>
        <p:spPr>
          <a:xfrm>
            <a:off x="1508760" y="2057400"/>
            <a:ext cx="429516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Total intermittency</a:t>
            </a:r>
            <a:endParaRPr lang="fr-F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Box 9"/>
          <p:cNvSpPr/>
          <p:nvPr/>
        </p:nvSpPr>
        <p:spPr>
          <a:xfrm>
            <a:off x="868680" y="2743200"/>
            <a:ext cx="4754520" cy="94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Unlik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e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nucle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ar or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gas,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solar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produ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ction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cann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ot be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dispa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tched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on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dema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nd: it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depe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nds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entire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ly on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tomo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rrow's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radiat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ion.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TextBox 10"/>
          <p:cNvSpPr/>
          <p:nvPr/>
        </p:nvSpPr>
        <p:spPr>
          <a:xfrm>
            <a:off x="868680" y="3840480"/>
            <a:ext cx="4754520" cy="16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A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reliab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le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next-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day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forec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ast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mean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s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antici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patin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g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produ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ction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befor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e it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happ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ens,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inste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ad of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just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reacti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ng to </a:t>
            </a:r>
            <a:r>
              <a:rPr lang="en-US" sz="12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it.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Rounded Rectangle 11"/>
          <p:cNvSpPr/>
          <p:nvPr/>
        </p:nvSpPr>
        <p:spPr>
          <a:xfrm>
            <a:off x="6316920" y="1737360"/>
            <a:ext cx="2667600" cy="1932480"/>
          </a:xfrm>
          <a:prstGeom prst="roundRect">
            <a:avLst>
              <a:gd name="adj" fmla="val 378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0" name="TextBox 12"/>
          <p:cNvSpPr/>
          <p:nvPr/>
        </p:nvSpPr>
        <p:spPr>
          <a:xfrm>
            <a:off x="6499800" y="1920240"/>
            <a:ext cx="230184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Sellin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electr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icity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TextBox 13"/>
          <p:cNvSpPr/>
          <p:nvPr/>
        </p:nvSpPr>
        <p:spPr>
          <a:xfrm>
            <a:off x="6499800" y="2377440"/>
            <a:ext cx="230184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Avoid unfavorable buybacks or underpriced sales on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wholesale markets.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Rounded Rectangle 14"/>
          <p:cNvSpPr/>
          <p:nvPr/>
        </p:nvSpPr>
        <p:spPr>
          <a:xfrm>
            <a:off x="9132480" y="1737360"/>
            <a:ext cx="2667600" cy="1932480"/>
          </a:xfrm>
          <a:prstGeom prst="roundRect">
            <a:avLst>
              <a:gd name="adj" fmla="val 378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3" name="TextBox 15"/>
          <p:cNvSpPr/>
          <p:nvPr/>
        </p:nvSpPr>
        <p:spPr>
          <a:xfrm>
            <a:off x="9315360" y="1920240"/>
            <a:ext cx="230184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Batte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ry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mana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geme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nt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TextBox 16"/>
          <p:cNvSpPr/>
          <p:nvPr/>
        </p:nvSpPr>
        <p:spPr>
          <a:xfrm>
            <a:off x="9315360" y="2377440"/>
            <a:ext cx="230184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Optimi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ze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charge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/disch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arge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cycles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and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extend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storag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syste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m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lifespa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Rounded Rectangle 17"/>
          <p:cNvSpPr/>
          <p:nvPr/>
        </p:nvSpPr>
        <p:spPr>
          <a:xfrm>
            <a:off x="6316920" y="3817800"/>
            <a:ext cx="2667600" cy="1932480"/>
          </a:xfrm>
          <a:prstGeom prst="roundRect">
            <a:avLst>
              <a:gd name="adj" fmla="val 378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6" name="TextBox 18"/>
          <p:cNvSpPr/>
          <p:nvPr/>
        </p:nvSpPr>
        <p:spPr>
          <a:xfrm>
            <a:off x="6499800" y="4000680"/>
            <a:ext cx="230184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Preventive maintenance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TextBox 19"/>
          <p:cNvSpPr/>
          <p:nvPr/>
        </p:nvSpPr>
        <p:spPr>
          <a:xfrm>
            <a:off x="6499800" y="4457880"/>
            <a:ext cx="230184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Detect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yield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anomal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ies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(dirty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or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faulty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panels)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and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plan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interve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ntions.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Rounded Rectangle 20"/>
          <p:cNvSpPr/>
          <p:nvPr/>
        </p:nvSpPr>
        <p:spPr>
          <a:xfrm>
            <a:off x="9132480" y="3817800"/>
            <a:ext cx="2667600" cy="1932480"/>
          </a:xfrm>
          <a:prstGeom prst="roundRect">
            <a:avLst>
              <a:gd name="adj" fmla="val 378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9" name="TextBox 21"/>
          <p:cNvSpPr/>
          <p:nvPr/>
        </p:nvSpPr>
        <p:spPr>
          <a:xfrm>
            <a:off x="9315360" y="4000680"/>
            <a:ext cx="230184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Grid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mana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geme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nt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TextBox 22"/>
          <p:cNvSpPr/>
          <p:nvPr/>
        </p:nvSpPr>
        <p:spPr>
          <a:xfrm>
            <a:off x="9315360" y="4457880"/>
            <a:ext cx="230184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Anticip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ate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high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produc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tion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days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to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reduce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relianc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 on </a:t>
            </a:r>
            <a:r>
              <a:rPr lang="en-US" sz="105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gas.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1" name="Connector 23"/>
          <p:cNvCxnSpPr/>
          <p:nvPr/>
        </p:nvCxnSpPr>
        <p:spPr>
          <a:xfrm>
            <a:off x="548640" y="5943600"/>
            <a:ext cx="10975320" cy="25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932" name="TextBox 24"/>
          <p:cNvSpPr/>
          <p:nvPr/>
        </p:nvSpPr>
        <p:spPr>
          <a:xfrm>
            <a:off x="457200" y="6172200"/>
            <a:ext cx="82260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Produc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tion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Foreca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sting ·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Machin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e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Learnin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g ·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Streaml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it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Dashbo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TextBox 25"/>
          <p:cNvSpPr/>
          <p:nvPr/>
        </p:nvSpPr>
        <p:spPr>
          <a:xfrm>
            <a:off x="11274480" y="6172200"/>
            <a:ext cx="453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02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Rectangle 1"/>
          <p:cNvSpPr/>
          <p:nvPr/>
        </p:nvSpPr>
        <p:spPr>
          <a:xfrm>
            <a:off x="0" y="0"/>
            <a:ext cx="12189600" cy="68554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935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36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37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38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39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0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1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2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3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4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5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6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7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8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49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0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1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2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3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4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5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6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7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8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59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0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1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2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3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4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5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6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7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8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69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0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1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2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3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4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5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6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7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8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79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0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1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2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3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4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5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6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7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8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89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0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1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2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3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4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5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6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7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998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999" name="TextBox 2"/>
          <p:cNvSpPr/>
          <p:nvPr/>
        </p:nvSpPr>
        <p:spPr>
          <a:xfrm>
            <a:off x="502920" y="411480"/>
            <a:ext cx="79974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02 ·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DAT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A &amp;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MET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HOD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TextBox 3"/>
          <p:cNvSpPr/>
          <p:nvPr/>
        </p:nvSpPr>
        <p:spPr>
          <a:xfrm>
            <a:off x="502920" y="658440"/>
            <a:ext cx="1099656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Da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ta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&amp;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et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ho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TextBox 4"/>
          <p:cNvSpPr/>
          <p:nvPr/>
        </p:nvSpPr>
        <p:spPr>
          <a:xfrm>
            <a:off x="502920" y="1404000"/>
            <a:ext cx="10997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Three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data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sourc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es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joine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 by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regio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 and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day, a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5-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step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pipeli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ne,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with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time-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respe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cting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valida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tion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(no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shuffl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ing).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Rounded Rectangle 5"/>
          <p:cNvSpPr/>
          <p:nvPr/>
        </p:nvSpPr>
        <p:spPr>
          <a:xfrm>
            <a:off x="502920" y="1737360"/>
            <a:ext cx="3572640" cy="136800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3" name="TextBox 6"/>
          <p:cNvSpPr/>
          <p:nvPr/>
        </p:nvSpPr>
        <p:spPr>
          <a:xfrm>
            <a:off x="731520" y="1874520"/>
            <a:ext cx="31154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26,676 rows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TextBox 7"/>
          <p:cNvSpPr/>
          <p:nvPr/>
        </p:nvSpPr>
        <p:spPr>
          <a:xfrm>
            <a:off x="731520" y="2239200"/>
            <a:ext cx="311544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Mete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o-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Franc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TextBox 8"/>
          <p:cNvSpPr/>
          <p:nvPr/>
        </p:nvSpPr>
        <p:spPr>
          <a:xfrm>
            <a:off x="731520" y="2529720"/>
            <a:ext cx="31154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Radiat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ion,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tempe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rature,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humid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ity,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wind...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by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region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and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day,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2020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to </a:t>
            </a: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2026.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Rounded Rectangle 9"/>
          <p:cNvSpPr/>
          <p:nvPr/>
        </p:nvSpPr>
        <p:spPr>
          <a:xfrm>
            <a:off x="4306680" y="1737360"/>
            <a:ext cx="3572640" cy="136800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7" name="TextBox 10"/>
          <p:cNvSpPr/>
          <p:nvPr/>
        </p:nvSpPr>
        <p:spPr>
          <a:xfrm>
            <a:off x="4535280" y="1874520"/>
            <a:ext cx="31154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12 </a:t>
            </a:r>
            <a:r>
              <a:rPr lang="en-US" sz="2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reg</a:t>
            </a:r>
            <a:r>
              <a:rPr lang="en-US" sz="2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ion</a:t>
            </a:r>
            <a:r>
              <a:rPr lang="en-US" sz="2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TextBox 11"/>
          <p:cNvSpPr/>
          <p:nvPr/>
        </p:nvSpPr>
        <p:spPr>
          <a:xfrm>
            <a:off x="4535280" y="2239200"/>
            <a:ext cx="311544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RTE, solar production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Box 12"/>
          <p:cNvSpPr/>
          <p:nvPr/>
        </p:nvSpPr>
        <p:spPr>
          <a:xfrm>
            <a:off x="4535280" y="2529720"/>
            <a:ext cx="31154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Half-hourly production aggregated into daily TWh by region.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Rounded Rectangle 13"/>
          <p:cNvSpPr/>
          <p:nvPr/>
        </p:nvSpPr>
        <p:spPr>
          <a:xfrm>
            <a:off x="8110440" y="1737360"/>
            <a:ext cx="3572640" cy="136800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1" name="TextBox 14"/>
          <p:cNvSpPr/>
          <p:nvPr/>
        </p:nvSpPr>
        <p:spPr>
          <a:xfrm>
            <a:off x="8339040" y="1874520"/>
            <a:ext cx="31154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SDES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TextBox 15"/>
          <p:cNvSpPr/>
          <p:nvPr/>
        </p:nvSpPr>
        <p:spPr>
          <a:xfrm>
            <a:off x="8339040" y="2239200"/>
            <a:ext cx="311544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Installed capacity (MW)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TextBox 16"/>
          <p:cNvSpPr/>
          <p:nvPr/>
        </p:nvSpPr>
        <p:spPr>
          <a:xfrm>
            <a:off x="8339040" y="2529720"/>
            <a:ext cx="31154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Installed photovoltaic capacity by region, used to normalize production.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TextBox 17"/>
          <p:cNvSpPr/>
          <p:nvPr/>
        </p:nvSpPr>
        <p:spPr>
          <a:xfrm>
            <a:off x="502920" y="3474720"/>
            <a:ext cx="49975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pc="99" strike="noStrike">
                <a:solidFill>
                  <a:srgbClr val="F4F6FB"/>
                </a:solidFill>
                <a:effectLst/>
                <a:uFillTx/>
                <a:latin typeface="Roboto"/>
              </a:rPr>
              <a:t>MET</a:t>
            </a:r>
            <a:r>
              <a:rPr lang="en-US" sz="1200" b="1" u="none" spc="99" strike="noStrike">
                <a:solidFill>
                  <a:srgbClr val="F4F6FB"/>
                </a:solidFill>
                <a:effectLst/>
                <a:uFillTx/>
                <a:latin typeface="Roboto"/>
              </a:rPr>
              <a:t>HOD</a:t>
            </a:r>
            <a:r>
              <a:rPr lang="en-US" sz="1200" b="1" u="none" spc="99" strike="noStrike">
                <a:solidFill>
                  <a:srgbClr val="F4F6FB"/>
                </a:solidFill>
                <a:effectLst/>
                <a:uFillTx/>
                <a:latin typeface="Roboto"/>
              </a:rPr>
              <a:t>OLO</a:t>
            </a:r>
            <a:r>
              <a:rPr lang="en-US" sz="1200" b="1" u="none" spc="99" strike="noStrike">
                <a:solidFill>
                  <a:srgbClr val="F4F6FB"/>
                </a:solidFill>
                <a:effectLst/>
                <a:uFillTx/>
                <a:latin typeface="Roboto"/>
              </a:rPr>
              <a:t>GY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Rounded Rectangle 18"/>
          <p:cNvSpPr/>
          <p:nvPr/>
        </p:nvSpPr>
        <p:spPr>
          <a:xfrm>
            <a:off x="502920" y="3931920"/>
            <a:ext cx="2132640" cy="187092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6" name="Oval 19"/>
          <p:cNvSpPr/>
          <p:nvPr/>
        </p:nvSpPr>
        <p:spPr>
          <a:xfrm>
            <a:off x="1342440" y="4114800"/>
            <a:ext cx="453600" cy="453600"/>
          </a:xfrm>
          <a:prstGeom prst="ellipse">
            <a:avLst/>
          </a:prstGeom>
          <a:solidFill>
            <a:srgbClr val="4338C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7" name="TextBox 20"/>
          <p:cNvSpPr/>
          <p:nvPr/>
        </p:nvSpPr>
        <p:spPr>
          <a:xfrm>
            <a:off x="1342440" y="4114800"/>
            <a:ext cx="4536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1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Box 21"/>
          <p:cNvSpPr/>
          <p:nvPr/>
        </p:nvSpPr>
        <p:spPr>
          <a:xfrm>
            <a:off x="685800" y="4750920"/>
            <a:ext cx="1766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Feature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engineering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TextBox 22"/>
          <p:cNvSpPr/>
          <p:nvPr/>
        </p:nvSpPr>
        <p:spPr>
          <a:xfrm>
            <a:off x="603000" y="5242680"/>
            <a:ext cx="193284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Lags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J-1/J-2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/J-3, 7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day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rolling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means,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season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ality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(sin/co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s).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Rounded Rectangle 23"/>
          <p:cNvSpPr/>
          <p:nvPr/>
        </p:nvSpPr>
        <p:spPr>
          <a:xfrm>
            <a:off x="2775240" y="3931920"/>
            <a:ext cx="2132640" cy="187092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1" name="Oval 24"/>
          <p:cNvSpPr/>
          <p:nvPr/>
        </p:nvSpPr>
        <p:spPr>
          <a:xfrm>
            <a:off x="3615120" y="4114800"/>
            <a:ext cx="453600" cy="453600"/>
          </a:xfrm>
          <a:prstGeom prst="ellipse">
            <a:avLst/>
          </a:prstGeom>
          <a:solidFill>
            <a:srgbClr val="4338C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2" name="TextBox 25"/>
          <p:cNvSpPr/>
          <p:nvPr/>
        </p:nvSpPr>
        <p:spPr>
          <a:xfrm>
            <a:off x="3615120" y="4114800"/>
            <a:ext cx="4536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2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TextBox 26"/>
          <p:cNvSpPr/>
          <p:nvPr/>
        </p:nvSpPr>
        <p:spPr>
          <a:xfrm>
            <a:off x="2958120" y="4750920"/>
            <a:ext cx="1766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Basel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ine &amp;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raw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regre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ssion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TextBox 27"/>
          <p:cNvSpPr/>
          <p:nvPr/>
        </p:nvSpPr>
        <p:spPr>
          <a:xfrm>
            <a:off x="2875320" y="5242680"/>
            <a:ext cx="193284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Naive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persist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ence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vs.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regress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ion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without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feature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engine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ering.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Rounded Rectangle 28"/>
          <p:cNvSpPr/>
          <p:nvPr/>
        </p:nvSpPr>
        <p:spPr>
          <a:xfrm>
            <a:off x="5047920" y="3931920"/>
            <a:ext cx="2132640" cy="187092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6" name="Oval 29"/>
          <p:cNvSpPr/>
          <p:nvPr/>
        </p:nvSpPr>
        <p:spPr>
          <a:xfrm>
            <a:off x="5887440" y="4114800"/>
            <a:ext cx="453600" cy="453600"/>
          </a:xfrm>
          <a:prstGeom prst="ellipse">
            <a:avLst/>
          </a:prstGeom>
          <a:solidFill>
            <a:srgbClr val="4338C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7" name="TextBox 30"/>
          <p:cNvSpPr/>
          <p:nvPr/>
        </p:nvSpPr>
        <p:spPr>
          <a:xfrm>
            <a:off x="5887440" y="4114800"/>
            <a:ext cx="4536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3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TextBox 31"/>
          <p:cNvSpPr/>
          <p:nvPr/>
        </p:nvSpPr>
        <p:spPr>
          <a:xfrm>
            <a:off x="5230800" y="4750920"/>
            <a:ext cx="1766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Temporal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validation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TextBox 32"/>
          <p:cNvSpPr/>
          <p:nvPr/>
        </p:nvSpPr>
        <p:spPr>
          <a:xfrm>
            <a:off x="5147640" y="5242680"/>
            <a:ext cx="193284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TimeSeriesSplit (5 folds), pipeline refit on every fold.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Rounded Rectangle 33"/>
          <p:cNvSpPr/>
          <p:nvPr/>
        </p:nvSpPr>
        <p:spPr>
          <a:xfrm>
            <a:off x="7320240" y="3931920"/>
            <a:ext cx="2132640" cy="187092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1" name="Oval 34"/>
          <p:cNvSpPr/>
          <p:nvPr/>
        </p:nvSpPr>
        <p:spPr>
          <a:xfrm>
            <a:off x="8159760" y="4114800"/>
            <a:ext cx="453600" cy="453600"/>
          </a:xfrm>
          <a:prstGeom prst="ellipse">
            <a:avLst/>
          </a:prstGeom>
          <a:solidFill>
            <a:srgbClr val="4338C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2" name="TextBox 35"/>
          <p:cNvSpPr/>
          <p:nvPr/>
        </p:nvSpPr>
        <p:spPr>
          <a:xfrm>
            <a:off x="8159760" y="4114800"/>
            <a:ext cx="4536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4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Box 36"/>
          <p:cNvSpPr/>
          <p:nvPr/>
        </p:nvSpPr>
        <p:spPr>
          <a:xfrm>
            <a:off x="7503120" y="4750920"/>
            <a:ext cx="1766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GridS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earch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CV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TextBox 37"/>
          <p:cNvSpPr/>
          <p:nvPr/>
        </p:nvSpPr>
        <p:spPr>
          <a:xfrm>
            <a:off x="7420320" y="5242680"/>
            <a:ext cx="1932840" cy="3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Hyperp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aramet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er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search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(RMSE)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across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all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models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Rounded Rectangle 38"/>
          <p:cNvSpPr/>
          <p:nvPr/>
        </p:nvSpPr>
        <p:spPr>
          <a:xfrm>
            <a:off x="9592560" y="3931920"/>
            <a:ext cx="2132640" cy="187092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6" name="Oval 39"/>
          <p:cNvSpPr/>
          <p:nvPr/>
        </p:nvSpPr>
        <p:spPr>
          <a:xfrm>
            <a:off x="10432440" y="4114800"/>
            <a:ext cx="453600" cy="453600"/>
          </a:xfrm>
          <a:prstGeom prst="ellipse">
            <a:avLst/>
          </a:prstGeom>
          <a:solidFill>
            <a:srgbClr val="4338C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7" name="TextBox 40"/>
          <p:cNvSpPr/>
          <p:nvPr/>
        </p:nvSpPr>
        <p:spPr>
          <a:xfrm>
            <a:off x="10432440" y="4114800"/>
            <a:ext cx="4536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5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TextBox 41"/>
          <p:cNvSpPr/>
          <p:nvPr/>
        </p:nvSpPr>
        <p:spPr>
          <a:xfrm>
            <a:off x="9775440" y="4750920"/>
            <a:ext cx="1766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Final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mode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l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selec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tion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TextBox 42"/>
          <p:cNvSpPr/>
          <p:nvPr/>
        </p:nvSpPr>
        <p:spPr>
          <a:xfrm>
            <a:off x="9692640" y="5242680"/>
            <a:ext cx="193284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R2/MAE/RMSE train vs test comparison,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prioritizing stability.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0" name="Connector 43"/>
          <p:cNvCxnSpPr/>
          <p:nvPr/>
        </p:nvCxnSpPr>
        <p:spPr>
          <a:xfrm>
            <a:off x="548640" y="5943600"/>
            <a:ext cx="10975320" cy="25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041" name="TextBox 44"/>
          <p:cNvSpPr/>
          <p:nvPr/>
        </p:nvSpPr>
        <p:spPr>
          <a:xfrm>
            <a:off x="457200" y="6172200"/>
            <a:ext cx="82260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TextBox 45"/>
          <p:cNvSpPr/>
          <p:nvPr/>
        </p:nvSpPr>
        <p:spPr>
          <a:xfrm>
            <a:off x="11274480" y="6172200"/>
            <a:ext cx="453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03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Rectangle 1"/>
          <p:cNvSpPr/>
          <p:nvPr/>
        </p:nvSpPr>
        <p:spPr>
          <a:xfrm>
            <a:off x="0" y="0"/>
            <a:ext cx="12189600" cy="68554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44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45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46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47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48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49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0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1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2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3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4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5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6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7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8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59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0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1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2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3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4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5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6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7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8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69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0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1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2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3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4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5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6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7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8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79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0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1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2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3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4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5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6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7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8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89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0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1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2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3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4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5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6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7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8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099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0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1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2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3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4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5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6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07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108" name="TextBox 2"/>
          <p:cNvSpPr/>
          <p:nvPr/>
        </p:nvSpPr>
        <p:spPr>
          <a:xfrm>
            <a:off x="502920" y="411480"/>
            <a:ext cx="79974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02 ·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DAT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A &amp;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MET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HOD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TextBox 3"/>
          <p:cNvSpPr/>
          <p:nvPr/>
        </p:nvSpPr>
        <p:spPr>
          <a:xfrm>
            <a:off x="502920" y="658440"/>
            <a:ext cx="1099656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Th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ful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l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pi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pe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lin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e,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en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to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en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Rounded Rectangle 7"/>
          <p:cNvSpPr/>
          <p:nvPr/>
        </p:nvSpPr>
        <p:spPr>
          <a:xfrm>
            <a:off x="502920" y="1550160"/>
            <a:ext cx="3147120" cy="381600"/>
          </a:xfrm>
          <a:prstGeom prst="roundRect">
            <a:avLst>
              <a:gd name="adj" fmla="val 28000"/>
            </a:avLst>
          </a:prstGeom>
          <a:solidFill>
            <a:srgbClr val="5B5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1" name="TextBox 8"/>
          <p:cNvSpPr/>
          <p:nvPr/>
        </p:nvSpPr>
        <p:spPr>
          <a:xfrm>
            <a:off x="658440" y="1550160"/>
            <a:ext cx="28728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1 ·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DATA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COLL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ECTI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Rounded Rectangle 9"/>
          <p:cNvSpPr/>
          <p:nvPr/>
        </p:nvSpPr>
        <p:spPr>
          <a:xfrm>
            <a:off x="4521240" y="1550160"/>
            <a:ext cx="3147120" cy="381600"/>
          </a:xfrm>
          <a:prstGeom prst="roundRect">
            <a:avLst>
              <a:gd name="adj" fmla="val 28000"/>
            </a:avLst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3" name="TextBox 10"/>
          <p:cNvSpPr/>
          <p:nvPr/>
        </p:nvSpPr>
        <p:spPr>
          <a:xfrm>
            <a:off x="4676760" y="1550160"/>
            <a:ext cx="28728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2 ·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PREP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ARAT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ION &amp;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ANAL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YSIS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Rounded Rectangle 11"/>
          <p:cNvSpPr/>
          <p:nvPr/>
        </p:nvSpPr>
        <p:spPr>
          <a:xfrm>
            <a:off x="8539560" y="1550160"/>
            <a:ext cx="3147120" cy="381600"/>
          </a:xfrm>
          <a:prstGeom prst="roundRect">
            <a:avLst>
              <a:gd name="adj" fmla="val 28000"/>
            </a:avLst>
          </a:prstGeom>
          <a:solidFill>
            <a:srgbClr val="1FA9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5" name="TextBox 12"/>
          <p:cNvSpPr/>
          <p:nvPr/>
        </p:nvSpPr>
        <p:spPr>
          <a:xfrm>
            <a:off x="8695080" y="1550160"/>
            <a:ext cx="28728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3 ·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MOD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ELIN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 &amp;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COM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PUTA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TION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Rounded Rectangle 13"/>
          <p:cNvSpPr/>
          <p:nvPr/>
        </p:nvSpPr>
        <p:spPr>
          <a:xfrm>
            <a:off x="594360" y="2071080"/>
            <a:ext cx="2964240" cy="5576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7" name="Rectangle 14"/>
          <p:cNvSpPr/>
          <p:nvPr/>
        </p:nvSpPr>
        <p:spPr>
          <a:xfrm>
            <a:off x="594360" y="2071080"/>
            <a:ext cx="34200" cy="557640"/>
          </a:xfrm>
          <a:prstGeom prst="rect">
            <a:avLst/>
          </a:prstGeom>
          <a:solidFill>
            <a:srgbClr val="5B5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280" tIns="45000" rIns="172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18" name="Picture 15" descr="icon_cloud.png"/>
          <p:cNvPicPr/>
          <p:nvPr/>
        </p:nvPicPr>
        <p:blipFill>
          <a:blip r:embed="rId1"/>
          <a:stretch/>
        </p:blipFill>
        <p:spPr>
          <a:xfrm>
            <a:off x="731520" y="2168280"/>
            <a:ext cx="363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9" name="TextBox 16"/>
          <p:cNvSpPr/>
          <p:nvPr/>
        </p:nvSpPr>
        <p:spPr>
          <a:xfrm>
            <a:off x="1216080" y="2183040"/>
            <a:ext cx="22510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B57F0"/>
                </a:solidFill>
                <a:effectLst/>
                <a:uFillTx/>
                <a:latin typeface="Roboto"/>
              </a:rPr>
              <a:t>Meteo-</a:t>
            </a:r>
            <a:r>
              <a:rPr lang="en-US" sz="1250" b="1" u="none" strike="noStrike">
                <a:solidFill>
                  <a:srgbClr val="5B57F0"/>
                </a:solidFill>
                <a:effectLst/>
                <a:uFillTx/>
                <a:latin typeface="Roboto"/>
              </a:rPr>
              <a:t>France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TextBox 17"/>
          <p:cNvSpPr/>
          <p:nvPr/>
        </p:nvSpPr>
        <p:spPr>
          <a:xfrm>
            <a:off x="1216080" y="2373480"/>
            <a:ext cx="2251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Weathe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 data,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2020 to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2026.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Rounded Rectangle 18"/>
          <p:cNvSpPr/>
          <p:nvPr/>
        </p:nvSpPr>
        <p:spPr>
          <a:xfrm>
            <a:off x="594360" y="2859840"/>
            <a:ext cx="2964240" cy="5576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2" name="Rectangle 19"/>
          <p:cNvSpPr/>
          <p:nvPr/>
        </p:nvSpPr>
        <p:spPr>
          <a:xfrm>
            <a:off x="594360" y="2859840"/>
            <a:ext cx="34200" cy="557640"/>
          </a:xfrm>
          <a:prstGeom prst="rect">
            <a:avLst/>
          </a:prstGeom>
          <a:solidFill>
            <a:srgbClr val="5B5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280" tIns="45000" rIns="172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23" name="Picture 20" descr="icon_bolt.png"/>
          <p:cNvPicPr/>
          <p:nvPr/>
        </p:nvPicPr>
        <p:blipFill>
          <a:blip r:embed="rId2"/>
          <a:stretch/>
        </p:blipFill>
        <p:spPr>
          <a:xfrm>
            <a:off x="731520" y="2957040"/>
            <a:ext cx="363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4" name="TextBox 21"/>
          <p:cNvSpPr/>
          <p:nvPr/>
        </p:nvSpPr>
        <p:spPr>
          <a:xfrm>
            <a:off x="1216080" y="2971800"/>
            <a:ext cx="22510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B57F0"/>
                </a:solidFill>
                <a:effectLst/>
                <a:uFillTx/>
                <a:latin typeface="Roboto"/>
              </a:rPr>
              <a:t>RTE </a:t>
            </a:r>
            <a:r>
              <a:rPr lang="en-US" sz="1250" b="1" u="none" strike="noStrike">
                <a:solidFill>
                  <a:srgbClr val="5B57F0"/>
                </a:solidFill>
                <a:effectLst/>
                <a:uFillTx/>
                <a:latin typeface="Roboto"/>
              </a:rPr>
              <a:t>Franc</a:t>
            </a:r>
            <a:r>
              <a:rPr lang="en-US" sz="1250" b="1" u="none" strike="noStrike">
                <a:solidFill>
                  <a:srgbClr val="5B57F0"/>
                </a:solidFill>
                <a:effectLst/>
                <a:uFillTx/>
                <a:latin typeface="Roboto"/>
              </a:rPr>
              <a:t>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TextBox 22"/>
          <p:cNvSpPr/>
          <p:nvPr/>
        </p:nvSpPr>
        <p:spPr>
          <a:xfrm>
            <a:off x="1216080" y="3162240"/>
            <a:ext cx="2251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Solar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product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ion,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2020 to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2026.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Rounded Rectangle 23"/>
          <p:cNvSpPr/>
          <p:nvPr/>
        </p:nvSpPr>
        <p:spPr>
          <a:xfrm>
            <a:off x="594360" y="3648240"/>
            <a:ext cx="2964240" cy="5576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7" name="Rectangle 24"/>
          <p:cNvSpPr/>
          <p:nvPr/>
        </p:nvSpPr>
        <p:spPr>
          <a:xfrm>
            <a:off x="594360" y="3648240"/>
            <a:ext cx="34200" cy="557640"/>
          </a:xfrm>
          <a:prstGeom prst="rect">
            <a:avLst/>
          </a:prstGeom>
          <a:solidFill>
            <a:srgbClr val="5B5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280" tIns="45000" rIns="172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28" name="Picture 25" descr="icon_panel.png"/>
          <p:cNvPicPr/>
          <p:nvPr/>
        </p:nvPicPr>
        <p:blipFill>
          <a:blip r:embed="rId3"/>
          <a:stretch/>
        </p:blipFill>
        <p:spPr>
          <a:xfrm>
            <a:off x="731520" y="3745440"/>
            <a:ext cx="363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9" name="TextBox 26"/>
          <p:cNvSpPr/>
          <p:nvPr/>
        </p:nvSpPr>
        <p:spPr>
          <a:xfrm>
            <a:off x="1216080" y="3760560"/>
            <a:ext cx="22510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B57F0"/>
                </a:solidFill>
                <a:effectLst/>
                <a:uFillTx/>
                <a:latin typeface="Roboto"/>
              </a:rPr>
              <a:t>Installed PV capacity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TextBox 27"/>
          <p:cNvSpPr/>
          <p:nvPr/>
        </p:nvSpPr>
        <p:spPr>
          <a:xfrm>
            <a:off x="1216080" y="3950640"/>
            <a:ext cx="2251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Capacity by region (SDES).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Rounded Rectangle 28"/>
          <p:cNvSpPr/>
          <p:nvPr/>
        </p:nvSpPr>
        <p:spPr>
          <a:xfrm>
            <a:off x="594360" y="4437000"/>
            <a:ext cx="2964240" cy="5576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2" name="Rectangle 29"/>
          <p:cNvSpPr/>
          <p:nvPr/>
        </p:nvSpPr>
        <p:spPr>
          <a:xfrm>
            <a:off x="594360" y="4437000"/>
            <a:ext cx="34200" cy="557640"/>
          </a:xfrm>
          <a:prstGeom prst="rect">
            <a:avLst/>
          </a:prstGeom>
          <a:solidFill>
            <a:srgbClr val="5B5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280" tIns="45000" rIns="172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33" name="Picture 30" descr="icon_map.png"/>
          <p:cNvPicPr/>
          <p:nvPr/>
        </p:nvPicPr>
        <p:blipFill>
          <a:blip r:embed="rId4"/>
          <a:stretch/>
        </p:blipFill>
        <p:spPr>
          <a:xfrm>
            <a:off x="731520" y="4534200"/>
            <a:ext cx="363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4" name="TextBox 31"/>
          <p:cNvSpPr/>
          <p:nvPr/>
        </p:nvSpPr>
        <p:spPr>
          <a:xfrm>
            <a:off x="1216080" y="4548960"/>
            <a:ext cx="22510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B57F0"/>
                </a:solidFill>
                <a:effectLst/>
                <a:uFillTx/>
                <a:latin typeface="Roboto"/>
              </a:rPr>
              <a:t>GeoJ</a:t>
            </a:r>
            <a:r>
              <a:rPr lang="en-US" sz="1250" b="1" u="none" strike="noStrike">
                <a:solidFill>
                  <a:srgbClr val="5B57F0"/>
                </a:solidFill>
                <a:effectLst/>
                <a:uFillTx/>
                <a:latin typeface="Roboto"/>
              </a:rPr>
              <a:t>SON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TextBox 32"/>
          <p:cNvSpPr/>
          <p:nvPr/>
        </p:nvSpPr>
        <p:spPr>
          <a:xfrm>
            <a:off x="1216080" y="4739400"/>
            <a:ext cx="2251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12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French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regions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Rounded Rectangle 33"/>
          <p:cNvSpPr/>
          <p:nvPr/>
        </p:nvSpPr>
        <p:spPr>
          <a:xfrm>
            <a:off x="4612680" y="2071080"/>
            <a:ext cx="2964240" cy="5576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7" name="Rectangle 34"/>
          <p:cNvSpPr/>
          <p:nvPr/>
        </p:nvSpPr>
        <p:spPr>
          <a:xfrm>
            <a:off x="4612680" y="2071080"/>
            <a:ext cx="34200" cy="55764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280" tIns="45000" rIns="172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38" name="Picture 35" descr="icon_pin.png"/>
          <p:cNvPicPr/>
          <p:nvPr/>
        </p:nvPicPr>
        <p:blipFill>
          <a:blip r:embed="rId5"/>
          <a:stretch/>
        </p:blipFill>
        <p:spPr>
          <a:xfrm>
            <a:off x="4749840" y="2168280"/>
            <a:ext cx="363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9" name="TextBox 36"/>
          <p:cNvSpPr/>
          <p:nvPr/>
        </p:nvSpPr>
        <p:spPr>
          <a:xfrm>
            <a:off x="5234400" y="2183040"/>
            <a:ext cx="22510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Regional mapping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TextBox 37"/>
          <p:cNvSpPr/>
          <p:nvPr/>
        </p:nvSpPr>
        <p:spPr>
          <a:xfrm>
            <a:off x="5234400" y="2373480"/>
            <a:ext cx="22510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Grid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points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mappe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 to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regions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Down Arrow 38"/>
          <p:cNvSpPr/>
          <p:nvPr/>
        </p:nvSpPr>
        <p:spPr>
          <a:xfrm>
            <a:off x="6059520" y="2699640"/>
            <a:ext cx="70560" cy="88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280" tIns="28080" rIns="3528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2" name="Rounded Rectangle 39"/>
          <p:cNvSpPr/>
          <p:nvPr/>
        </p:nvSpPr>
        <p:spPr>
          <a:xfrm>
            <a:off x="4612680" y="2859840"/>
            <a:ext cx="2964240" cy="5576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3" name="Rectangle 40"/>
          <p:cNvSpPr/>
          <p:nvPr/>
        </p:nvSpPr>
        <p:spPr>
          <a:xfrm>
            <a:off x="4612680" y="2859840"/>
            <a:ext cx="34200" cy="55764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280" tIns="45000" rIns="172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44" name="Picture 41" descr="icon_refresh.png"/>
          <p:cNvPicPr/>
          <p:nvPr/>
        </p:nvPicPr>
        <p:blipFill>
          <a:blip r:embed="rId6"/>
          <a:stretch/>
        </p:blipFill>
        <p:spPr>
          <a:xfrm>
            <a:off x="4749840" y="2957040"/>
            <a:ext cx="363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5" name="TextBox 42"/>
          <p:cNvSpPr/>
          <p:nvPr/>
        </p:nvSpPr>
        <p:spPr>
          <a:xfrm>
            <a:off x="5234400" y="2971800"/>
            <a:ext cx="22510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Data </a:t>
            </a: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harm</a:t>
            </a: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oniza</a:t>
            </a: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tion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TextBox 43"/>
          <p:cNvSpPr/>
          <p:nvPr/>
        </p:nvSpPr>
        <p:spPr>
          <a:xfrm>
            <a:off x="5234400" y="3162240"/>
            <a:ext cx="2251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Common period: 2020 to 2026.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Down Arrow 44"/>
          <p:cNvSpPr/>
          <p:nvPr/>
        </p:nvSpPr>
        <p:spPr>
          <a:xfrm>
            <a:off x="6059520" y="3488400"/>
            <a:ext cx="70560" cy="88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280" tIns="28080" rIns="3528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8" name="Rounded Rectangle 45"/>
          <p:cNvSpPr/>
          <p:nvPr/>
        </p:nvSpPr>
        <p:spPr>
          <a:xfrm>
            <a:off x="4612680" y="3648240"/>
            <a:ext cx="2964240" cy="5576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9" name="Rectangle 46"/>
          <p:cNvSpPr/>
          <p:nvPr/>
        </p:nvSpPr>
        <p:spPr>
          <a:xfrm>
            <a:off x="4612680" y="3648240"/>
            <a:ext cx="34200" cy="55764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280" tIns="45000" rIns="172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50" name="Picture 47" descr="icon_share.png"/>
          <p:cNvPicPr/>
          <p:nvPr/>
        </p:nvPicPr>
        <p:blipFill>
          <a:blip r:embed="rId7"/>
          <a:stretch/>
        </p:blipFill>
        <p:spPr>
          <a:xfrm>
            <a:off x="4749840" y="3745440"/>
            <a:ext cx="363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1" name="TextBox 48"/>
          <p:cNvSpPr/>
          <p:nvPr/>
        </p:nvSpPr>
        <p:spPr>
          <a:xfrm>
            <a:off x="5234400" y="3760560"/>
            <a:ext cx="22510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Data integration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TextBox 49"/>
          <p:cNvSpPr/>
          <p:nvPr/>
        </p:nvSpPr>
        <p:spPr>
          <a:xfrm>
            <a:off x="5234400" y="3950640"/>
            <a:ext cx="2251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Weathe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 +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product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ion +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capacit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y.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Down Arrow 50"/>
          <p:cNvSpPr/>
          <p:nvPr/>
        </p:nvSpPr>
        <p:spPr>
          <a:xfrm>
            <a:off x="6059520" y="4277160"/>
            <a:ext cx="70560" cy="88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280" tIns="28080" rIns="3528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4" name="Rounded Rectangle 51"/>
          <p:cNvSpPr/>
          <p:nvPr/>
        </p:nvSpPr>
        <p:spPr>
          <a:xfrm>
            <a:off x="4612680" y="4437000"/>
            <a:ext cx="2964240" cy="5576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5" name="Rectangle 52"/>
          <p:cNvSpPr/>
          <p:nvPr/>
        </p:nvSpPr>
        <p:spPr>
          <a:xfrm>
            <a:off x="4612680" y="4437000"/>
            <a:ext cx="34200" cy="55764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280" tIns="45000" rIns="172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56" name="Picture 53" descr="icon_database.png"/>
          <p:cNvPicPr/>
          <p:nvPr/>
        </p:nvPicPr>
        <p:blipFill>
          <a:blip r:embed="rId8"/>
          <a:stretch/>
        </p:blipFill>
        <p:spPr>
          <a:xfrm>
            <a:off x="4749840" y="4534200"/>
            <a:ext cx="363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7" name="TextBox 54"/>
          <p:cNvSpPr/>
          <p:nvPr/>
        </p:nvSpPr>
        <p:spPr>
          <a:xfrm>
            <a:off x="5234400" y="4548960"/>
            <a:ext cx="22510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Cons</a:t>
            </a: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olidat</a:t>
            </a: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ed </a:t>
            </a: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datas</a:t>
            </a: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et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TextBox 55"/>
          <p:cNvSpPr/>
          <p:nvPr/>
        </p:nvSpPr>
        <p:spPr>
          <a:xfrm>
            <a:off x="5234400" y="4739400"/>
            <a:ext cx="2251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Region x day, 2020 to 2026.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Down Arrow 56"/>
          <p:cNvSpPr/>
          <p:nvPr/>
        </p:nvSpPr>
        <p:spPr>
          <a:xfrm>
            <a:off x="6059520" y="5065560"/>
            <a:ext cx="70560" cy="88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280" tIns="28080" rIns="3528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0" name="Rounded Rectangle 57"/>
          <p:cNvSpPr/>
          <p:nvPr/>
        </p:nvSpPr>
        <p:spPr>
          <a:xfrm>
            <a:off x="4612680" y="5225760"/>
            <a:ext cx="2964240" cy="5576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1" name="Rectangle 58"/>
          <p:cNvSpPr/>
          <p:nvPr/>
        </p:nvSpPr>
        <p:spPr>
          <a:xfrm>
            <a:off x="4612680" y="5225760"/>
            <a:ext cx="34200" cy="55764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280" tIns="45000" rIns="172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62" name="Picture 59" descr="icon_chart.png"/>
          <p:cNvPicPr/>
          <p:nvPr/>
        </p:nvPicPr>
        <p:blipFill>
          <a:blip r:embed="rId9"/>
          <a:stretch/>
        </p:blipFill>
        <p:spPr>
          <a:xfrm>
            <a:off x="4749840" y="5322600"/>
            <a:ext cx="363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3" name="TextBox 60"/>
          <p:cNvSpPr/>
          <p:nvPr/>
        </p:nvSpPr>
        <p:spPr>
          <a:xfrm>
            <a:off x="5234400" y="5337720"/>
            <a:ext cx="22510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Explo</a:t>
            </a: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ratory </a:t>
            </a: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analy</a:t>
            </a:r>
            <a:r>
              <a:rPr lang="en-US" sz="1250" b="1" u="none" strike="noStrike">
                <a:solidFill>
                  <a:srgbClr val="E67E22"/>
                </a:solidFill>
                <a:effectLst/>
                <a:uFillTx/>
                <a:latin typeface="Roboto"/>
              </a:rPr>
              <a:t>sis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TextBox 61"/>
          <p:cNvSpPr/>
          <p:nvPr/>
        </p:nvSpPr>
        <p:spPr>
          <a:xfrm>
            <a:off x="5234400" y="5528160"/>
            <a:ext cx="2251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Correlations, trends, seasonality.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Rounded Rectangle 62"/>
          <p:cNvSpPr/>
          <p:nvPr/>
        </p:nvSpPr>
        <p:spPr>
          <a:xfrm>
            <a:off x="8631000" y="2071080"/>
            <a:ext cx="2964240" cy="5576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6" name="Rectangle 63"/>
          <p:cNvSpPr/>
          <p:nvPr/>
        </p:nvSpPr>
        <p:spPr>
          <a:xfrm>
            <a:off x="8631000" y="2071080"/>
            <a:ext cx="34200" cy="557640"/>
          </a:xfrm>
          <a:prstGeom prst="rect">
            <a:avLst/>
          </a:prstGeom>
          <a:solidFill>
            <a:srgbClr val="1FA9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280" tIns="45000" rIns="172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67" name="Picture 64" descr="icon_gear.png"/>
          <p:cNvPicPr/>
          <p:nvPr/>
        </p:nvPicPr>
        <p:blipFill>
          <a:blip r:embed="rId10"/>
          <a:stretch/>
        </p:blipFill>
        <p:spPr>
          <a:xfrm>
            <a:off x="8768160" y="2168280"/>
            <a:ext cx="363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8" name="TextBox 65"/>
          <p:cNvSpPr/>
          <p:nvPr/>
        </p:nvSpPr>
        <p:spPr>
          <a:xfrm>
            <a:off x="9252720" y="2183040"/>
            <a:ext cx="22510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Mach</a:t>
            </a: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ine </a:t>
            </a: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Learn</a:t>
            </a: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ing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TextBox 66"/>
          <p:cNvSpPr/>
          <p:nvPr/>
        </p:nvSpPr>
        <p:spPr>
          <a:xfrm>
            <a:off x="9252720" y="2373480"/>
            <a:ext cx="2251080" cy="1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Regres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sion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modeli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ng.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Down Arrow 67"/>
          <p:cNvSpPr/>
          <p:nvPr/>
        </p:nvSpPr>
        <p:spPr>
          <a:xfrm>
            <a:off x="10077840" y="2699640"/>
            <a:ext cx="70560" cy="88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FA9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280" tIns="28080" rIns="3528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1" name="Rounded Rectangle 68"/>
          <p:cNvSpPr/>
          <p:nvPr/>
        </p:nvSpPr>
        <p:spPr>
          <a:xfrm>
            <a:off x="8631000" y="2859840"/>
            <a:ext cx="2964240" cy="5576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2" name="Rectangle 69"/>
          <p:cNvSpPr/>
          <p:nvPr/>
        </p:nvSpPr>
        <p:spPr>
          <a:xfrm>
            <a:off x="8631000" y="2859840"/>
            <a:ext cx="34200" cy="557640"/>
          </a:xfrm>
          <a:prstGeom prst="rect">
            <a:avLst/>
          </a:prstGeom>
          <a:solidFill>
            <a:srgbClr val="1FA9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280" tIns="45000" rIns="172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73" name="Picture 70" descr="icon_sun.png"/>
          <p:cNvPicPr/>
          <p:nvPr/>
        </p:nvPicPr>
        <p:blipFill>
          <a:blip r:embed="rId11"/>
          <a:stretch/>
        </p:blipFill>
        <p:spPr>
          <a:xfrm>
            <a:off x="8768160" y="2957040"/>
            <a:ext cx="363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4" name="TextBox 71"/>
          <p:cNvSpPr/>
          <p:nvPr/>
        </p:nvSpPr>
        <p:spPr>
          <a:xfrm>
            <a:off x="9252720" y="2971800"/>
            <a:ext cx="22510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Radia</a:t>
            </a: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tion </a:t>
            </a: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forec</a:t>
            </a: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ast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TextBox 72"/>
          <p:cNvSpPr/>
          <p:nvPr/>
        </p:nvSpPr>
        <p:spPr>
          <a:xfrm>
            <a:off x="9252720" y="3162240"/>
            <a:ext cx="2251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Predict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 next-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day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visible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radiatio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Down Arrow 73"/>
          <p:cNvSpPr/>
          <p:nvPr/>
        </p:nvSpPr>
        <p:spPr>
          <a:xfrm>
            <a:off x="10077840" y="3488400"/>
            <a:ext cx="70560" cy="88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FA9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5280" tIns="28080" rIns="35280" bIns="280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7" name="Rounded Rectangle 74"/>
          <p:cNvSpPr/>
          <p:nvPr/>
        </p:nvSpPr>
        <p:spPr>
          <a:xfrm>
            <a:off x="8631000" y="3648240"/>
            <a:ext cx="2964240" cy="55764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8" name="Rectangle 75"/>
          <p:cNvSpPr/>
          <p:nvPr/>
        </p:nvSpPr>
        <p:spPr>
          <a:xfrm>
            <a:off x="8631000" y="3648240"/>
            <a:ext cx="34200" cy="557640"/>
          </a:xfrm>
          <a:prstGeom prst="rect">
            <a:avLst/>
          </a:prstGeom>
          <a:solidFill>
            <a:srgbClr val="1FA9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280" tIns="45000" rIns="1728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79" name="Picture 76" descr="icon_battery.png"/>
          <p:cNvPicPr/>
          <p:nvPr/>
        </p:nvPicPr>
        <p:blipFill>
          <a:blip r:embed="rId12"/>
          <a:stretch/>
        </p:blipFill>
        <p:spPr>
          <a:xfrm>
            <a:off x="8768160" y="3745440"/>
            <a:ext cx="363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0" name="TextBox 77"/>
          <p:cNvSpPr/>
          <p:nvPr/>
        </p:nvSpPr>
        <p:spPr>
          <a:xfrm>
            <a:off x="9252720" y="3760560"/>
            <a:ext cx="225108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Prod</a:t>
            </a: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uctio</a:t>
            </a: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n </a:t>
            </a: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estim</a:t>
            </a:r>
            <a:r>
              <a:rPr lang="en-US" sz="1250" b="1" u="none" strike="noStrike">
                <a:solidFill>
                  <a:srgbClr val="1FA97A"/>
                </a:solidFill>
                <a:effectLst/>
                <a:uFillTx/>
                <a:latin typeface="Roboto"/>
              </a:rPr>
              <a:t>ate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TextBox 78"/>
          <p:cNvSpPr/>
          <p:nvPr/>
        </p:nvSpPr>
        <p:spPr>
          <a:xfrm>
            <a:off x="9252720" y="3950640"/>
            <a:ext cx="22510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Radiation → kWh/m² at </a:t>
            </a:r>
            <a:r>
              <a:rPr lang="en-US" sz="96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20% efficiency.</a:t>
            </a:r>
            <a:endParaRPr lang="fr-FR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82" name="Connector 79"/>
          <p:cNvCxnSpPr/>
          <p:nvPr/>
        </p:nvCxnSpPr>
        <p:spPr>
          <a:xfrm>
            <a:off x="3560760" y="2351160"/>
            <a:ext cx="441720" cy="2520"/>
          </a:xfrm>
          <a:prstGeom prst="straightConnector1">
            <a:avLst/>
          </a:prstGeom>
          <a:ln cap="rnd" w="41275">
            <a:solidFill>
              <a:srgbClr val="5B57F0"/>
            </a:solidFill>
            <a:round/>
          </a:ln>
        </p:spPr>
      </p:cxnSp>
      <p:cxnSp>
        <p:nvCxnSpPr>
          <p:cNvPr id="1183" name="Connector 80"/>
          <p:cNvCxnSpPr/>
          <p:nvPr/>
        </p:nvCxnSpPr>
        <p:spPr>
          <a:xfrm>
            <a:off x="3560760" y="3139560"/>
            <a:ext cx="441720" cy="2520"/>
          </a:xfrm>
          <a:prstGeom prst="straightConnector1">
            <a:avLst/>
          </a:prstGeom>
          <a:ln cap="rnd" w="41275">
            <a:solidFill>
              <a:srgbClr val="5B57F0"/>
            </a:solidFill>
            <a:round/>
          </a:ln>
        </p:spPr>
      </p:cxnSp>
      <p:cxnSp>
        <p:nvCxnSpPr>
          <p:cNvPr id="1184" name="Connector 81"/>
          <p:cNvCxnSpPr/>
          <p:nvPr/>
        </p:nvCxnSpPr>
        <p:spPr>
          <a:xfrm>
            <a:off x="3560760" y="3928320"/>
            <a:ext cx="441720" cy="2520"/>
          </a:xfrm>
          <a:prstGeom prst="straightConnector1">
            <a:avLst/>
          </a:prstGeom>
          <a:ln cap="rnd" w="41275">
            <a:solidFill>
              <a:srgbClr val="5B57F0"/>
            </a:solidFill>
            <a:round/>
          </a:ln>
        </p:spPr>
      </p:cxnSp>
      <p:cxnSp>
        <p:nvCxnSpPr>
          <p:cNvPr id="1185" name="Connector 82"/>
          <p:cNvCxnSpPr/>
          <p:nvPr/>
        </p:nvCxnSpPr>
        <p:spPr>
          <a:xfrm>
            <a:off x="3560760" y="4716720"/>
            <a:ext cx="441720" cy="2520"/>
          </a:xfrm>
          <a:prstGeom prst="straightConnector1">
            <a:avLst/>
          </a:prstGeom>
          <a:ln cap="rnd" w="41275">
            <a:solidFill>
              <a:srgbClr val="5B57F0"/>
            </a:solidFill>
            <a:round/>
          </a:ln>
        </p:spPr>
      </p:cxnSp>
      <p:cxnSp>
        <p:nvCxnSpPr>
          <p:cNvPr id="1186" name="Connector 83"/>
          <p:cNvCxnSpPr/>
          <p:nvPr/>
        </p:nvCxnSpPr>
        <p:spPr>
          <a:xfrm>
            <a:off x="3999960" y="2351160"/>
            <a:ext cx="2520" cy="2368080"/>
          </a:xfrm>
          <a:prstGeom prst="straightConnector1">
            <a:avLst/>
          </a:prstGeom>
          <a:ln cap="rnd" w="41275">
            <a:solidFill>
              <a:srgbClr val="5B57F0"/>
            </a:solidFill>
            <a:round/>
          </a:ln>
        </p:spPr>
      </p:cxnSp>
      <p:cxnSp>
        <p:nvCxnSpPr>
          <p:cNvPr id="1187" name="Connector 84"/>
          <p:cNvCxnSpPr/>
          <p:nvPr/>
        </p:nvCxnSpPr>
        <p:spPr>
          <a:xfrm>
            <a:off x="3999960" y="2351160"/>
            <a:ext cx="614880" cy="2520"/>
          </a:xfrm>
          <a:prstGeom prst="straightConnector1">
            <a:avLst/>
          </a:prstGeom>
          <a:ln cap="rnd" w="41275">
            <a:solidFill>
              <a:srgbClr val="5B57F0"/>
            </a:solidFill>
            <a:round/>
            <a:tailEnd len="med" type="triangle" w="med"/>
          </a:ln>
        </p:spPr>
      </p:cxnSp>
      <p:cxnSp>
        <p:nvCxnSpPr>
          <p:cNvPr id="1188" name="Connector 85"/>
          <p:cNvCxnSpPr/>
          <p:nvPr/>
        </p:nvCxnSpPr>
        <p:spPr>
          <a:xfrm>
            <a:off x="7579080" y="5505480"/>
            <a:ext cx="571680" cy="2520"/>
          </a:xfrm>
          <a:prstGeom prst="straightConnector1">
            <a:avLst/>
          </a:prstGeom>
          <a:ln cap="rnd" w="41275">
            <a:solidFill>
              <a:srgbClr val="1FA97A"/>
            </a:solidFill>
            <a:round/>
          </a:ln>
        </p:spPr>
      </p:cxnSp>
      <p:cxnSp>
        <p:nvCxnSpPr>
          <p:cNvPr id="1189" name="Connector 86"/>
          <p:cNvCxnSpPr/>
          <p:nvPr/>
        </p:nvCxnSpPr>
        <p:spPr>
          <a:xfrm flipV="1">
            <a:off x="8148240" y="2351160"/>
            <a:ext cx="2520" cy="3156840"/>
          </a:xfrm>
          <a:prstGeom prst="straightConnector1">
            <a:avLst/>
          </a:prstGeom>
          <a:ln cap="rnd" w="41275">
            <a:solidFill>
              <a:srgbClr val="1FA97A"/>
            </a:solidFill>
            <a:round/>
          </a:ln>
        </p:spPr>
      </p:cxnSp>
      <p:cxnSp>
        <p:nvCxnSpPr>
          <p:cNvPr id="1190" name="Connector 87"/>
          <p:cNvCxnSpPr/>
          <p:nvPr/>
        </p:nvCxnSpPr>
        <p:spPr>
          <a:xfrm>
            <a:off x="8148240" y="2351160"/>
            <a:ext cx="484920" cy="2520"/>
          </a:xfrm>
          <a:prstGeom prst="straightConnector1">
            <a:avLst/>
          </a:prstGeom>
          <a:ln cap="rnd" w="41275">
            <a:solidFill>
              <a:srgbClr val="1FA97A"/>
            </a:solidFill>
            <a:round/>
            <a:tailEnd len="med" type="triangle" w="med"/>
          </a:ln>
        </p:spPr>
      </p:cxnSp>
      <p:cxnSp>
        <p:nvCxnSpPr>
          <p:cNvPr id="1191" name="Connector 88"/>
          <p:cNvCxnSpPr/>
          <p:nvPr/>
        </p:nvCxnSpPr>
        <p:spPr>
          <a:xfrm>
            <a:off x="548640" y="5943600"/>
            <a:ext cx="10975320" cy="25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192" name="TextBox 89"/>
          <p:cNvSpPr/>
          <p:nvPr/>
        </p:nvSpPr>
        <p:spPr>
          <a:xfrm>
            <a:off x="457200" y="6172200"/>
            <a:ext cx="82260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Produc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tion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Foreca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sting ·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Machin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e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Learnin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g ·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Streaml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it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Dashbo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TextBox 90"/>
          <p:cNvSpPr/>
          <p:nvPr/>
        </p:nvSpPr>
        <p:spPr>
          <a:xfrm>
            <a:off x="11274480" y="6172200"/>
            <a:ext cx="453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04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Rectangle 1"/>
          <p:cNvSpPr/>
          <p:nvPr/>
        </p:nvSpPr>
        <p:spPr>
          <a:xfrm>
            <a:off x="0" y="0"/>
            <a:ext cx="12189600" cy="68554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195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96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97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98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199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0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1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2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3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4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5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6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7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8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09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0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1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2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3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4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5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6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7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8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19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0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1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2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3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4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5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6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7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8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29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0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1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2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3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4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5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6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7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8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39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0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1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2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3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4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5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6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7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8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49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0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1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2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3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4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5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6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7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258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259" name="TextBox 2"/>
          <p:cNvSpPr/>
          <p:nvPr/>
        </p:nvSpPr>
        <p:spPr>
          <a:xfrm>
            <a:off x="502920" y="411480"/>
            <a:ext cx="79974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03 · EXPLORATORY ANALYSIS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TextBox 3"/>
          <p:cNvSpPr/>
          <p:nvPr/>
        </p:nvSpPr>
        <p:spPr>
          <a:xfrm>
            <a:off x="502920" y="658440"/>
            <a:ext cx="1099656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What explains solar production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TextBox 4"/>
          <p:cNvSpPr/>
          <p:nvPr/>
        </p:nvSpPr>
        <p:spPr>
          <a:xfrm>
            <a:off x="502920" y="1404000"/>
            <a:ext cx="109976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Correlations between weather variables and production per capacity, across 26,676 observations.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Rounded Rectangle 7"/>
          <p:cNvSpPr/>
          <p:nvPr/>
        </p:nvSpPr>
        <p:spPr>
          <a:xfrm>
            <a:off x="7360920" y="1828800"/>
            <a:ext cx="4325760" cy="119736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3" name="TextBox 8"/>
          <p:cNvSpPr/>
          <p:nvPr/>
        </p:nvSpPr>
        <p:spPr>
          <a:xfrm>
            <a:off x="7589520" y="1965960"/>
            <a:ext cx="129744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0.93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TextBox 9"/>
          <p:cNvSpPr/>
          <p:nvPr/>
        </p:nvSpPr>
        <p:spPr>
          <a:xfrm>
            <a:off x="8960760" y="1983960"/>
            <a:ext cx="249552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Visible radiation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TextBox 10"/>
          <p:cNvSpPr/>
          <p:nvPr/>
        </p:nvSpPr>
        <p:spPr>
          <a:xfrm>
            <a:off x="8960760" y="2388960"/>
            <a:ext cx="249552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Stronge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st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correlat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ion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with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product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ion.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Rounded Rectangle 11"/>
          <p:cNvSpPr/>
          <p:nvPr/>
        </p:nvSpPr>
        <p:spPr>
          <a:xfrm>
            <a:off x="7360920" y="3193920"/>
            <a:ext cx="4325760" cy="119736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7" name="TextBox 12"/>
          <p:cNvSpPr/>
          <p:nvPr/>
        </p:nvSpPr>
        <p:spPr>
          <a:xfrm>
            <a:off x="7589520" y="3331080"/>
            <a:ext cx="129744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-0.</a:t>
            </a:r>
            <a:r>
              <a:rPr lang="en-US" sz="22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75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8" name="TextBox 13"/>
          <p:cNvSpPr/>
          <p:nvPr/>
        </p:nvSpPr>
        <p:spPr>
          <a:xfrm>
            <a:off x="8960760" y="3348720"/>
            <a:ext cx="249552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Rela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tive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hum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idity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9" name="TextBox 14"/>
          <p:cNvSpPr/>
          <p:nvPr/>
        </p:nvSpPr>
        <p:spPr>
          <a:xfrm>
            <a:off x="8960760" y="3753720"/>
            <a:ext cx="249552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Negative correlation (cloudier sky).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Rounded Rectangle 15"/>
          <p:cNvSpPr/>
          <p:nvPr/>
        </p:nvSpPr>
        <p:spPr>
          <a:xfrm>
            <a:off x="7360920" y="4558680"/>
            <a:ext cx="4325760" cy="119736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1" name="TextBox 16"/>
          <p:cNvSpPr/>
          <p:nvPr/>
        </p:nvSpPr>
        <p:spPr>
          <a:xfrm>
            <a:off x="7589520" y="4695840"/>
            <a:ext cx="129744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0.87</a:t>
            </a:r>
            <a:endParaRPr lang="fr-F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TextBox 17"/>
          <p:cNvSpPr/>
          <p:nvPr/>
        </p:nvSpPr>
        <p:spPr>
          <a:xfrm>
            <a:off x="8960760" y="4713840"/>
            <a:ext cx="249552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Poten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tial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evap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otran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spirat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ion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3" name="TextBox 18"/>
          <p:cNvSpPr/>
          <p:nvPr/>
        </p:nvSpPr>
        <p:spPr>
          <a:xfrm>
            <a:off x="8960760" y="5118840"/>
            <a:ext cx="2495520" cy="5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Strong positive correlation, tied to sunshine.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4" name="Connector 19"/>
          <p:cNvCxnSpPr/>
          <p:nvPr/>
        </p:nvCxnSpPr>
        <p:spPr>
          <a:xfrm>
            <a:off x="548640" y="5943600"/>
            <a:ext cx="10975320" cy="25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275" name="TextBox 20"/>
          <p:cNvSpPr/>
          <p:nvPr/>
        </p:nvSpPr>
        <p:spPr>
          <a:xfrm>
            <a:off x="457200" y="6172200"/>
            <a:ext cx="82260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Produc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tion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Foreca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sting ·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Machin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e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Learnin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g ·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Streaml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it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Dashbo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6" name="TextBox 21"/>
          <p:cNvSpPr/>
          <p:nvPr/>
        </p:nvSpPr>
        <p:spPr>
          <a:xfrm>
            <a:off x="11274480" y="6172200"/>
            <a:ext cx="453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05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Rounded Rectangle 964"/>
          <p:cNvSpPr/>
          <p:nvPr/>
        </p:nvSpPr>
        <p:spPr>
          <a:xfrm>
            <a:off x="502920" y="1828800"/>
            <a:ext cx="6581160" cy="3929400"/>
          </a:xfrm>
          <a:prstGeom prst="roundRect">
            <a:avLst>
              <a:gd name="adj" fmla="val 186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8" name="TextBox 965"/>
          <p:cNvSpPr/>
          <p:nvPr/>
        </p:nvSpPr>
        <p:spPr>
          <a:xfrm>
            <a:off x="502920" y="1901880"/>
            <a:ext cx="65811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Correlation Matrix | Meteorological Variables vs Solar Production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9" name="TextBox 966"/>
          <p:cNvSpPr/>
          <p:nvPr/>
        </p:nvSpPr>
        <p:spPr>
          <a:xfrm>
            <a:off x="731520" y="2340720"/>
            <a:ext cx="8388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Snowfall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TextBox 967"/>
          <p:cNvSpPr/>
          <p:nvPr/>
        </p:nvSpPr>
        <p:spPr>
          <a:xfrm>
            <a:off x="731520" y="2561040"/>
            <a:ext cx="8388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Rainfall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TextBox 968"/>
          <p:cNvSpPr/>
          <p:nvPr/>
        </p:nvSpPr>
        <p:spPr>
          <a:xfrm>
            <a:off x="731520" y="2781360"/>
            <a:ext cx="8388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Avg Temp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2" name="TextBox 969"/>
          <p:cNvSpPr/>
          <p:nvPr/>
        </p:nvSpPr>
        <p:spPr>
          <a:xfrm>
            <a:off x="731520" y="3001320"/>
            <a:ext cx="8388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Wind </a:t>
            </a: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Speed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TextBox 970"/>
          <p:cNvSpPr/>
          <p:nvPr/>
        </p:nvSpPr>
        <p:spPr>
          <a:xfrm>
            <a:off x="731520" y="3221640"/>
            <a:ext cx="8388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Spec. Humidity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4" name="TextBox 971"/>
          <p:cNvSpPr/>
          <p:nvPr/>
        </p:nvSpPr>
        <p:spPr>
          <a:xfrm>
            <a:off x="731520" y="3441960"/>
            <a:ext cx="8388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Atm. </a:t>
            </a: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Radiation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5" name="TextBox 972"/>
          <p:cNvSpPr/>
          <p:nvPr/>
        </p:nvSpPr>
        <p:spPr>
          <a:xfrm>
            <a:off x="731520" y="3661920"/>
            <a:ext cx="8388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Visible </a:t>
            </a: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Rad.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TextBox 973"/>
          <p:cNvSpPr/>
          <p:nvPr/>
        </p:nvSpPr>
        <p:spPr>
          <a:xfrm>
            <a:off x="731520" y="3882240"/>
            <a:ext cx="8388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Rel. Humidity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TextBox 974"/>
          <p:cNvSpPr/>
          <p:nvPr/>
        </p:nvSpPr>
        <p:spPr>
          <a:xfrm>
            <a:off x="731520" y="4102560"/>
            <a:ext cx="8388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Total ET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TextBox 975"/>
          <p:cNvSpPr/>
          <p:nvPr/>
        </p:nvSpPr>
        <p:spPr>
          <a:xfrm>
            <a:off x="731520" y="4322520"/>
            <a:ext cx="8388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Potential ET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TextBox 976"/>
          <p:cNvSpPr/>
          <p:nvPr/>
        </p:nvSpPr>
        <p:spPr>
          <a:xfrm>
            <a:off x="731520" y="4542840"/>
            <a:ext cx="8388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Prod / Capacity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Rounded Rectangle 977"/>
          <p:cNvSpPr/>
          <p:nvPr/>
        </p:nvSpPr>
        <p:spPr>
          <a:xfrm>
            <a:off x="1645920" y="23407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1" name="Rounded Rectangle 978"/>
          <p:cNvSpPr/>
          <p:nvPr/>
        </p:nvSpPr>
        <p:spPr>
          <a:xfrm>
            <a:off x="2122560" y="23407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5047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2" name="Rounded Rectangle 979"/>
          <p:cNvSpPr/>
          <p:nvPr/>
        </p:nvSpPr>
        <p:spPr>
          <a:xfrm>
            <a:off x="2599560" y="23407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C47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-0.23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3" name="Rounded Rectangle 980"/>
          <p:cNvSpPr/>
          <p:nvPr/>
        </p:nvSpPr>
        <p:spPr>
          <a:xfrm>
            <a:off x="3076200" y="23407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4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0.07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4" name="Rounded Rectangle 981"/>
          <p:cNvSpPr/>
          <p:nvPr/>
        </p:nvSpPr>
        <p:spPr>
          <a:xfrm>
            <a:off x="3552840" y="23407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9435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5" name="Rounded Rectangle 982"/>
          <p:cNvSpPr/>
          <p:nvPr/>
        </p:nvSpPr>
        <p:spPr>
          <a:xfrm>
            <a:off x="4029480" y="23407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53D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6" name="Rounded Rectangle 983"/>
          <p:cNvSpPr/>
          <p:nvPr/>
        </p:nvSpPr>
        <p:spPr>
          <a:xfrm>
            <a:off x="4506480" y="23407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9435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7" name="Rounded Rectangle 984"/>
          <p:cNvSpPr/>
          <p:nvPr/>
        </p:nvSpPr>
        <p:spPr>
          <a:xfrm>
            <a:off x="4983120" y="23407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D3D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0.13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8" name="Rounded Rectangle 985"/>
          <p:cNvSpPr/>
          <p:nvPr/>
        </p:nvSpPr>
        <p:spPr>
          <a:xfrm>
            <a:off x="5459760" y="23407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73F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9" name="Rounded Rectangle 986"/>
          <p:cNvSpPr/>
          <p:nvPr/>
        </p:nvSpPr>
        <p:spPr>
          <a:xfrm>
            <a:off x="5936400" y="23407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942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0" name="Rounded Rectangle 987"/>
          <p:cNvSpPr/>
          <p:nvPr/>
        </p:nvSpPr>
        <p:spPr>
          <a:xfrm>
            <a:off x="6413400" y="23407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B4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-0.21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1" name="Rounded Rectangle 988"/>
          <p:cNvSpPr/>
          <p:nvPr/>
        </p:nvSpPr>
        <p:spPr>
          <a:xfrm>
            <a:off x="1645920" y="25610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5047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2" name="Rounded Rectangle 989"/>
          <p:cNvSpPr/>
          <p:nvPr/>
        </p:nvSpPr>
        <p:spPr>
          <a:xfrm>
            <a:off x="2122560" y="25610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3" name="Rounded Rectangle 990"/>
          <p:cNvSpPr/>
          <p:nvPr/>
        </p:nvSpPr>
        <p:spPr>
          <a:xfrm>
            <a:off x="2599560" y="25610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2D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0.01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4" name="Rounded Rectangle 991"/>
          <p:cNvSpPr/>
          <p:nvPr/>
        </p:nvSpPr>
        <p:spPr>
          <a:xfrm>
            <a:off x="3076200" y="25610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5047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5" name="Rounded Rectangle 992"/>
          <p:cNvSpPr/>
          <p:nvPr/>
        </p:nvSpPr>
        <p:spPr>
          <a:xfrm>
            <a:off x="3552840" y="25610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F3F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6" name="Rounded Rectangle 993"/>
          <p:cNvSpPr/>
          <p:nvPr/>
        </p:nvSpPr>
        <p:spPr>
          <a:xfrm>
            <a:off x="4029480" y="25610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5047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7" name="Rounded Rectangle 994"/>
          <p:cNvSpPr/>
          <p:nvPr/>
        </p:nvSpPr>
        <p:spPr>
          <a:xfrm>
            <a:off x="4506480" y="25610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04C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-0.30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8" name="Rounded Rectangle 995"/>
          <p:cNvSpPr/>
          <p:nvPr/>
        </p:nvSpPr>
        <p:spPr>
          <a:xfrm>
            <a:off x="4983120" y="25610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5A4B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0.35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9" name="Rounded Rectangle 996"/>
          <p:cNvSpPr/>
          <p:nvPr/>
        </p:nvSpPr>
        <p:spPr>
          <a:xfrm>
            <a:off x="5459760" y="25610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239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-0.07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0" name="Rounded Rectangle 997"/>
          <p:cNvSpPr/>
          <p:nvPr/>
        </p:nvSpPr>
        <p:spPr>
          <a:xfrm>
            <a:off x="5936400" y="25610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B45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-0.20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1" name="Rounded Rectangle 998"/>
          <p:cNvSpPr/>
          <p:nvPr/>
        </p:nvSpPr>
        <p:spPr>
          <a:xfrm>
            <a:off x="6413400" y="25610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14E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-0.33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2" name="Rounded Rectangle 999"/>
          <p:cNvSpPr/>
          <p:nvPr/>
        </p:nvSpPr>
        <p:spPr>
          <a:xfrm>
            <a:off x="1645920" y="27813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C47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-0.23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3" name="Rounded Rectangle 1000"/>
          <p:cNvSpPr/>
          <p:nvPr/>
        </p:nvSpPr>
        <p:spPr>
          <a:xfrm>
            <a:off x="2122560" y="27813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2D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0.01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4" name="Rounded Rectangle 1001"/>
          <p:cNvSpPr/>
          <p:nvPr/>
        </p:nvSpPr>
        <p:spPr>
          <a:xfrm>
            <a:off x="2599560" y="27813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5" name="Rounded Rectangle 1002"/>
          <p:cNvSpPr/>
          <p:nvPr/>
        </p:nvSpPr>
        <p:spPr>
          <a:xfrm>
            <a:off x="3076200" y="27813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73F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6" name="Rounded Rectangle 1003"/>
          <p:cNvSpPr/>
          <p:nvPr/>
        </p:nvSpPr>
        <p:spPr>
          <a:xfrm>
            <a:off x="3552840" y="27813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8126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7" name="Rounded Rectangle 1004"/>
          <p:cNvSpPr/>
          <p:nvPr/>
        </p:nvSpPr>
        <p:spPr>
          <a:xfrm>
            <a:off x="4029480" y="27813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F3D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0.77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8" name="Rounded Rectangle 1005"/>
          <p:cNvSpPr/>
          <p:nvPr/>
        </p:nvSpPr>
        <p:spPr>
          <a:xfrm>
            <a:off x="4506480" y="27813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947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0.65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9" name="Rounded Rectangle 1006"/>
          <p:cNvSpPr/>
          <p:nvPr/>
        </p:nvSpPr>
        <p:spPr>
          <a:xfrm>
            <a:off x="4983120" y="27813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35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-0.42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0" name="Rounded Rectangle 1007"/>
          <p:cNvSpPr/>
          <p:nvPr/>
        </p:nvSpPr>
        <p:spPr>
          <a:xfrm>
            <a:off x="5459760" y="27813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54A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0.60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1" name="Rounded Rectangle 1008"/>
          <p:cNvSpPr/>
          <p:nvPr/>
        </p:nvSpPr>
        <p:spPr>
          <a:xfrm>
            <a:off x="5936400" y="27813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8039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0.80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2" name="Rounded Rectangle 1009"/>
          <p:cNvSpPr/>
          <p:nvPr/>
        </p:nvSpPr>
        <p:spPr>
          <a:xfrm>
            <a:off x="6413400" y="27813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7494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0.62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3" name="Rounded Rectangle 1010"/>
          <p:cNvSpPr/>
          <p:nvPr/>
        </p:nvSpPr>
        <p:spPr>
          <a:xfrm>
            <a:off x="1645920" y="30013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438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0.07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4" name="Rounded Rectangle 1011"/>
          <p:cNvSpPr/>
          <p:nvPr/>
        </p:nvSpPr>
        <p:spPr>
          <a:xfrm>
            <a:off x="2122560" y="30013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5047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5" name="Rounded Rectangle 1012"/>
          <p:cNvSpPr/>
          <p:nvPr/>
        </p:nvSpPr>
        <p:spPr>
          <a:xfrm>
            <a:off x="2599560" y="30013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73F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6" name="Rounded Rectangle 1013"/>
          <p:cNvSpPr/>
          <p:nvPr/>
        </p:nvSpPr>
        <p:spPr>
          <a:xfrm>
            <a:off x="3076200" y="30013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7" name="Rounded Rectangle 1014"/>
          <p:cNvSpPr/>
          <p:nvPr/>
        </p:nvSpPr>
        <p:spPr>
          <a:xfrm>
            <a:off x="3552840" y="30013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73F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8" name="Rounded Rectangle 1015"/>
          <p:cNvSpPr/>
          <p:nvPr/>
        </p:nvSpPr>
        <p:spPr>
          <a:xfrm>
            <a:off x="4029480" y="30013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239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-0.07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9" name="Rounded Rectangle 1016"/>
          <p:cNvSpPr/>
          <p:nvPr/>
        </p:nvSpPr>
        <p:spPr>
          <a:xfrm>
            <a:off x="4506480" y="30013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04C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-0.30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0" name="Rounded Rectangle 1017"/>
          <p:cNvSpPr/>
          <p:nvPr/>
        </p:nvSpPr>
        <p:spPr>
          <a:xfrm>
            <a:off x="4983120" y="30013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240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1" name="Rounded Rectangle 1018"/>
          <p:cNvSpPr/>
          <p:nvPr/>
        </p:nvSpPr>
        <p:spPr>
          <a:xfrm>
            <a:off x="5459760" y="30013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53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2" name="Rounded Rectangle 1019"/>
          <p:cNvSpPr/>
          <p:nvPr/>
        </p:nvSpPr>
        <p:spPr>
          <a:xfrm>
            <a:off x="5936400" y="30013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9435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3" name="Rounded Rectangle 1020"/>
          <p:cNvSpPr/>
          <p:nvPr/>
        </p:nvSpPr>
        <p:spPr>
          <a:xfrm>
            <a:off x="6413400" y="30013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04D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-0.31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4" name="Rounded Rectangle 1021"/>
          <p:cNvSpPr/>
          <p:nvPr/>
        </p:nvSpPr>
        <p:spPr>
          <a:xfrm>
            <a:off x="1645920" y="32216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9435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5" name="Rounded Rectangle 1022"/>
          <p:cNvSpPr/>
          <p:nvPr/>
        </p:nvSpPr>
        <p:spPr>
          <a:xfrm>
            <a:off x="2122560" y="32216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F3F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6" name="Rounded Rectangle 1023"/>
          <p:cNvSpPr/>
          <p:nvPr/>
        </p:nvSpPr>
        <p:spPr>
          <a:xfrm>
            <a:off x="2599560" y="32216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8126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7" name="Rounded Rectangle 1024"/>
          <p:cNvSpPr/>
          <p:nvPr/>
        </p:nvSpPr>
        <p:spPr>
          <a:xfrm>
            <a:off x="3076200" y="32216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73F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8" name="Rounded Rectangle 1025"/>
          <p:cNvSpPr/>
          <p:nvPr/>
        </p:nvSpPr>
        <p:spPr>
          <a:xfrm>
            <a:off x="3552840" y="32216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9" name="Rounded Rectangle 1026"/>
          <p:cNvSpPr/>
          <p:nvPr/>
        </p:nvSpPr>
        <p:spPr>
          <a:xfrm>
            <a:off x="4029480" y="32216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8129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0" name="Rounded Rectangle 1027"/>
          <p:cNvSpPr/>
          <p:nvPr/>
        </p:nvSpPr>
        <p:spPr>
          <a:xfrm>
            <a:off x="4506480" y="32216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634C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0.42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1" name="Rounded Rectangle 1028"/>
          <p:cNvSpPr/>
          <p:nvPr/>
        </p:nvSpPr>
        <p:spPr>
          <a:xfrm>
            <a:off x="4983120" y="32216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53D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2" name="Rounded Rectangle 1029"/>
          <p:cNvSpPr/>
          <p:nvPr/>
        </p:nvSpPr>
        <p:spPr>
          <a:xfrm>
            <a:off x="5459760" y="32216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6A4C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0.48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3" name="Rounded Rectangle 1030"/>
          <p:cNvSpPr/>
          <p:nvPr/>
        </p:nvSpPr>
        <p:spPr>
          <a:xfrm>
            <a:off x="5936400" y="32216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44A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0.59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4" name="Rounded Rectangle 1031"/>
          <p:cNvSpPr/>
          <p:nvPr/>
        </p:nvSpPr>
        <p:spPr>
          <a:xfrm>
            <a:off x="6413400" y="32216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624C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0.41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5" name="Rounded Rectangle 1032"/>
          <p:cNvSpPr/>
          <p:nvPr/>
        </p:nvSpPr>
        <p:spPr>
          <a:xfrm>
            <a:off x="1645920" y="34419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53D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6" name="Rounded Rectangle 1033"/>
          <p:cNvSpPr/>
          <p:nvPr/>
        </p:nvSpPr>
        <p:spPr>
          <a:xfrm>
            <a:off x="2122560" y="34419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5047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7" name="Rounded Rectangle 1034"/>
          <p:cNvSpPr/>
          <p:nvPr/>
        </p:nvSpPr>
        <p:spPr>
          <a:xfrm>
            <a:off x="2599560" y="34419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F3D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0.77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8" name="Rounded Rectangle 1035"/>
          <p:cNvSpPr/>
          <p:nvPr/>
        </p:nvSpPr>
        <p:spPr>
          <a:xfrm>
            <a:off x="3076200" y="34419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239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-0.07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9" name="Rounded Rectangle 1036"/>
          <p:cNvSpPr/>
          <p:nvPr/>
        </p:nvSpPr>
        <p:spPr>
          <a:xfrm>
            <a:off x="3552840" y="34419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81293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0" name="Rounded Rectangle 1037"/>
          <p:cNvSpPr/>
          <p:nvPr/>
        </p:nvSpPr>
        <p:spPr>
          <a:xfrm>
            <a:off x="4029480" y="34419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1" name="Rounded Rectangle 1038"/>
          <p:cNvSpPr/>
          <p:nvPr/>
        </p:nvSpPr>
        <p:spPr>
          <a:xfrm>
            <a:off x="4506480" y="34419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140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0.16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2" name="Rounded Rectangle 1039"/>
          <p:cNvSpPr/>
          <p:nvPr/>
        </p:nvSpPr>
        <p:spPr>
          <a:xfrm>
            <a:off x="4983120" y="34419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542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0.19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3" name="Rounded Rectangle 1040"/>
          <p:cNvSpPr/>
          <p:nvPr/>
        </p:nvSpPr>
        <p:spPr>
          <a:xfrm>
            <a:off x="5459760" y="34419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514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4" name="Rounded Rectangle 1041"/>
          <p:cNvSpPr/>
          <p:nvPr/>
        </p:nvSpPr>
        <p:spPr>
          <a:xfrm>
            <a:off x="5936400" y="34419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5A4B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0.35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5" name="Rounded Rectangle 1042"/>
          <p:cNvSpPr/>
          <p:nvPr/>
        </p:nvSpPr>
        <p:spPr>
          <a:xfrm>
            <a:off x="6413400" y="34419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E3E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6" name="Rounded Rectangle 1043"/>
          <p:cNvSpPr/>
          <p:nvPr/>
        </p:nvSpPr>
        <p:spPr>
          <a:xfrm>
            <a:off x="1645920" y="36619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9435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7" name="Rounded Rectangle 1044"/>
          <p:cNvSpPr/>
          <p:nvPr/>
        </p:nvSpPr>
        <p:spPr>
          <a:xfrm>
            <a:off x="2122560" y="36619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04C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-0.30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8" name="Rounded Rectangle 1045"/>
          <p:cNvSpPr/>
          <p:nvPr/>
        </p:nvSpPr>
        <p:spPr>
          <a:xfrm>
            <a:off x="2599560" y="36619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947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0.65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9" name="Rounded Rectangle 1046"/>
          <p:cNvSpPr/>
          <p:nvPr/>
        </p:nvSpPr>
        <p:spPr>
          <a:xfrm>
            <a:off x="3076200" y="36619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04C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-0.30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0" name="Rounded Rectangle 1047"/>
          <p:cNvSpPr/>
          <p:nvPr/>
        </p:nvSpPr>
        <p:spPr>
          <a:xfrm>
            <a:off x="3552840" y="36619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634C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0.42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1" name="Rounded Rectangle 1048"/>
          <p:cNvSpPr/>
          <p:nvPr/>
        </p:nvSpPr>
        <p:spPr>
          <a:xfrm>
            <a:off x="4029480" y="36619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1404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0.16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2" name="Rounded Rectangle 1049"/>
          <p:cNvSpPr/>
          <p:nvPr/>
        </p:nvSpPr>
        <p:spPr>
          <a:xfrm>
            <a:off x="4506480" y="36619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3" name="Rounded Rectangle 1050"/>
          <p:cNvSpPr/>
          <p:nvPr/>
        </p:nvSpPr>
        <p:spPr>
          <a:xfrm>
            <a:off x="4983120" y="36619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A4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-0.79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4" name="Rounded Rectangle 1051"/>
          <p:cNvSpPr/>
          <p:nvPr/>
        </p:nvSpPr>
        <p:spPr>
          <a:xfrm>
            <a:off x="5459760" y="36619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8039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0.80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5" name="Rounded Rectangle 1052"/>
          <p:cNvSpPr/>
          <p:nvPr/>
        </p:nvSpPr>
        <p:spPr>
          <a:xfrm>
            <a:off x="5936400" y="36619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802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6" name="Rounded Rectangle 1053"/>
          <p:cNvSpPr/>
          <p:nvPr/>
        </p:nvSpPr>
        <p:spPr>
          <a:xfrm>
            <a:off x="6413400" y="36619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8023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0.93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7" name="Rounded Rectangle 1054"/>
          <p:cNvSpPr/>
          <p:nvPr/>
        </p:nvSpPr>
        <p:spPr>
          <a:xfrm>
            <a:off x="1645920" y="38822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D3D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0.13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8" name="Rounded Rectangle 1055"/>
          <p:cNvSpPr/>
          <p:nvPr/>
        </p:nvSpPr>
        <p:spPr>
          <a:xfrm>
            <a:off x="2122560" y="38822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5A4B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0.35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9" name="Rounded Rectangle 1056"/>
          <p:cNvSpPr/>
          <p:nvPr/>
        </p:nvSpPr>
        <p:spPr>
          <a:xfrm>
            <a:off x="2599560" y="38822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35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-0.42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0" name="Rounded Rectangle 1057"/>
          <p:cNvSpPr/>
          <p:nvPr/>
        </p:nvSpPr>
        <p:spPr>
          <a:xfrm>
            <a:off x="3076200" y="38822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240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1" name="Rounded Rectangle 1058"/>
          <p:cNvSpPr/>
          <p:nvPr/>
        </p:nvSpPr>
        <p:spPr>
          <a:xfrm>
            <a:off x="3552840" y="38822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53D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2" name="Rounded Rectangle 1059"/>
          <p:cNvSpPr/>
          <p:nvPr/>
        </p:nvSpPr>
        <p:spPr>
          <a:xfrm>
            <a:off x="4029480" y="38822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542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0.19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3" name="Rounded Rectangle 1060"/>
          <p:cNvSpPr/>
          <p:nvPr/>
        </p:nvSpPr>
        <p:spPr>
          <a:xfrm>
            <a:off x="4506480" y="38822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A4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-0.79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4" name="Rounded Rectangle 1061"/>
          <p:cNvSpPr/>
          <p:nvPr/>
        </p:nvSpPr>
        <p:spPr>
          <a:xfrm>
            <a:off x="4983120" y="38822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5" name="Rounded Rectangle 1062"/>
          <p:cNvSpPr/>
          <p:nvPr/>
        </p:nvSpPr>
        <p:spPr>
          <a:xfrm>
            <a:off x="5459760" y="38822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354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-0.47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6" name="Rounded Rectangle 1063"/>
          <p:cNvSpPr/>
          <p:nvPr/>
        </p:nvSpPr>
        <p:spPr>
          <a:xfrm>
            <a:off x="5936400" y="38822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C509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-0.76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7" name="Rounded Rectangle 1064"/>
          <p:cNvSpPr/>
          <p:nvPr/>
        </p:nvSpPr>
        <p:spPr>
          <a:xfrm>
            <a:off x="6413400" y="38822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D519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-0.75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8" name="Rounded Rectangle 1065"/>
          <p:cNvSpPr/>
          <p:nvPr/>
        </p:nvSpPr>
        <p:spPr>
          <a:xfrm>
            <a:off x="1645920" y="41025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73F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9" name="Rounded Rectangle 1066"/>
          <p:cNvSpPr/>
          <p:nvPr/>
        </p:nvSpPr>
        <p:spPr>
          <a:xfrm>
            <a:off x="2122560" y="41025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239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-0.07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0" name="Rounded Rectangle 1067"/>
          <p:cNvSpPr/>
          <p:nvPr/>
        </p:nvSpPr>
        <p:spPr>
          <a:xfrm>
            <a:off x="2599560" y="41025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54A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0.60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1" name="Rounded Rectangle 1068"/>
          <p:cNvSpPr/>
          <p:nvPr/>
        </p:nvSpPr>
        <p:spPr>
          <a:xfrm>
            <a:off x="3076200" y="41025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53D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2" name="Rounded Rectangle 1069"/>
          <p:cNvSpPr/>
          <p:nvPr/>
        </p:nvSpPr>
        <p:spPr>
          <a:xfrm>
            <a:off x="3552840" y="41025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6A4C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0.48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3" name="Rounded Rectangle 1070"/>
          <p:cNvSpPr/>
          <p:nvPr/>
        </p:nvSpPr>
        <p:spPr>
          <a:xfrm>
            <a:off x="4029480" y="41025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5148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0.28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4" name="Rounded Rectangle 1071"/>
          <p:cNvSpPr/>
          <p:nvPr/>
        </p:nvSpPr>
        <p:spPr>
          <a:xfrm>
            <a:off x="4506480" y="41025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8039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0.80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5" name="Rounded Rectangle 1072"/>
          <p:cNvSpPr/>
          <p:nvPr/>
        </p:nvSpPr>
        <p:spPr>
          <a:xfrm>
            <a:off x="4983120" y="41025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3547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-0.47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6" name="Rounded Rectangle 1073"/>
          <p:cNvSpPr/>
          <p:nvPr/>
        </p:nvSpPr>
        <p:spPr>
          <a:xfrm>
            <a:off x="5459760" y="41025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7" name="Rounded Rectangle 1074"/>
          <p:cNvSpPr/>
          <p:nvPr/>
        </p:nvSpPr>
        <p:spPr>
          <a:xfrm>
            <a:off x="5936400" y="41025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E3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0.75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8" name="Rounded Rectangle 1075"/>
          <p:cNvSpPr/>
          <p:nvPr/>
        </p:nvSpPr>
        <p:spPr>
          <a:xfrm>
            <a:off x="6413400" y="410256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F3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0.76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9" name="Rounded Rectangle 1076"/>
          <p:cNvSpPr/>
          <p:nvPr/>
        </p:nvSpPr>
        <p:spPr>
          <a:xfrm>
            <a:off x="1645920" y="43225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942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0" name="Rounded Rectangle 1077"/>
          <p:cNvSpPr/>
          <p:nvPr/>
        </p:nvSpPr>
        <p:spPr>
          <a:xfrm>
            <a:off x="2122560" y="43225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B45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-0.20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1" name="Rounded Rectangle 1078"/>
          <p:cNvSpPr/>
          <p:nvPr/>
        </p:nvSpPr>
        <p:spPr>
          <a:xfrm>
            <a:off x="2599560" y="43225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8039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0.80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2" name="Rounded Rectangle 1079"/>
          <p:cNvSpPr/>
          <p:nvPr/>
        </p:nvSpPr>
        <p:spPr>
          <a:xfrm>
            <a:off x="3076200" y="43225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9435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-0.18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3" name="Rounded Rectangle 1080"/>
          <p:cNvSpPr/>
          <p:nvPr/>
        </p:nvSpPr>
        <p:spPr>
          <a:xfrm>
            <a:off x="3552840" y="43225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44A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0.59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4" name="Rounded Rectangle 1081"/>
          <p:cNvSpPr/>
          <p:nvPr/>
        </p:nvSpPr>
        <p:spPr>
          <a:xfrm>
            <a:off x="4029480" y="43225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5A4B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0.35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5" name="Rounded Rectangle 1082"/>
          <p:cNvSpPr/>
          <p:nvPr/>
        </p:nvSpPr>
        <p:spPr>
          <a:xfrm>
            <a:off x="4506480" y="43225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8020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6" name="Rounded Rectangle 1083"/>
          <p:cNvSpPr/>
          <p:nvPr/>
        </p:nvSpPr>
        <p:spPr>
          <a:xfrm>
            <a:off x="4983120" y="43225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C509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-0.76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7" name="Rounded Rectangle 1084"/>
          <p:cNvSpPr/>
          <p:nvPr/>
        </p:nvSpPr>
        <p:spPr>
          <a:xfrm>
            <a:off x="5459760" y="43225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E3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0.75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8" name="Rounded Rectangle 1085"/>
          <p:cNvSpPr/>
          <p:nvPr/>
        </p:nvSpPr>
        <p:spPr>
          <a:xfrm>
            <a:off x="5936400" y="43225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9" name="Rounded Rectangle 1086"/>
          <p:cNvSpPr/>
          <p:nvPr/>
        </p:nvSpPr>
        <p:spPr>
          <a:xfrm>
            <a:off x="6413400" y="432252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812F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0.87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0" name="Rounded Rectangle 1087"/>
          <p:cNvSpPr/>
          <p:nvPr/>
        </p:nvSpPr>
        <p:spPr>
          <a:xfrm>
            <a:off x="1645920" y="45428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B46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-0.21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1" name="Rounded Rectangle 1088"/>
          <p:cNvSpPr/>
          <p:nvPr/>
        </p:nvSpPr>
        <p:spPr>
          <a:xfrm>
            <a:off x="2122560" y="45428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14E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-0.33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2" name="Rounded Rectangle 1089"/>
          <p:cNvSpPr/>
          <p:nvPr/>
        </p:nvSpPr>
        <p:spPr>
          <a:xfrm>
            <a:off x="2599560" y="45428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7494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0.62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3" name="Rounded Rectangle 1090"/>
          <p:cNvSpPr/>
          <p:nvPr/>
        </p:nvSpPr>
        <p:spPr>
          <a:xfrm>
            <a:off x="3076200" y="45428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404D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-0.31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4" name="Rounded Rectangle 1091"/>
          <p:cNvSpPr/>
          <p:nvPr/>
        </p:nvSpPr>
        <p:spPr>
          <a:xfrm>
            <a:off x="3552840" y="45428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624C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0.41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5" name="Rounded Rectangle 1092"/>
          <p:cNvSpPr/>
          <p:nvPr/>
        </p:nvSpPr>
        <p:spPr>
          <a:xfrm>
            <a:off x="4029480" y="45428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E3E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0.14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6" name="Rounded Rectangle 1093"/>
          <p:cNvSpPr/>
          <p:nvPr/>
        </p:nvSpPr>
        <p:spPr>
          <a:xfrm>
            <a:off x="4506480" y="45428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8023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0.93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7" name="Rounded Rectangle 1094"/>
          <p:cNvSpPr/>
          <p:nvPr/>
        </p:nvSpPr>
        <p:spPr>
          <a:xfrm>
            <a:off x="4983120" y="45428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3D519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-0.75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8" name="Rounded Rectangle 1095"/>
          <p:cNvSpPr/>
          <p:nvPr/>
        </p:nvSpPr>
        <p:spPr>
          <a:xfrm>
            <a:off x="5459760" y="45428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F3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0.76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9" name="Rounded Rectangle 1096"/>
          <p:cNvSpPr/>
          <p:nvPr/>
        </p:nvSpPr>
        <p:spPr>
          <a:xfrm>
            <a:off x="5936400" y="45428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812F3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0.87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0" name="Rounded Rectangle 1097"/>
          <p:cNvSpPr/>
          <p:nvPr/>
        </p:nvSpPr>
        <p:spPr>
          <a:xfrm>
            <a:off x="6413400" y="4542840"/>
            <a:ext cx="442080" cy="185760"/>
          </a:xfrm>
          <a:prstGeom prst="roundRect">
            <a:avLst>
              <a:gd name="adj" fmla="val 12000"/>
            </a:avLst>
          </a:prstGeom>
          <a:solidFill>
            <a:srgbClr val="7F0B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1.00</a:t>
            </a:r>
            <a:endParaRPr lang="fr-F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1" name="TextBox 1098"/>
          <p:cNvSpPr/>
          <p:nvPr/>
        </p:nvSpPr>
        <p:spPr>
          <a:xfrm rot="18000000">
            <a:off x="1588680" y="4965120"/>
            <a:ext cx="44100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Snowfall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TextBox 1099"/>
          <p:cNvSpPr/>
          <p:nvPr/>
        </p:nvSpPr>
        <p:spPr>
          <a:xfrm rot="18000000">
            <a:off x="2065680" y="4965120"/>
            <a:ext cx="44100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Rainfall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TextBox 1100"/>
          <p:cNvSpPr/>
          <p:nvPr/>
        </p:nvSpPr>
        <p:spPr>
          <a:xfrm rot="18000000">
            <a:off x="2542320" y="4965120"/>
            <a:ext cx="44100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Avg Temp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TextBox 1101"/>
          <p:cNvSpPr/>
          <p:nvPr/>
        </p:nvSpPr>
        <p:spPr>
          <a:xfrm rot="18000000">
            <a:off x="2944440" y="5008320"/>
            <a:ext cx="54072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Wind Speed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TextBox 1102"/>
          <p:cNvSpPr/>
          <p:nvPr/>
        </p:nvSpPr>
        <p:spPr>
          <a:xfrm rot="18000000">
            <a:off x="3272040" y="5094360"/>
            <a:ext cx="73944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Spec. Humidity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TextBox 1103"/>
          <p:cNvSpPr/>
          <p:nvPr/>
        </p:nvSpPr>
        <p:spPr>
          <a:xfrm rot="18000000">
            <a:off x="3748680" y="5094360"/>
            <a:ext cx="73944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Atm. </a:t>
            </a: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Radiation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TextBox 1104"/>
          <p:cNvSpPr/>
          <p:nvPr/>
        </p:nvSpPr>
        <p:spPr>
          <a:xfrm rot="18000000">
            <a:off x="4300200" y="5050800"/>
            <a:ext cx="64008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Visible </a:t>
            </a: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Rad.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TextBox 1105"/>
          <p:cNvSpPr/>
          <p:nvPr/>
        </p:nvSpPr>
        <p:spPr>
          <a:xfrm rot="18000000">
            <a:off x="4739400" y="5072760"/>
            <a:ext cx="68976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Rel. </a:t>
            </a: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Humidity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TextBox 1106"/>
          <p:cNvSpPr/>
          <p:nvPr/>
        </p:nvSpPr>
        <p:spPr>
          <a:xfrm rot="18000000">
            <a:off x="5402880" y="4965120"/>
            <a:ext cx="44100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Total ET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TextBox 1107"/>
          <p:cNvSpPr/>
          <p:nvPr/>
        </p:nvSpPr>
        <p:spPr>
          <a:xfrm rot="18000000">
            <a:off x="5730120" y="5050800"/>
            <a:ext cx="64008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Potential </a:t>
            </a: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ET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TextBox 1108"/>
          <p:cNvSpPr/>
          <p:nvPr/>
        </p:nvSpPr>
        <p:spPr>
          <a:xfrm rot="18000000">
            <a:off x="6094800" y="5115600"/>
            <a:ext cx="789480" cy="12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Prod / </a:t>
            </a:r>
            <a:r>
              <a:rPr lang="en-US" sz="800" b="0" u="none" strike="noStrike">
                <a:solidFill>
                  <a:srgbClr val="DCE0EB"/>
                </a:solidFill>
                <a:effectLst/>
                <a:uFillTx/>
                <a:latin typeface="Calibri"/>
              </a:rPr>
              <a:t>Capacity</a:t>
            </a:r>
            <a:endParaRPr lang="fr-F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Rectangle 1"/>
          <p:cNvSpPr/>
          <p:nvPr/>
        </p:nvSpPr>
        <p:spPr>
          <a:xfrm>
            <a:off x="0" y="0"/>
            <a:ext cx="12189600" cy="68554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423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24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25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26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27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28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29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0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1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2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3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4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5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6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7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8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39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0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1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2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3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4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5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6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7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8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49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0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1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2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3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4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5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6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7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8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59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0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1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2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3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4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5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6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7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8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69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0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1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2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3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4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5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6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7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8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79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80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81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82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83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84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85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86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487" name="TextBox 2"/>
          <p:cNvSpPr/>
          <p:nvPr/>
        </p:nvSpPr>
        <p:spPr>
          <a:xfrm>
            <a:off x="502920" y="411480"/>
            <a:ext cx="79974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04 ·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MOD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ELIN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G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8" name="TextBox 3"/>
          <p:cNvSpPr/>
          <p:nvPr/>
        </p:nvSpPr>
        <p:spPr>
          <a:xfrm>
            <a:off x="502920" y="658440"/>
            <a:ext cx="1099656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Why lags matter: ACF &amp; PACF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TextBox 4"/>
          <p:cNvSpPr/>
          <p:nvPr/>
        </p:nvSpPr>
        <p:spPr>
          <a:xfrm>
            <a:off x="502920" y="1404000"/>
            <a:ext cx="109976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Today's radiation strongly explains tomorrow's, but most of the signal is already captured by J-1.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0" name="Rounded Rectangle 5"/>
          <p:cNvSpPr/>
          <p:nvPr/>
        </p:nvSpPr>
        <p:spPr>
          <a:xfrm>
            <a:off x="502920" y="1828800"/>
            <a:ext cx="5585400" cy="3929400"/>
          </a:xfrm>
          <a:prstGeom prst="roundRect">
            <a:avLst>
              <a:gd name="adj" fmla="val 1860"/>
            </a:avLst>
          </a:prstGeom>
          <a:solidFill>
            <a:srgbClr val="2635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1" name="Rounded Rectangle 7"/>
          <p:cNvSpPr/>
          <p:nvPr/>
        </p:nvSpPr>
        <p:spPr>
          <a:xfrm>
            <a:off x="6319440" y="1828800"/>
            <a:ext cx="5585400" cy="3929400"/>
          </a:xfrm>
          <a:prstGeom prst="roundRect">
            <a:avLst>
              <a:gd name="adj" fmla="val 1860"/>
            </a:avLst>
          </a:prstGeom>
          <a:solidFill>
            <a:srgbClr val="2635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492" name="Connector 9"/>
          <p:cNvCxnSpPr/>
          <p:nvPr/>
        </p:nvCxnSpPr>
        <p:spPr>
          <a:xfrm>
            <a:off x="548640" y="5943600"/>
            <a:ext cx="10975320" cy="25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493" name="TextBox 10"/>
          <p:cNvSpPr/>
          <p:nvPr/>
        </p:nvSpPr>
        <p:spPr>
          <a:xfrm>
            <a:off x="457200" y="6172200"/>
            <a:ext cx="82260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Forecasting · Machine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Learning · Streamlit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4" name="TextBox 11"/>
          <p:cNvSpPr/>
          <p:nvPr/>
        </p:nvSpPr>
        <p:spPr>
          <a:xfrm>
            <a:off x="11274480" y="6172200"/>
            <a:ext cx="453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06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5" name=""/>
          <p:cNvPicPr/>
          <p:nvPr/>
        </p:nvPicPr>
        <p:blipFill>
          <a:blip r:embed="rId1"/>
          <a:stretch/>
        </p:blipFill>
        <p:spPr>
          <a:xfrm>
            <a:off x="538920" y="1866600"/>
            <a:ext cx="5507640" cy="386964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1496" name=""/>
          <p:cNvPicPr/>
          <p:nvPr/>
        </p:nvPicPr>
        <p:blipFill>
          <a:blip r:embed="rId2"/>
          <a:stretch/>
        </p:blipFill>
        <p:spPr>
          <a:xfrm>
            <a:off x="6354000" y="1868400"/>
            <a:ext cx="5507640" cy="386604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Rectangle 1"/>
          <p:cNvSpPr/>
          <p:nvPr/>
        </p:nvSpPr>
        <p:spPr>
          <a:xfrm>
            <a:off x="0" y="0"/>
            <a:ext cx="12189600" cy="68554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498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499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0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1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2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3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4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5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6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7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8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09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0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1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2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3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4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5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6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7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8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19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0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1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2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3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4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5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6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7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8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29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0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1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2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3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4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5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6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7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8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39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0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1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2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3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4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5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6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7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8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49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0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1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2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3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4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5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6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7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8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59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60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61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562" name="TextBox 2"/>
          <p:cNvSpPr/>
          <p:nvPr/>
        </p:nvSpPr>
        <p:spPr>
          <a:xfrm>
            <a:off x="502920" y="411480"/>
            <a:ext cx="79974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05 ·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MOD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EL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CHO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ICE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3" name="TextBox 3"/>
          <p:cNvSpPr/>
          <p:nvPr/>
        </p:nvSpPr>
        <p:spPr>
          <a:xfrm>
            <a:off x="502920" y="658440"/>
            <a:ext cx="1099656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Fr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ba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sel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ine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to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fin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al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od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el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4" name="TextBox 4"/>
          <p:cNvSpPr/>
          <p:nvPr/>
        </p:nvSpPr>
        <p:spPr>
          <a:xfrm>
            <a:off x="502920" y="1404000"/>
            <a:ext cx="109976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8 models evaluated, from the naive baseline to XGBoost. Ridge chosen as final model.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65" name="Connector 5"/>
          <p:cNvCxnSpPr/>
          <p:nvPr/>
        </p:nvCxnSpPr>
        <p:spPr>
          <a:xfrm>
            <a:off x="708480" y="2221920"/>
            <a:ext cx="2520" cy="3147840"/>
          </a:xfrm>
          <a:prstGeom prst="straightConnector1">
            <a:avLst/>
          </a:prstGeom>
          <a:ln w="15875">
            <a:solidFill>
              <a:srgbClr val="3D4B72"/>
            </a:solidFill>
            <a:round/>
          </a:ln>
        </p:spPr>
      </p:cxnSp>
      <p:sp>
        <p:nvSpPr>
          <p:cNvPr id="1566" name="Oval 6"/>
          <p:cNvSpPr/>
          <p:nvPr/>
        </p:nvSpPr>
        <p:spPr>
          <a:xfrm>
            <a:off x="502920" y="2016360"/>
            <a:ext cx="408960" cy="408960"/>
          </a:xfrm>
          <a:prstGeom prst="ellipse">
            <a:avLst/>
          </a:prstGeom>
          <a:solidFill>
            <a:srgbClr val="4338C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7" name="TextBox 7"/>
          <p:cNvSpPr/>
          <p:nvPr/>
        </p:nvSpPr>
        <p:spPr>
          <a:xfrm>
            <a:off x="502920" y="2016360"/>
            <a:ext cx="408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1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8" name="TextBox 8"/>
          <p:cNvSpPr/>
          <p:nvPr/>
        </p:nvSpPr>
        <p:spPr>
          <a:xfrm>
            <a:off x="1097280" y="1957680"/>
            <a:ext cx="380304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Linear regression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9" name="TextBox 9"/>
          <p:cNvSpPr/>
          <p:nvPr/>
        </p:nvSpPr>
        <p:spPr>
          <a:xfrm>
            <a:off x="1097280" y="2250000"/>
            <a:ext cx="3803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Baselin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 run,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no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feature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engine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ering.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R2 =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0.761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0" name="Oval 10"/>
          <p:cNvSpPr/>
          <p:nvPr/>
        </p:nvSpPr>
        <p:spPr>
          <a:xfrm>
            <a:off x="502920" y="2802600"/>
            <a:ext cx="408960" cy="408960"/>
          </a:xfrm>
          <a:prstGeom prst="ellipse">
            <a:avLst/>
          </a:prstGeom>
          <a:solidFill>
            <a:srgbClr val="4338C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1" name="TextBox 11"/>
          <p:cNvSpPr/>
          <p:nvPr/>
        </p:nvSpPr>
        <p:spPr>
          <a:xfrm>
            <a:off x="502920" y="2802600"/>
            <a:ext cx="408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2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2" name="TextBox 12"/>
          <p:cNvSpPr/>
          <p:nvPr/>
        </p:nvSpPr>
        <p:spPr>
          <a:xfrm>
            <a:off x="1097280" y="2744280"/>
            <a:ext cx="380304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Add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lags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&amp;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rollin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mean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TextBox 13"/>
          <p:cNvSpPr/>
          <p:nvPr/>
        </p:nvSpPr>
        <p:spPr>
          <a:xfrm>
            <a:off x="1097280" y="3036240"/>
            <a:ext cx="3803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J-1, J-2,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J-3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plus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rolling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means.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R2 =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0.778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4" name="Oval 14"/>
          <p:cNvSpPr/>
          <p:nvPr/>
        </p:nvSpPr>
        <p:spPr>
          <a:xfrm>
            <a:off x="502920" y="3589200"/>
            <a:ext cx="408960" cy="408960"/>
          </a:xfrm>
          <a:prstGeom prst="ellipse">
            <a:avLst/>
          </a:prstGeom>
          <a:solidFill>
            <a:srgbClr val="4338C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5" name="TextBox 15"/>
          <p:cNvSpPr/>
          <p:nvPr/>
        </p:nvSpPr>
        <p:spPr>
          <a:xfrm>
            <a:off x="502920" y="3589200"/>
            <a:ext cx="408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3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6" name="TextBox 16"/>
          <p:cNvSpPr/>
          <p:nvPr/>
        </p:nvSpPr>
        <p:spPr>
          <a:xfrm>
            <a:off x="1097280" y="3530520"/>
            <a:ext cx="38030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Add seasonality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7" name="TextBox 17"/>
          <p:cNvSpPr/>
          <p:nvPr/>
        </p:nvSpPr>
        <p:spPr>
          <a:xfrm>
            <a:off x="1097280" y="3822840"/>
            <a:ext cx="38030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Calend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ar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encodi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ngs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(sin/co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 of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day of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year).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R² =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0.792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8" name="Oval 18"/>
          <p:cNvSpPr/>
          <p:nvPr/>
        </p:nvSpPr>
        <p:spPr>
          <a:xfrm>
            <a:off x="502920" y="4375440"/>
            <a:ext cx="408960" cy="408960"/>
          </a:xfrm>
          <a:prstGeom prst="ellipse">
            <a:avLst/>
          </a:prstGeom>
          <a:solidFill>
            <a:srgbClr val="4338C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9" name="TextBox 19"/>
          <p:cNvSpPr/>
          <p:nvPr/>
        </p:nvSpPr>
        <p:spPr>
          <a:xfrm>
            <a:off x="502920" y="4375440"/>
            <a:ext cx="408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4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0" name="TextBox 20"/>
          <p:cNvSpPr/>
          <p:nvPr/>
        </p:nvSpPr>
        <p:spPr>
          <a:xfrm>
            <a:off x="1097280" y="4317120"/>
            <a:ext cx="380304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GridS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earch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CV x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Time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Serie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sSplit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1" name="TextBox 21"/>
          <p:cNvSpPr/>
          <p:nvPr/>
        </p:nvSpPr>
        <p:spPr>
          <a:xfrm>
            <a:off x="1097280" y="4609080"/>
            <a:ext cx="3803040" cy="51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Lasso, Ridge, RF,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XGBoost tuned on 5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expanding-window </a:t>
            </a: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folds.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2" name="Oval 22"/>
          <p:cNvSpPr/>
          <p:nvPr/>
        </p:nvSpPr>
        <p:spPr>
          <a:xfrm>
            <a:off x="502920" y="5161680"/>
            <a:ext cx="408960" cy="408960"/>
          </a:xfrm>
          <a:prstGeom prst="ellipse">
            <a:avLst/>
          </a:prstGeom>
          <a:solidFill>
            <a:srgbClr val="818C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3" name="TextBox 23"/>
          <p:cNvSpPr/>
          <p:nvPr/>
        </p:nvSpPr>
        <p:spPr>
          <a:xfrm>
            <a:off x="502920" y="5161680"/>
            <a:ext cx="408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5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4" name="TextBox 24"/>
          <p:cNvSpPr/>
          <p:nvPr/>
        </p:nvSpPr>
        <p:spPr>
          <a:xfrm>
            <a:off x="1097280" y="5103360"/>
            <a:ext cx="380304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818CF8"/>
                </a:solidFill>
                <a:effectLst/>
                <a:uFillTx/>
                <a:latin typeface="Roboto"/>
              </a:rPr>
              <a:t>Ridge (L2) selected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5" name="TextBox 25"/>
          <p:cNvSpPr/>
          <p:nvPr/>
        </p:nvSpPr>
        <p:spPr>
          <a:xfrm>
            <a:off x="1097280" y="5395320"/>
            <a:ext cx="38030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−15% error vs baseline (RMSE 437 → 371), with a far smaller train-test gap than RF/XGBoost.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86" name="Table 26"/>
          <p:cNvGraphicFramePr/>
          <p:nvPr/>
        </p:nvGraphicFramePr>
        <p:xfrm>
          <a:off x="5222880" y="1828800"/>
          <a:ext cx="6465600" cy="3930120"/>
        </p:xfrm>
        <a:graphic>
          <a:graphicData uri="http://schemas.openxmlformats.org/drawingml/2006/table">
            <a:tbl>
              <a:tblPr/>
              <a:tblGrid>
                <a:gridCol w="2974320"/>
                <a:gridCol w="1163880"/>
                <a:gridCol w="1163880"/>
                <a:gridCol w="1163880"/>
              </a:tblGrid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Model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R2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MAE</a:t>
                      </a:r>
                      <a:br>
                        <a:rPr sz="1150"/>
                      </a:b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(J/cm²)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  <a:ea typeface="Noto Sans CJK SC"/>
                        </a:rPr>
                        <a:t>RMSE </a:t>
                      </a: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(J/cm²)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</a:tr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Naive baseline (persistence)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0.708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316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437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</a:tr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LR, no feature engineering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0.761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301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395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</a:tr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LR, with lags (J-1/J-2/J-3)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0.778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288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381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</a:tr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LR, lags + seasonality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0.792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279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368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</a:tr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Lasso (L1)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0.788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282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372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</a:tr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Ridge (L2), FINAL MODEL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03F7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0.789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03F7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282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03F7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371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03F70"/>
                    </a:solidFill>
                  </a:tcPr>
                </a:tc>
              </a:tr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Random Forest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0.800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274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362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</a:tr>
              <a:tr h="43668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XGBoost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0.801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272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360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</a:tr>
            </a:tbl>
          </a:graphicData>
        </a:graphic>
      </p:graphicFrame>
      <p:cxnSp>
        <p:nvCxnSpPr>
          <p:cNvPr id="1587" name="Connector 27"/>
          <p:cNvCxnSpPr/>
          <p:nvPr/>
        </p:nvCxnSpPr>
        <p:spPr>
          <a:xfrm>
            <a:off x="548640" y="5943600"/>
            <a:ext cx="10975320" cy="25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588" name="TextBox 28"/>
          <p:cNvSpPr/>
          <p:nvPr/>
        </p:nvSpPr>
        <p:spPr>
          <a:xfrm>
            <a:off x="457200" y="6172200"/>
            <a:ext cx="82260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9" name="TextBox 29"/>
          <p:cNvSpPr/>
          <p:nvPr/>
        </p:nvSpPr>
        <p:spPr>
          <a:xfrm>
            <a:off x="11274480" y="6172200"/>
            <a:ext cx="453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07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Rectangle 1"/>
          <p:cNvSpPr/>
          <p:nvPr/>
        </p:nvSpPr>
        <p:spPr>
          <a:xfrm>
            <a:off x="0" y="0"/>
            <a:ext cx="12189600" cy="68554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591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2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3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4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5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6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7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8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599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0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1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2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3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4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5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6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7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8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09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0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1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2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3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4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5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6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7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8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19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0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1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2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3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4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5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6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7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8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29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0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1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2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3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4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5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6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7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8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39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0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1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2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3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4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5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6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7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8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49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50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51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52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53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54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655" name="TextBox 2"/>
          <p:cNvSpPr/>
          <p:nvPr/>
        </p:nvSpPr>
        <p:spPr>
          <a:xfrm>
            <a:off x="502920" y="411480"/>
            <a:ext cx="79974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05 ·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MOD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EL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CHO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ICE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6" name="TextBox 3"/>
          <p:cNvSpPr/>
          <p:nvPr/>
        </p:nvSpPr>
        <p:spPr>
          <a:xfrm>
            <a:off x="502920" y="658440"/>
            <a:ext cx="1099656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W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hy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Ri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dg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e,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no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Ra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nd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Fo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re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st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or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X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Bo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os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t?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7" name="TextBox 4"/>
          <p:cNvSpPr/>
          <p:nvPr/>
        </p:nvSpPr>
        <p:spPr>
          <a:xfrm>
            <a:off x="502920" y="1404000"/>
            <a:ext cx="109976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RF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and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XGBo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ost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gain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only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margi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nally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more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test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R2,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with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much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wider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train/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test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gap.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58" name="Table 5"/>
          <p:cNvGraphicFramePr/>
          <p:nvPr/>
        </p:nvGraphicFramePr>
        <p:xfrm>
          <a:off x="502920" y="2011680"/>
          <a:ext cx="7314120" cy="1828800"/>
        </p:xfrm>
        <a:graphic>
          <a:graphicData uri="http://schemas.openxmlformats.org/drawingml/2006/table">
            <a:tbl>
              <a:tblPr/>
              <a:tblGrid>
                <a:gridCol w="2486880"/>
                <a:gridCol w="1609200"/>
                <a:gridCol w="1609200"/>
                <a:gridCol w="1609200"/>
              </a:tblGrid>
              <a:tr h="45720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Model</a:t>
                      </a:r>
                      <a:endParaRPr lang="fr-F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R2 train (CV)</a:t>
                      </a:r>
                      <a:endParaRPr lang="fr-F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R2 test (CV)</a:t>
                      </a:r>
                      <a:endParaRPr lang="fr-F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Train-test gap</a:t>
                      </a:r>
                      <a:endParaRPr lang="fr-F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82240"/>
                    </a:solidFill>
                  </a:tcPr>
                </a:tc>
              </a:tr>
              <a:tr h="45720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Ridge, chosen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03F7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0.767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03F7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0.742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03F70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1" u="none" strike="noStrike">
                          <a:solidFill>
                            <a:srgbClr val="818CF8"/>
                          </a:solidFill>
                          <a:effectLst/>
                          <a:uFillTx/>
                          <a:latin typeface="Roboto"/>
                        </a:rPr>
                        <a:t>0.025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03F70"/>
                    </a:solidFill>
                  </a:tcPr>
                </a:tc>
              </a:tr>
              <a:tr h="45720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Random Forest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0.855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0.740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0.115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C4D"/>
                    </a:solidFill>
                  </a:tcPr>
                </a:tc>
              </a:tr>
              <a:tr h="457200">
                <a:tc>
                  <a:txBody>
                    <a:bodyPr lIns="137160" tIns="68400" rIns="137160" bIns="684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Roboto"/>
                        </a:rPr>
                        <a:t>XGBoost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0.818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0.748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  <a:tc>
                  <a:txBody>
                    <a:bodyPr lIns="137160" tIns="68400" rIns="137160" bIns="684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50" b="0" u="none" strike="noStrike">
                          <a:solidFill>
                            <a:srgbClr val="9AA5C0"/>
                          </a:solidFill>
                          <a:effectLst/>
                          <a:uFillTx/>
                          <a:latin typeface="Roboto"/>
                        </a:rPr>
                        <a:t>0.069</a:t>
                      </a:r>
                      <a:endParaRPr lang="fr-F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37160" marR="137160" marT="68400" marB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63659"/>
                    </a:solidFill>
                  </a:tcPr>
                </a:tc>
              </a:tr>
            </a:tbl>
          </a:graphicData>
        </a:graphic>
      </p:graphicFrame>
      <p:sp>
        <p:nvSpPr>
          <p:cNvPr id="1659" name="Rounded Rectangle 6"/>
          <p:cNvSpPr/>
          <p:nvPr/>
        </p:nvSpPr>
        <p:spPr>
          <a:xfrm>
            <a:off x="8047800" y="2011680"/>
            <a:ext cx="3638880" cy="1826280"/>
          </a:xfrm>
          <a:prstGeom prst="roundRect">
            <a:avLst>
              <a:gd name="adj" fmla="val 4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0" name="TextBox 7"/>
          <p:cNvSpPr/>
          <p:nvPr/>
        </p:nvSpPr>
        <p:spPr>
          <a:xfrm>
            <a:off x="8276400" y="2240280"/>
            <a:ext cx="3181680" cy="13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20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Ridge stays stable fold to fold (gap of about 0.02). RF and XGBoost barely gain more in test for a 3 to 5x larger gap: we prioritize robustness.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1" name="Rounded Rectangle 8"/>
          <p:cNvSpPr/>
          <p:nvPr/>
        </p:nvSpPr>
        <p:spPr>
          <a:xfrm>
            <a:off x="502920" y="4023360"/>
            <a:ext cx="11183760" cy="1734840"/>
          </a:xfrm>
          <a:prstGeom prst="roundRect">
            <a:avLst>
              <a:gd name="adj" fmla="val 4211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2" name="TextBox 9"/>
          <p:cNvSpPr/>
          <p:nvPr/>
        </p:nvSpPr>
        <p:spPr>
          <a:xfrm>
            <a:off x="731520" y="4206240"/>
            <a:ext cx="1072656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 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phys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ical 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limit, 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corr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ecte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3" name="TextBox 10"/>
          <p:cNvSpPr/>
          <p:nvPr/>
        </p:nvSpPr>
        <p:spPr>
          <a:xfrm>
            <a:off x="731520" y="4640760"/>
            <a:ext cx="10726560" cy="8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2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Ridge, like any linear model, has no awareness that radiation can't be negative: it can predict slightly below 0 on low-radiation winter days. Predictions are therefore clipped to 0 (np.clip) before display and export, a correction that can only reduce error, never increase it.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64" name="Connector 11"/>
          <p:cNvCxnSpPr/>
          <p:nvPr/>
        </p:nvCxnSpPr>
        <p:spPr>
          <a:xfrm>
            <a:off x="548640" y="5943600"/>
            <a:ext cx="10975320" cy="25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665" name="TextBox 12"/>
          <p:cNvSpPr/>
          <p:nvPr/>
        </p:nvSpPr>
        <p:spPr>
          <a:xfrm>
            <a:off x="457200" y="6172200"/>
            <a:ext cx="82260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Produc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tion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Foreca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sting ·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Machin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e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Learnin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g ·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Streaml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it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Dashbo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6" name="TextBox 13"/>
          <p:cNvSpPr/>
          <p:nvPr/>
        </p:nvSpPr>
        <p:spPr>
          <a:xfrm>
            <a:off x="11274480" y="6172200"/>
            <a:ext cx="453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08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Rectangle 1"/>
          <p:cNvSpPr/>
          <p:nvPr/>
        </p:nvSpPr>
        <p:spPr>
          <a:xfrm>
            <a:off x="0" y="0"/>
            <a:ext cx="12189600" cy="68554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668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69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0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1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2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3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4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5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6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7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8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79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0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1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2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3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4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5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6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7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8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89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0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1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2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3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4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5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6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7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8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699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0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1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2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3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4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5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6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7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8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09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0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1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2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3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4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5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6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7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8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19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0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1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2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3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4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5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6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7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8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29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30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31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732" name="TextBox 2"/>
          <p:cNvSpPr/>
          <p:nvPr/>
        </p:nvSpPr>
        <p:spPr>
          <a:xfrm>
            <a:off x="502920" y="411480"/>
            <a:ext cx="79974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06 · RESULTS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3" name="TextBox 3"/>
          <p:cNvSpPr/>
          <p:nvPr/>
        </p:nvSpPr>
        <p:spPr>
          <a:xfrm>
            <a:off x="502920" y="658440"/>
            <a:ext cx="1099656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Fo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re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ca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st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vs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re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ali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ty: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fin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al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od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el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(R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id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ge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)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4" name="TextBox 4"/>
          <p:cNvSpPr/>
          <p:nvPr/>
        </p:nvSpPr>
        <p:spPr>
          <a:xfrm>
            <a:off x="502920" y="1404000"/>
            <a:ext cx="109976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2025 predicted vs. actual radiation, a representative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year from the 2021-2026 out-of-fold evaluation </a:t>
            </a: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(22,150 predictions).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35" name="Connector 9"/>
          <p:cNvCxnSpPr/>
          <p:nvPr/>
        </p:nvCxnSpPr>
        <p:spPr>
          <a:xfrm>
            <a:off x="548640" y="5943600"/>
            <a:ext cx="10975320" cy="25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736" name="TextBox 10"/>
          <p:cNvSpPr/>
          <p:nvPr/>
        </p:nvSpPr>
        <p:spPr>
          <a:xfrm>
            <a:off x="457200" y="6172200"/>
            <a:ext cx="82260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7" name="TextBox 11"/>
          <p:cNvSpPr/>
          <p:nvPr/>
        </p:nvSpPr>
        <p:spPr>
          <a:xfrm>
            <a:off x="11274480" y="6172200"/>
            <a:ext cx="453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09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8" name="Rounded Rectangle 964"/>
          <p:cNvSpPr/>
          <p:nvPr/>
        </p:nvSpPr>
        <p:spPr>
          <a:xfrm>
            <a:off x="502920" y="1828800"/>
            <a:ext cx="11015280" cy="3929400"/>
          </a:xfrm>
          <a:prstGeom prst="roundRect">
            <a:avLst>
              <a:gd name="adj" fmla="val 1861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9" name=""/>
          <p:cNvPicPr/>
          <p:nvPr/>
        </p:nvPicPr>
        <p:blipFill>
          <a:blip r:embed="rId1"/>
          <a:stretch/>
        </p:blipFill>
        <p:spPr>
          <a:xfrm>
            <a:off x="501840" y="1980000"/>
            <a:ext cx="11037240" cy="35982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Rectangle 2"/>
          <p:cNvSpPr/>
          <p:nvPr/>
        </p:nvSpPr>
        <p:spPr>
          <a:xfrm>
            <a:off x="0" y="0"/>
            <a:ext cx="12189600" cy="68554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741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2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3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4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5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6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7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8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49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0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1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2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3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4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5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6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7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8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59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0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1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2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3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4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5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6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7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8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69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0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1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2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3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4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5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6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7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8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79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0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1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2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3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4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5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6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7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8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89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0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1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2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3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4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5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6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7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8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799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00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01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02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03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04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805" name="TextBox 2"/>
          <p:cNvSpPr/>
          <p:nvPr/>
        </p:nvSpPr>
        <p:spPr>
          <a:xfrm>
            <a:off x="502920" y="463320"/>
            <a:ext cx="799740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06 · RESULTS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6" name="TextBox 3"/>
          <p:cNvSpPr/>
          <p:nvPr/>
        </p:nvSpPr>
        <p:spPr>
          <a:xfrm>
            <a:off x="502920" y="658440"/>
            <a:ext cx="1099656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Fore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cast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vs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reali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ty: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resid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ual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anal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ysis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7" name="TextBox 4"/>
          <p:cNvSpPr/>
          <p:nvPr/>
        </p:nvSpPr>
        <p:spPr>
          <a:xfrm>
            <a:off x="502920" y="1404000"/>
            <a:ext cx="109976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Residuals over the full 2021-2026 test period (predicted minus actual, national daily mean): errors stay centered near zero.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08" name="Connector 9"/>
          <p:cNvCxnSpPr/>
          <p:nvPr/>
        </p:nvCxnSpPr>
        <p:spPr>
          <a:xfrm>
            <a:off x="548640" y="5943600"/>
            <a:ext cx="10975320" cy="25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809" name="TextBox 10"/>
          <p:cNvSpPr/>
          <p:nvPr/>
        </p:nvSpPr>
        <p:spPr>
          <a:xfrm>
            <a:off x="457200" y="6231600"/>
            <a:ext cx="82260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Produc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tion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Foreca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sting ·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Machin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e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Learnin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g ·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Streaml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it 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Dashbo</a:t>
            </a: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0" name="TextBox 11"/>
          <p:cNvSpPr/>
          <p:nvPr/>
        </p:nvSpPr>
        <p:spPr>
          <a:xfrm>
            <a:off x="11274480" y="6231600"/>
            <a:ext cx="453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10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1" name="Rounded Rectangle 964"/>
          <p:cNvSpPr/>
          <p:nvPr/>
        </p:nvSpPr>
        <p:spPr>
          <a:xfrm>
            <a:off x="502920" y="1828800"/>
            <a:ext cx="11078640" cy="3960360"/>
          </a:xfrm>
          <a:prstGeom prst="roundRect">
            <a:avLst>
              <a:gd name="adj" fmla="val 1846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12" name=""/>
          <p:cNvPicPr/>
          <p:nvPr/>
        </p:nvPicPr>
        <p:blipFill>
          <a:blip r:embed="rId1"/>
          <a:stretch/>
        </p:blipFill>
        <p:spPr>
          <a:xfrm>
            <a:off x="646920" y="1901520"/>
            <a:ext cx="10773000" cy="38325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Rectangle 1"/>
          <p:cNvSpPr/>
          <p:nvPr/>
        </p:nvSpPr>
        <p:spPr>
          <a:xfrm>
            <a:off x="0" y="0"/>
            <a:ext cx="12189600" cy="68554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814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15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16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17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18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19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0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1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2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3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4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5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6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7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8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29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0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1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2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3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4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5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6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7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8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39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0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1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2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3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4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5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6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7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8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49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0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1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2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3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4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5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6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7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8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59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0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1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2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3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4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5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6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7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8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69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0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1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2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3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4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5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6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877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878" name="TextBox 2"/>
          <p:cNvSpPr/>
          <p:nvPr/>
        </p:nvSpPr>
        <p:spPr>
          <a:xfrm>
            <a:off x="502920" y="411480"/>
            <a:ext cx="79974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07 ·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LIMI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TATI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ONS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&amp;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NEX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T 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STE</a:t>
            </a: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PS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9" name="TextBox 3"/>
          <p:cNvSpPr/>
          <p:nvPr/>
        </p:nvSpPr>
        <p:spPr>
          <a:xfrm>
            <a:off x="502920" y="658440"/>
            <a:ext cx="1099656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W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ha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t's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lef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to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im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pr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ov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0" name="TextBox 4"/>
          <p:cNvSpPr/>
          <p:nvPr/>
        </p:nvSpPr>
        <p:spPr>
          <a:xfrm>
            <a:off x="502920" y="1404000"/>
            <a:ext cx="109976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The current model's known limitations, and the paths considered to go further.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1" name="TextBox 5"/>
          <p:cNvSpPr/>
          <p:nvPr/>
        </p:nvSpPr>
        <p:spPr>
          <a:xfrm>
            <a:off x="502920" y="1737360"/>
            <a:ext cx="54990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pc="99" strike="noStrike">
                <a:solidFill>
                  <a:srgbClr val="F4F6FB"/>
                </a:solidFill>
                <a:effectLst/>
                <a:uFillTx/>
                <a:latin typeface="Roboto"/>
              </a:rPr>
              <a:t>LIMI</a:t>
            </a:r>
            <a:r>
              <a:rPr lang="en-US" sz="1200" b="1" u="none" spc="99" strike="noStrike">
                <a:solidFill>
                  <a:srgbClr val="F4F6FB"/>
                </a:solidFill>
                <a:effectLst/>
                <a:uFillTx/>
                <a:latin typeface="Roboto"/>
              </a:rPr>
              <a:t>TATI</a:t>
            </a:r>
            <a:r>
              <a:rPr lang="en-US" sz="1200" b="1" u="none" spc="99" strike="noStrike">
                <a:solidFill>
                  <a:srgbClr val="F4F6FB"/>
                </a:solidFill>
                <a:effectLst/>
                <a:uFillTx/>
                <a:latin typeface="Roboto"/>
              </a:rPr>
              <a:t>ONS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2" name="TextBox 6"/>
          <p:cNvSpPr/>
          <p:nvPr/>
        </p:nvSpPr>
        <p:spPr>
          <a:xfrm>
            <a:off x="6187320" y="1737360"/>
            <a:ext cx="54990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pc="99" strike="noStrike">
                <a:solidFill>
                  <a:srgbClr val="F4F6FB"/>
                </a:solidFill>
                <a:effectLst/>
                <a:uFillTx/>
                <a:latin typeface="Roboto"/>
              </a:rPr>
              <a:t>NEXT STEPS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3" name="Rounded Rectangle 7"/>
          <p:cNvSpPr/>
          <p:nvPr/>
        </p:nvSpPr>
        <p:spPr>
          <a:xfrm>
            <a:off x="502920" y="2194560"/>
            <a:ext cx="5499000" cy="104760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4" name="TextBox 8"/>
          <p:cNvSpPr/>
          <p:nvPr/>
        </p:nvSpPr>
        <p:spPr>
          <a:xfrm>
            <a:off x="685800" y="2331720"/>
            <a:ext cx="51332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singl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horiz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on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(J+1)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5" name="TextBox 9"/>
          <p:cNvSpPr/>
          <p:nvPr/>
        </p:nvSpPr>
        <p:spPr>
          <a:xfrm>
            <a:off x="685800" y="2674800"/>
            <a:ext cx="513324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No 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J+2/J+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7 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foreca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st for 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longer-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term 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planni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ng.</a:t>
            </a:r>
            <a:endParaRPr lang="fr-FR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6" name="Rounded Rectangle 10"/>
          <p:cNvSpPr/>
          <p:nvPr/>
        </p:nvSpPr>
        <p:spPr>
          <a:xfrm>
            <a:off x="502920" y="3381840"/>
            <a:ext cx="5499000" cy="104760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7" name="TextBox 11"/>
          <p:cNvSpPr/>
          <p:nvPr/>
        </p:nvSpPr>
        <p:spPr>
          <a:xfrm>
            <a:off x="685800" y="3519000"/>
            <a:ext cx="51332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Observe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weather,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not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forecast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8" name="TextBox 12"/>
          <p:cNvSpPr/>
          <p:nvPr/>
        </p:nvSpPr>
        <p:spPr>
          <a:xfrm>
            <a:off x="685800" y="3861720"/>
            <a:ext cx="513324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The model uses measured weather for today; a real J+1 forecast would need Météo-France forecast data.</a:t>
            </a:r>
            <a:endParaRPr lang="fr-FR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9" name="Rounded Rectangle 13"/>
          <p:cNvSpPr/>
          <p:nvPr/>
        </p:nvSpPr>
        <p:spPr>
          <a:xfrm>
            <a:off x="502920" y="4568760"/>
            <a:ext cx="5499000" cy="104760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0" name="TextBox 14"/>
          <p:cNvSpPr/>
          <p:nvPr/>
        </p:nvSpPr>
        <p:spPr>
          <a:xfrm>
            <a:off x="685800" y="4705920"/>
            <a:ext cx="51332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Radiation as a proxy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1" name="TextBox 15"/>
          <p:cNvSpPr/>
          <p:nvPr/>
        </p:nvSpPr>
        <p:spPr>
          <a:xfrm>
            <a:off x="685800" y="5049000"/>
            <a:ext cx="51332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Produc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tion is 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 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theoret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ical 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20% 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conver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sion 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per m², 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not 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RTE's 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actual </a:t>
            </a: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output.</a:t>
            </a:r>
            <a:endParaRPr lang="fr-FR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2" name="Rounded Rectangle 16"/>
          <p:cNvSpPr/>
          <p:nvPr/>
        </p:nvSpPr>
        <p:spPr>
          <a:xfrm>
            <a:off x="6187320" y="2194560"/>
            <a:ext cx="5499000" cy="104760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3" name="TextBox 17"/>
          <p:cNvSpPr/>
          <p:nvPr/>
        </p:nvSpPr>
        <p:spPr>
          <a:xfrm>
            <a:off x="6370200" y="2331720"/>
            <a:ext cx="51332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Extended forecasts, J+2/J+3/J+7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4" name="TextBox 18"/>
          <p:cNvSpPr/>
          <p:nvPr/>
        </p:nvSpPr>
        <p:spPr>
          <a:xfrm>
            <a:off x="6370200" y="2674800"/>
            <a:ext cx="513324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For longer-term energy planning.</a:t>
            </a:r>
            <a:endParaRPr lang="fr-FR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5" name="Rounded Rectangle 19"/>
          <p:cNvSpPr/>
          <p:nvPr/>
        </p:nvSpPr>
        <p:spPr>
          <a:xfrm>
            <a:off x="6187320" y="3381840"/>
            <a:ext cx="5499000" cy="104760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6" name="TextBox 20"/>
          <p:cNvSpPr/>
          <p:nvPr/>
        </p:nvSpPr>
        <p:spPr>
          <a:xfrm>
            <a:off x="6370200" y="3519000"/>
            <a:ext cx="51332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Use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weat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her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forec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asts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as 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input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7" name="TextBox 21"/>
          <p:cNvSpPr/>
          <p:nvPr/>
        </p:nvSpPr>
        <p:spPr>
          <a:xfrm>
            <a:off x="6370200" y="3861720"/>
            <a:ext cx="51332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Move from a retrospective model to an operational forecast.</a:t>
            </a:r>
            <a:endParaRPr lang="fr-FR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8" name="Rounded Rectangle 22"/>
          <p:cNvSpPr/>
          <p:nvPr/>
        </p:nvSpPr>
        <p:spPr>
          <a:xfrm>
            <a:off x="6187320" y="4568760"/>
            <a:ext cx="5499000" cy="1047600"/>
          </a:xfrm>
          <a:prstGeom prst="roundRect">
            <a:avLst>
              <a:gd name="adj" fmla="val 6000"/>
            </a:avLst>
          </a:prstGeom>
          <a:solidFill>
            <a:srgbClr val="263659"/>
          </a:solidFill>
          <a:ln w="12700">
            <a:solidFill>
              <a:srgbClr val="3D4B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9" name="TextBox 23"/>
          <p:cNvSpPr/>
          <p:nvPr/>
        </p:nvSpPr>
        <p:spPr>
          <a:xfrm>
            <a:off x="6370200" y="4705920"/>
            <a:ext cx="51332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Predict actual production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0" name="TextBox 24"/>
          <p:cNvSpPr/>
          <p:nvPr/>
        </p:nvSpPr>
        <p:spPr>
          <a:xfrm>
            <a:off x="6370200" y="5049000"/>
            <a:ext cx="5133240" cy="1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2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Target RTE output (TWh or capacity factor) directly. This also enables anomaly detection.</a:t>
            </a:r>
            <a:endParaRPr lang="fr-FR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01" name="Connector 25"/>
          <p:cNvCxnSpPr/>
          <p:nvPr/>
        </p:nvCxnSpPr>
        <p:spPr>
          <a:xfrm>
            <a:off x="548640" y="5943600"/>
            <a:ext cx="10975320" cy="25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902" name="TextBox 26"/>
          <p:cNvSpPr/>
          <p:nvPr/>
        </p:nvSpPr>
        <p:spPr>
          <a:xfrm>
            <a:off x="457200" y="6172200"/>
            <a:ext cx="82260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3" name="TextBox 27"/>
          <p:cNvSpPr/>
          <p:nvPr/>
        </p:nvSpPr>
        <p:spPr>
          <a:xfrm>
            <a:off x="11274480" y="6172200"/>
            <a:ext cx="453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11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Rectangle 1"/>
          <p:cNvSpPr/>
          <p:nvPr/>
        </p:nvSpPr>
        <p:spPr>
          <a:xfrm>
            <a:off x="0" y="0"/>
            <a:ext cx="12189600" cy="68554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905" name="GridV901"/>
          <p:cNvCxnSpPr/>
          <p:nvPr/>
        </p:nvCxnSpPr>
        <p:spPr>
          <a:xfrm>
            <a:off x="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06" name="GridV902"/>
          <p:cNvCxnSpPr/>
          <p:nvPr/>
        </p:nvCxnSpPr>
        <p:spPr>
          <a:xfrm>
            <a:off x="304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07" name="GridV903"/>
          <p:cNvCxnSpPr/>
          <p:nvPr/>
        </p:nvCxnSpPr>
        <p:spPr>
          <a:xfrm>
            <a:off x="609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08" name="GridV904"/>
          <p:cNvCxnSpPr/>
          <p:nvPr/>
        </p:nvCxnSpPr>
        <p:spPr>
          <a:xfrm>
            <a:off x="914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09" name="GridV905"/>
          <p:cNvCxnSpPr/>
          <p:nvPr/>
        </p:nvCxnSpPr>
        <p:spPr>
          <a:xfrm>
            <a:off x="1218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0" name="GridV906"/>
          <p:cNvCxnSpPr/>
          <p:nvPr/>
        </p:nvCxnSpPr>
        <p:spPr>
          <a:xfrm>
            <a:off x="1523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1" name="GridV907"/>
          <p:cNvCxnSpPr/>
          <p:nvPr/>
        </p:nvCxnSpPr>
        <p:spPr>
          <a:xfrm>
            <a:off x="1828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2" name="GridV908"/>
          <p:cNvCxnSpPr/>
          <p:nvPr/>
        </p:nvCxnSpPr>
        <p:spPr>
          <a:xfrm>
            <a:off x="2133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3" name="GridV909"/>
          <p:cNvCxnSpPr/>
          <p:nvPr/>
        </p:nvCxnSpPr>
        <p:spPr>
          <a:xfrm>
            <a:off x="2438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4" name="GridV910"/>
          <p:cNvCxnSpPr/>
          <p:nvPr/>
        </p:nvCxnSpPr>
        <p:spPr>
          <a:xfrm>
            <a:off x="2743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5" name="GridV911"/>
          <p:cNvCxnSpPr/>
          <p:nvPr/>
        </p:nvCxnSpPr>
        <p:spPr>
          <a:xfrm>
            <a:off x="3047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6" name="GridV912"/>
          <p:cNvCxnSpPr/>
          <p:nvPr/>
        </p:nvCxnSpPr>
        <p:spPr>
          <a:xfrm>
            <a:off x="3352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7" name="GridV913"/>
          <p:cNvCxnSpPr/>
          <p:nvPr/>
        </p:nvCxnSpPr>
        <p:spPr>
          <a:xfrm>
            <a:off x="3657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8" name="GridV914"/>
          <p:cNvCxnSpPr/>
          <p:nvPr/>
        </p:nvCxnSpPr>
        <p:spPr>
          <a:xfrm>
            <a:off x="3962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19" name="GridV915"/>
          <p:cNvCxnSpPr/>
          <p:nvPr/>
        </p:nvCxnSpPr>
        <p:spPr>
          <a:xfrm>
            <a:off x="4267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0" name="GridV916"/>
          <p:cNvCxnSpPr/>
          <p:nvPr/>
        </p:nvCxnSpPr>
        <p:spPr>
          <a:xfrm>
            <a:off x="4572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1" name="GridV917"/>
          <p:cNvCxnSpPr/>
          <p:nvPr/>
        </p:nvCxnSpPr>
        <p:spPr>
          <a:xfrm>
            <a:off x="4876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2" name="GridV918"/>
          <p:cNvCxnSpPr/>
          <p:nvPr/>
        </p:nvCxnSpPr>
        <p:spPr>
          <a:xfrm>
            <a:off x="5181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3" name="GridV919"/>
          <p:cNvCxnSpPr/>
          <p:nvPr/>
        </p:nvCxnSpPr>
        <p:spPr>
          <a:xfrm>
            <a:off x="5486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4" name="GridV920"/>
          <p:cNvCxnSpPr/>
          <p:nvPr/>
        </p:nvCxnSpPr>
        <p:spPr>
          <a:xfrm>
            <a:off x="5790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5" name="GridV921"/>
          <p:cNvCxnSpPr/>
          <p:nvPr/>
        </p:nvCxnSpPr>
        <p:spPr>
          <a:xfrm>
            <a:off x="6095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6" name="GridV922"/>
          <p:cNvCxnSpPr/>
          <p:nvPr/>
        </p:nvCxnSpPr>
        <p:spPr>
          <a:xfrm>
            <a:off x="6400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7" name="GridV923"/>
          <p:cNvCxnSpPr/>
          <p:nvPr/>
        </p:nvCxnSpPr>
        <p:spPr>
          <a:xfrm>
            <a:off x="6705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8" name="GridV924"/>
          <p:cNvCxnSpPr/>
          <p:nvPr/>
        </p:nvCxnSpPr>
        <p:spPr>
          <a:xfrm>
            <a:off x="7010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29" name="GridV925"/>
          <p:cNvCxnSpPr/>
          <p:nvPr/>
        </p:nvCxnSpPr>
        <p:spPr>
          <a:xfrm>
            <a:off x="7315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0" name="GridV926"/>
          <p:cNvCxnSpPr/>
          <p:nvPr/>
        </p:nvCxnSpPr>
        <p:spPr>
          <a:xfrm>
            <a:off x="7619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1" name="GridV927"/>
          <p:cNvCxnSpPr/>
          <p:nvPr/>
        </p:nvCxnSpPr>
        <p:spPr>
          <a:xfrm>
            <a:off x="79246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2" name="GridV928"/>
          <p:cNvCxnSpPr/>
          <p:nvPr/>
        </p:nvCxnSpPr>
        <p:spPr>
          <a:xfrm>
            <a:off x="82296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3" name="GridV929"/>
          <p:cNvCxnSpPr/>
          <p:nvPr/>
        </p:nvCxnSpPr>
        <p:spPr>
          <a:xfrm>
            <a:off x="85341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4" name="GridV930"/>
          <p:cNvCxnSpPr/>
          <p:nvPr/>
        </p:nvCxnSpPr>
        <p:spPr>
          <a:xfrm>
            <a:off x="88390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5" name="GridV931"/>
          <p:cNvCxnSpPr/>
          <p:nvPr/>
        </p:nvCxnSpPr>
        <p:spPr>
          <a:xfrm>
            <a:off x="91440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6" name="GridV932"/>
          <p:cNvCxnSpPr/>
          <p:nvPr/>
        </p:nvCxnSpPr>
        <p:spPr>
          <a:xfrm>
            <a:off x="94485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7" name="GridV933"/>
          <p:cNvCxnSpPr/>
          <p:nvPr/>
        </p:nvCxnSpPr>
        <p:spPr>
          <a:xfrm>
            <a:off x="97534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8" name="GridV934"/>
          <p:cNvCxnSpPr/>
          <p:nvPr/>
        </p:nvCxnSpPr>
        <p:spPr>
          <a:xfrm>
            <a:off x="100584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39" name="GridV935"/>
          <p:cNvCxnSpPr/>
          <p:nvPr/>
        </p:nvCxnSpPr>
        <p:spPr>
          <a:xfrm>
            <a:off x="103629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0" name="GridV936"/>
          <p:cNvCxnSpPr/>
          <p:nvPr/>
        </p:nvCxnSpPr>
        <p:spPr>
          <a:xfrm>
            <a:off x="106678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1" name="GridV937"/>
          <p:cNvCxnSpPr/>
          <p:nvPr/>
        </p:nvCxnSpPr>
        <p:spPr>
          <a:xfrm>
            <a:off x="109728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2" name="GridV938"/>
          <p:cNvCxnSpPr/>
          <p:nvPr/>
        </p:nvCxnSpPr>
        <p:spPr>
          <a:xfrm>
            <a:off x="112773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3" name="GridV939"/>
          <p:cNvCxnSpPr/>
          <p:nvPr/>
        </p:nvCxnSpPr>
        <p:spPr>
          <a:xfrm>
            <a:off x="1158228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4" name="GridV940"/>
          <p:cNvCxnSpPr/>
          <p:nvPr/>
        </p:nvCxnSpPr>
        <p:spPr>
          <a:xfrm>
            <a:off x="1188720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5" name="GridV941"/>
          <p:cNvCxnSpPr/>
          <p:nvPr/>
        </p:nvCxnSpPr>
        <p:spPr>
          <a:xfrm>
            <a:off x="12191760" y="0"/>
            <a:ext cx="2520" cy="6860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6" name="GridH942"/>
          <p:cNvCxnSpPr/>
          <p:nvPr/>
        </p:nvCxnSpPr>
        <p:spPr>
          <a:xfrm>
            <a:off x="0" y="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7" name="GridH943"/>
          <p:cNvCxnSpPr/>
          <p:nvPr/>
        </p:nvCxnSpPr>
        <p:spPr>
          <a:xfrm>
            <a:off x="0" y="304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8" name="GridH944"/>
          <p:cNvCxnSpPr/>
          <p:nvPr/>
        </p:nvCxnSpPr>
        <p:spPr>
          <a:xfrm>
            <a:off x="0" y="609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49" name="GridH945"/>
          <p:cNvCxnSpPr/>
          <p:nvPr/>
        </p:nvCxnSpPr>
        <p:spPr>
          <a:xfrm>
            <a:off x="0" y="914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0" name="GridH946"/>
          <p:cNvCxnSpPr/>
          <p:nvPr/>
        </p:nvCxnSpPr>
        <p:spPr>
          <a:xfrm>
            <a:off x="0" y="1218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1" name="GridH947"/>
          <p:cNvCxnSpPr/>
          <p:nvPr/>
        </p:nvCxnSpPr>
        <p:spPr>
          <a:xfrm>
            <a:off x="0" y="1523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2" name="GridH948"/>
          <p:cNvCxnSpPr/>
          <p:nvPr/>
        </p:nvCxnSpPr>
        <p:spPr>
          <a:xfrm>
            <a:off x="0" y="1828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3" name="GridH949"/>
          <p:cNvCxnSpPr/>
          <p:nvPr/>
        </p:nvCxnSpPr>
        <p:spPr>
          <a:xfrm>
            <a:off x="0" y="2133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4" name="GridH950"/>
          <p:cNvCxnSpPr/>
          <p:nvPr/>
        </p:nvCxnSpPr>
        <p:spPr>
          <a:xfrm>
            <a:off x="0" y="24382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5" name="GridH951"/>
          <p:cNvCxnSpPr/>
          <p:nvPr/>
        </p:nvCxnSpPr>
        <p:spPr>
          <a:xfrm>
            <a:off x="0" y="27432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6" name="GridH952"/>
          <p:cNvCxnSpPr/>
          <p:nvPr/>
        </p:nvCxnSpPr>
        <p:spPr>
          <a:xfrm>
            <a:off x="0" y="30477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7" name="GridH953"/>
          <p:cNvCxnSpPr/>
          <p:nvPr/>
        </p:nvCxnSpPr>
        <p:spPr>
          <a:xfrm>
            <a:off x="0" y="33526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8" name="GridH954"/>
          <p:cNvCxnSpPr/>
          <p:nvPr/>
        </p:nvCxnSpPr>
        <p:spPr>
          <a:xfrm>
            <a:off x="0" y="36576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59" name="GridH955"/>
          <p:cNvCxnSpPr/>
          <p:nvPr/>
        </p:nvCxnSpPr>
        <p:spPr>
          <a:xfrm>
            <a:off x="0" y="39621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60" name="GridH956"/>
          <p:cNvCxnSpPr/>
          <p:nvPr/>
        </p:nvCxnSpPr>
        <p:spPr>
          <a:xfrm>
            <a:off x="0" y="42670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61" name="GridH957"/>
          <p:cNvCxnSpPr/>
          <p:nvPr/>
        </p:nvCxnSpPr>
        <p:spPr>
          <a:xfrm>
            <a:off x="0" y="45720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62" name="GridH958"/>
          <p:cNvCxnSpPr/>
          <p:nvPr/>
        </p:nvCxnSpPr>
        <p:spPr>
          <a:xfrm>
            <a:off x="0" y="48765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63" name="GridH959"/>
          <p:cNvCxnSpPr/>
          <p:nvPr/>
        </p:nvCxnSpPr>
        <p:spPr>
          <a:xfrm>
            <a:off x="0" y="51814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64" name="GridH960"/>
          <p:cNvCxnSpPr/>
          <p:nvPr/>
        </p:nvCxnSpPr>
        <p:spPr>
          <a:xfrm>
            <a:off x="0" y="54864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65" name="GridH961"/>
          <p:cNvCxnSpPr/>
          <p:nvPr/>
        </p:nvCxnSpPr>
        <p:spPr>
          <a:xfrm>
            <a:off x="0" y="57909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66" name="GridH962"/>
          <p:cNvCxnSpPr/>
          <p:nvPr/>
        </p:nvCxnSpPr>
        <p:spPr>
          <a:xfrm>
            <a:off x="0" y="609588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67" name="GridH963"/>
          <p:cNvCxnSpPr/>
          <p:nvPr/>
        </p:nvCxnSpPr>
        <p:spPr>
          <a:xfrm>
            <a:off x="0" y="640080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cxnSp>
        <p:nvCxnSpPr>
          <p:cNvPr id="1968" name="GridH964"/>
          <p:cNvCxnSpPr/>
          <p:nvPr/>
        </p:nvCxnSpPr>
        <p:spPr>
          <a:xfrm>
            <a:off x="0" y="6705360"/>
            <a:ext cx="12194280" cy="2520"/>
          </a:xfrm>
          <a:prstGeom prst="straightConnector1">
            <a:avLst/>
          </a:prstGeom>
          <a:ln w="6350">
            <a:solidFill>
              <a:srgbClr val="FFFFFF">
                <a:alpha val="5000"/>
              </a:srgbClr>
            </a:solidFill>
            <a:round/>
          </a:ln>
        </p:spPr>
      </p:cxnSp>
      <p:sp>
        <p:nvSpPr>
          <p:cNvPr id="1969" name="TextBox 2"/>
          <p:cNvSpPr/>
          <p:nvPr/>
        </p:nvSpPr>
        <p:spPr>
          <a:xfrm>
            <a:off x="502920" y="411480"/>
            <a:ext cx="79974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pc="201" strike="noStrike">
                <a:solidFill>
                  <a:srgbClr val="818CF8"/>
                </a:solidFill>
                <a:effectLst/>
                <a:uFillTx/>
                <a:latin typeface="Roboto"/>
              </a:rPr>
              <a:t>SUMMARY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0" name="TextBox 3"/>
          <p:cNvSpPr/>
          <p:nvPr/>
        </p:nvSpPr>
        <p:spPr>
          <a:xfrm>
            <a:off x="502920" y="658440"/>
            <a:ext cx="10996560" cy="99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Fr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m 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ra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w 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da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ta 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to 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a 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pr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du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cti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on 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fo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re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ca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sti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n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g 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da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sh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b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oa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rd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1" name="Oval 4"/>
          <p:cNvSpPr/>
          <p:nvPr/>
        </p:nvSpPr>
        <p:spPr>
          <a:xfrm>
            <a:off x="502920" y="1929960"/>
            <a:ext cx="134640" cy="134640"/>
          </a:xfrm>
          <a:prstGeom prst="ellipse">
            <a:avLst/>
          </a:prstGeom>
          <a:solidFill>
            <a:srgbClr val="818C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7320" tIns="45000" rIns="673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2" name="TextBox 5"/>
          <p:cNvSpPr/>
          <p:nvPr/>
        </p:nvSpPr>
        <p:spPr>
          <a:xfrm>
            <a:off x="822960" y="1900080"/>
            <a:ext cx="1049760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26,67</a:t>
            </a: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6 </a:t>
            </a: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obse</a:t>
            </a: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rvati</a:t>
            </a: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ons, </a:t>
            </a: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12 </a:t>
            </a: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regio</a:t>
            </a: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ns, 6 </a:t>
            </a: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years </a:t>
            </a: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of </a:t>
            </a: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Mete</a:t>
            </a: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o-</a:t>
            </a: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Franc</a:t>
            </a: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e x </a:t>
            </a: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RTE x </a:t>
            </a: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SDES </a:t>
            </a: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data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3" name="Oval 6"/>
          <p:cNvSpPr/>
          <p:nvPr/>
        </p:nvSpPr>
        <p:spPr>
          <a:xfrm>
            <a:off x="502920" y="2549880"/>
            <a:ext cx="134640" cy="134640"/>
          </a:xfrm>
          <a:prstGeom prst="ellipse">
            <a:avLst/>
          </a:prstGeom>
          <a:solidFill>
            <a:srgbClr val="818C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7320" tIns="45000" rIns="673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4" name="TextBox 7"/>
          <p:cNvSpPr/>
          <p:nvPr/>
        </p:nvSpPr>
        <p:spPr>
          <a:xfrm>
            <a:off x="822960" y="2520000"/>
            <a:ext cx="1049760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Time-respecting validation (TimeSeriesSplit + GridSearchCV). Ridge chosen for its stability: −15% error vs "tomorrow = today" (R² ≈ 0.79)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5" name="Oval 8"/>
          <p:cNvSpPr/>
          <p:nvPr/>
        </p:nvSpPr>
        <p:spPr>
          <a:xfrm>
            <a:off x="502920" y="3170160"/>
            <a:ext cx="134640" cy="134640"/>
          </a:xfrm>
          <a:prstGeom prst="ellipse">
            <a:avLst/>
          </a:prstGeom>
          <a:solidFill>
            <a:srgbClr val="818C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67320" tIns="45000" rIns="6732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6" name="TextBox 9"/>
          <p:cNvSpPr/>
          <p:nvPr/>
        </p:nvSpPr>
        <p:spPr>
          <a:xfrm>
            <a:off x="822960" y="3139920"/>
            <a:ext cx="104976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350" b="0" u="none" strike="noStrike">
                <a:solidFill>
                  <a:srgbClr val="F4F6FB"/>
                </a:solidFill>
                <a:effectLst/>
                <a:uFillTx/>
                <a:latin typeface="Roboto"/>
              </a:rPr>
              <a:t>Streamlit dashboard in production: interactive EDA and next-day forecasts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77" name="Connector 10"/>
          <p:cNvCxnSpPr/>
          <p:nvPr/>
        </p:nvCxnSpPr>
        <p:spPr>
          <a:xfrm>
            <a:off x="502920" y="4199760"/>
            <a:ext cx="11188440" cy="25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978" name="TextBox 11"/>
          <p:cNvSpPr/>
          <p:nvPr/>
        </p:nvSpPr>
        <p:spPr>
          <a:xfrm>
            <a:off x="502920" y="4700160"/>
            <a:ext cx="11183760" cy="6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Roboto"/>
              </a:rPr>
              <a:t>Thank you for your attention.</a:t>
            </a:r>
            <a:endParaRPr lang="fr-F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9" name="TextBox 12"/>
          <p:cNvSpPr/>
          <p:nvPr/>
        </p:nvSpPr>
        <p:spPr>
          <a:xfrm>
            <a:off x="502920" y="5400000"/>
            <a:ext cx="1118376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9AA5C0"/>
                </a:solidFill>
                <a:effectLst/>
                <a:uFillTx/>
                <a:latin typeface="Roboto"/>
              </a:rPr>
              <a:t>Now, a walkthrough of the Streamlit dashboard, followed by questions.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80" name="Connector 13"/>
          <p:cNvCxnSpPr/>
          <p:nvPr/>
        </p:nvCxnSpPr>
        <p:spPr>
          <a:xfrm>
            <a:off x="548640" y="5943600"/>
            <a:ext cx="10975320" cy="2520"/>
          </a:xfrm>
          <a:prstGeom prst="straightConnector1">
            <a:avLst/>
          </a:prstGeom>
          <a:ln w="9525">
            <a:solidFill>
              <a:srgbClr val="3D4B72"/>
            </a:solidFill>
            <a:round/>
          </a:ln>
        </p:spPr>
      </p:cxnSp>
      <p:sp>
        <p:nvSpPr>
          <p:cNvPr id="1981" name="TextBox 14"/>
          <p:cNvSpPr/>
          <p:nvPr/>
        </p:nvSpPr>
        <p:spPr>
          <a:xfrm>
            <a:off x="457200" y="6172200"/>
            <a:ext cx="82260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Solar Production Forecasting · Machine Learning · Streamlit Dashboard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2" name="TextBox 15"/>
          <p:cNvSpPr/>
          <p:nvPr/>
        </p:nvSpPr>
        <p:spPr>
          <a:xfrm>
            <a:off x="11274480" y="6172200"/>
            <a:ext cx="453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C6684"/>
                </a:solidFill>
                <a:effectLst/>
                <a:uFillTx/>
                <a:latin typeface="Roboto"/>
              </a:rPr>
              <a:t>12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Application>LibreOffice/26.8.1.1$Linux_X86_64 LibreOffice_project/bf6ef2662401c7d6dce671ab4deb26ee0af3a7c1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2026-09-27T12:30:55Z</dcterms:modified>
  <cp:revision>32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